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2"/>
  </p:notesMasterIdLst>
  <p:sldIdLst>
    <p:sldId id="256" r:id="rId4"/>
    <p:sldId id="265" r:id="rId5"/>
    <p:sldId id="257" r:id="rId6"/>
    <p:sldId id="278" r:id="rId7"/>
    <p:sldId id="279" r:id="rId8"/>
    <p:sldId id="258" r:id="rId9"/>
    <p:sldId id="259" r:id="rId10"/>
    <p:sldId id="260" r:id="rId11"/>
    <p:sldId id="261" r:id="rId13"/>
    <p:sldId id="266" r:id="rId14"/>
    <p:sldId id="292" r:id="rId15"/>
    <p:sldId id="262" r:id="rId16"/>
    <p:sldId id="280" r:id="rId17"/>
    <p:sldId id="281" r:id="rId18"/>
    <p:sldId id="282" r:id="rId19"/>
    <p:sldId id="283" r:id="rId20"/>
    <p:sldId id="284" r:id="rId21"/>
    <p:sldId id="286" r:id="rId22"/>
    <p:sldId id="291" r:id="rId23"/>
    <p:sldId id="287" r:id="rId24"/>
    <p:sldId id="289" r:id="rId25"/>
    <p:sldId id="288" r:id="rId26"/>
    <p:sldId id="293" r:id="rId27"/>
    <p:sldId id="294" r:id="rId28"/>
    <p:sldId id="277"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290" autoAdjust="0"/>
  </p:normalViewPr>
  <p:slideViewPr>
    <p:cSldViewPr snapToGrid="0">
      <p:cViewPr varScale="1">
        <p:scale>
          <a:sx n="112" d="100"/>
          <a:sy n="112" d="100"/>
        </p:scale>
        <p:origin x="51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704B8-2159-4643-AFB1-CD30735FD3A5}" type="datetimeFigureOut">
              <a:rPr lang="en-GB" smtClean="0"/>
            </a:fld>
            <a:endParaRPr lang="en-GB"/>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E75F16-4265-4EFF-9AC9-0F7A4AC72459}"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a:p>
        </p:txBody>
      </p:sp>
      <p:sp>
        <p:nvSpPr>
          <p:cNvPr id="4" name="灯片编号占位符 3"/>
          <p:cNvSpPr>
            <a:spLocks noGrp="1"/>
          </p:cNvSpPr>
          <p:nvPr>
            <p:ph type="sldNum" sz="quarter" idx="5"/>
          </p:nvPr>
        </p:nvSpPr>
        <p:spPr/>
        <p:txBody>
          <a:bodyPr/>
          <a:lstStyle/>
          <a:p>
            <a:fld id="{8CE75F16-4265-4EFF-9AC9-0F7A4AC72459}"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GB"/>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GB"/>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GB"/>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7" name="日期占位符 6"/>
          <p:cNvSpPr>
            <a:spLocks noGrp="1"/>
          </p:cNvSpPr>
          <p:nvPr>
            <p:ph type="dt" sz="half" idx="10"/>
          </p:nvPr>
        </p:nvSpPr>
        <p:spPr/>
        <p:txBody>
          <a:bodyPr/>
          <a:lstStyle/>
          <a:p>
            <a:fld id="{0D1C5F90-F095-40C7-B28D-D2C02905C77C}" type="datetimeFigureOut">
              <a:rPr lang="en-GB" smtClean="0"/>
            </a:fld>
            <a:endParaRPr lang="en-GB"/>
          </a:p>
        </p:txBody>
      </p:sp>
      <p:sp>
        <p:nvSpPr>
          <p:cNvPr id="8" name="页脚占位符 7"/>
          <p:cNvSpPr>
            <a:spLocks noGrp="1"/>
          </p:cNvSpPr>
          <p:nvPr>
            <p:ph type="ftr" sz="quarter" idx="11"/>
          </p:nvPr>
        </p:nvSpPr>
        <p:spPr/>
        <p:txBody>
          <a:bodyPr/>
          <a:lstStyle/>
          <a:p>
            <a:endParaRPr lang="en-GB"/>
          </a:p>
        </p:txBody>
      </p:sp>
      <p:sp>
        <p:nvSpPr>
          <p:cNvPr id="9" name="灯片编号占位符 8"/>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日期占位符 2"/>
          <p:cNvSpPr>
            <a:spLocks noGrp="1"/>
          </p:cNvSpPr>
          <p:nvPr>
            <p:ph type="dt" sz="half" idx="10"/>
          </p:nvPr>
        </p:nvSpPr>
        <p:spPr/>
        <p:txBody>
          <a:bodyPr/>
          <a:lstStyle/>
          <a:p>
            <a:fld id="{0D1C5F90-F095-40C7-B28D-D2C02905C77C}" type="datetimeFigureOut">
              <a:rPr lang="en-GB" smtClean="0"/>
            </a:fld>
            <a:endParaRPr lang="en-GB"/>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1C5F90-F095-40C7-B28D-D2C02905C77C}" type="datetimeFigureOut">
              <a:rPr lang="en-GB" smtClean="0"/>
            </a:fld>
            <a:endParaRPr lang="en-GB"/>
          </a:p>
        </p:txBody>
      </p:sp>
      <p:sp>
        <p:nvSpPr>
          <p:cNvPr id="3" name="页脚占位符 2"/>
          <p:cNvSpPr>
            <a:spLocks noGrp="1"/>
          </p:cNvSpPr>
          <p:nvPr>
            <p:ph type="ftr" sz="quarter" idx="11"/>
          </p:nvPr>
        </p:nvSpPr>
        <p:spPr/>
        <p:txBody>
          <a:bodyPr/>
          <a:lstStyle/>
          <a:p>
            <a:endParaRPr lang="en-GB"/>
          </a:p>
        </p:txBody>
      </p:sp>
      <p:sp>
        <p:nvSpPr>
          <p:cNvPr id="4" name="灯片编号占位符 3"/>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GB"/>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GB"/>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GB"/>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GB"/>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GB"/>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GB"/>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7" name="日期占位符 6"/>
          <p:cNvSpPr>
            <a:spLocks noGrp="1"/>
          </p:cNvSpPr>
          <p:nvPr>
            <p:ph type="dt" sz="half" idx="10"/>
          </p:nvPr>
        </p:nvSpPr>
        <p:spPr/>
        <p:txBody>
          <a:bodyPr/>
          <a:lstStyle/>
          <a:p>
            <a:fld id="{0D1C5F90-F095-40C7-B28D-D2C02905C77C}" type="datetimeFigureOut">
              <a:rPr lang="en-GB" smtClean="0"/>
            </a:fld>
            <a:endParaRPr lang="en-GB"/>
          </a:p>
        </p:txBody>
      </p:sp>
      <p:sp>
        <p:nvSpPr>
          <p:cNvPr id="8" name="页脚占位符 7"/>
          <p:cNvSpPr>
            <a:spLocks noGrp="1"/>
          </p:cNvSpPr>
          <p:nvPr>
            <p:ph type="ftr" sz="quarter" idx="11"/>
          </p:nvPr>
        </p:nvSpPr>
        <p:spPr/>
        <p:txBody>
          <a:bodyPr/>
          <a:lstStyle/>
          <a:p>
            <a:endParaRPr lang="en-GB"/>
          </a:p>
        </p:txBody>
      </p:sp>
      <p:sp>
        <p:nvSpPr>
          <p:cNvPr id="9" name="灯片编号占位符 8"/>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日期占位符 2"/>
          <p:cNvSpPr>
            <a:spLocks noGrp="1"/>
          </p:cNvSpPr>
          <p:nvPr>
            <p:ph type="dt" sz="half" idx="10"/>
          </p:nvPr>
        </p:nvSpPr>
        <p:spPr/>
        <p:txBody>
          <a:bodyPr/>
          <a:lstStyle/>
          <a:p>
            <a:fld id="{0D1C5F90-F095-40C7-B28D-D2C02905C77C}" type="datetimeFigureOut">
              <a:rPr lang="en-GB" smtClean="0"/>
            </a:fld>
            <a:endParaRPr lang="en-GB"/>
          </a:p>
        </p:txBody>
      </p:sp>
      <p:sp>
        <p:nvSpPr>
          <p:cNvPr id="4" name="页脚占位符 3"/>
          <p:cNvSpPr>
            <a:spLocks noGrp="1"/>
          </p:cNvSpPr>
          <p:nvPr>
            <p:ph type="ftr" sz="quarter" idx="11"/>
          </p:nvPr>
        </p:nvSpPr>
        <p:spPr/>
        <p:txBody>
          <a:bodyPr/>
          <a:lstStyle/>
          <a:p>
            <a:endParaRPr lang="en-GB"/>
          </a:p>
        </p:txBody>
      </p:sp>
      <p:sp>
        <p:nvSpPr>
          <p:cNvPr id="5" name="灯片编号占位符 4"/>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1C5F90-F095-40C7-B28D-D2C02905C77C}" type="datetimeFigureOut">
              <a:rPr lang="en-GB" smtClean="0"/>
            </a:fld>
            <a:endParaRPr lang="en-GB"/>
          </a:p>
        </p:txBody>
      </p:sp>
      <p:sp>
        <p:nvSpPr>
          <p:cNvPr id="3" name="页脚占位符 2"/>
          <p:cNvSpPr>
            <a:spLocks noGrp="1"/>
          </p:cNvSpPr>
          <p:nvPr>
            <p:ph type="ftr" sz="quarter" idx="11"/>
          </p:nvPr>
        </p:nvSpPr>
        <p:spPr/>
        <p:txBody>
          <a:bodyPr/>
          <a:lstStyle/>
          <a:p>
            <a:endParaRPr lang="en-GB"/>
          </a:p>
        </p:txBody>
      </p:sp>
      <p:sp>
        <p:nvSpPr>
          <p:cNvPr id="4" name="灯片编号占位符 3"/>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GB"/>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GB"/>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D1C5F90-F095-40C7-B28D-D2C02905C77C}" type="datetimeFigureOut">
              <a:rPr lang="en-GB" smtClean="0"/>
            </a:fld>
            <a:endParaRPr lang="en-GB"/>
          </a:p>
        </p:txBody>
      </p:sp>
      <p:sp>
        <p:nvSpPr>
          <p:cNvPr id="6" name="页脚占位符 5"/>
          <p:cNvSpPr>
            <a:spLocks noGrp="1"/>
          </p:cNvSpPr>
          <p:nvPr>
            <p:ph type="ftr" sz="quarter" idx="11"/>
          </p:nvPr>
        </p:nvSpPr>
        <p:spPr/>
        <p:txBody>
          <a:bodyPr/>
          <a:lstStyle/>
          <a:p>
            <a:endParaRPr lang="en-GB"/>
          </a:p>
        </p:txBody>
      </p:sp>
      <p:sp>
        <p:nvSpPr>
          <p:cNvPr id="7" name="灯片编号占位符 6"/>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GB"/>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GB"/>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10"/>
          </p:nvPr>
        </p:nvSpPr>
        <p:spPr/>
        <p:txBody>
          <a:bodyPr/>
          <a:lstStyle/>
          <a:p>
            <a:fld id="{0D1C5F90-F095-40C7-B28D-D2C02905C77C}" type="datetimeFigureOut">
              <a:rPr lang="en-GB" smtClean="0"/>
            </a:fld>
            <a:endParaRPr lang="en-GB"/>
          </a:p>
        </p:txBody>
      </p:sp>
      <p:sp>
        <p:nvSpPr>
          <p:cNvPr id="5" name="页脚占位符 4"/>
          <p:cNvSpPr>
            <a:spLocks noGrp="1"/>
          </p:cNvSpPr>
          <p:nvPr>
            <p:ph type="ftr" sz="quarter" idx="11"/>
          </p:nvPr>
        </p:nvSpPr>
        <p:spPr/>
        <p:txBody>
          <a:bodyPr/>
          <a:lstStyle/>
          <a:p>
            <a:endParaRPr lang="en-GB"/>
          </a:p>
        </p:txBody>
      </p:sp>
      <p:sp>
        <p:nvSpPr>
          <p:cNvPr id="6" name="灯片编号占位符 5"/>
          <p:cNvSpPr>
            <a:spLocks noGrp="1"/>
          </p:cNvSpPr>
          <p:nvPr>
            <p:ph type="sldNum" sz="quarter" idx="12"/>
          </p:nvPr>
        </p:nvSpPr>
        <p:spPr/>
        <p:txBody>
          <a:bodyPr/>
          <a:lstStyle/>
          <a:p>
            <a:fld id="{109C1A7C-4228-446C-94CB-0C529A0E07FA}"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GB"/>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仿宋" panose="02010609060101010101" pitchFamily="49" charset="-122"/>
                <a:ea typeface="仿宋" panose="02010609060101010101" pitchFamily="49" charset="-122"/>
              </a:defRPr>
            </a:lvl1pPr>
          </a:lstStyle>
          <a:p>
            <a:fld id="{0D1C5F90-F095-40C7-B28D-D2C02905C77C}" type="datetimeFigureOut">
              <a:rPr lang="en-GB" smtClean="0"/>
            </a:fld>
            <a:endParaRPr lang="en-GB"/>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仿宋" panose="02010609060101010101" pitchFamily="49" charset="-122"/>
                <a:ea typeface="仿宋" panose="02010609060101010101" pitchFamily="49" charset="-122"/>
              </a:defRPr>
            </a:lvl1pPr>
          </a:lstStyle>
          <a:p>
            <a:endParaRPr lang="en-GB"/>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仿宋" panose="02010609060101010101" pitchFamily="49" charset="-122"/>
                <a:ea typeface="仿宋" panose="02010609060101010101" pitchFamily="49" charset="-122"/>
              </a:defRPr>
            </a:lvl1pPr>
          </a:lstStyle>
          <a:p>
            <a:fld id="{109C1A7C-4228-446C-94CB-0C529A0E07FA}"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仿宋" panose="02010609060101010101" pitchFamily="49" charset="-122"/>
          <a:ea typeface="仿宋"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仿宋" panose="02010609060101010101" pitchFamily="49" charset="-122"/>
          <a:ea typeface="仿宋"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仿宋" panose="02010609060101010101" pitchFamily="49" charset="-122"/>
          <a:ea typeface="仿宋"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仿宋" panose="02010609060101010101" pitchFamily="49" charset="-122"/>
          <a:ea typeface="仿宋"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仿宋" panose="02010609060101010101" pitchFamily="49" charset="-122"/>
          <a:ea typeface="仿宋"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GB"/>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GB"/>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仿宋" panose="02010609060101010101" pitchFamily="49" charset="-122"/>
                <a:ea typeface="仿宋" panose="02010609060101010101" pitchFamily="49" charset="-122"/>
              </a:defRPr>
            </a:lvl1pPr>
          </a:lstStyle>
          <a:p>
            <a:fld id="{0D1C5F90-F095-40C7-B28D-D2C02905C77C}" type="datetimeFigureOut">
              <a:rPr lang="en-GB" smtClean="0"/>
            </a:fld>
            <a:endParaRPr lang="en-GB"/>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仿宋" panose="02010609060101010101" pitchFamily="49" charset="-122"/>
                <a:ea typeface="仿宋" panose="02010609060101010101" pitchFamily="49" charset="-122"/>
              </a:defRPr>
            </a:lvl1pPr>
          </a:lstStyle>
          <a:p>
            <a:endParaRPr lang="en-GB"/>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仿宋" panose="02010609060101010101" pitchFamily="49" charset="-122"/>
                <a:ea typeface="仿宋" panose="02010609060101010101" pitchFamily="49" charset="-122"/>
              </a:defRPr>
            </a:lvl1pPr>
          </a:lstStyle>
          <a:p>
            <a:fld id="{109C1A7C-4228-446C-94CB-0C529A0E07FA}"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仿宋" panose="02010609060101010101" pitchFamily="49" charset="-122"/>
          <a:ea typeface="仿宋"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仿宋" panose="02010609060101010101" pitchFamily="49" charset="-122"/>
          <a:ea typeface="仿宋" panose="02010609060101010101" pitchFamily="49"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仿宋" panose="02010609060101010101" pitchFamily="49" charset="-122"/>
          <a:ea typeface="仿宋" panose="02010609060101010101" pitchFamily="49"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仿宋" panose="02010609060101010101" pitchFamily="49" charset="-122"/>
          <a:ea typeface="仿宋" panose="02010609060101010101" pitchFamily="49"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仿宋" panose="02010609060101010101" pitchFamily="49" charset="-122"/>
          <a:ea typeface="仿宋" panose="02010609060101010101" pitchFamily="49"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873789"/>
            <a:ext cx="9144000" cy="2387600"/>
          </a:xfrm>
        </p:spPr>
        <p:txBody>
          <a:bodyPr>
            <a:normAutofit/>
          </a:bodyPr>
          <a:lstStyle/>
          <a:p>
            <a:r>
              <a:rPr lang="en-US" altLang="zh-CN" sz="4800"/>
              <a:t>UndefinedOS </a:t>
            </a:r>
            <a:r>
              <a:rPr lang="zh-CN" altLang="en-US" sz="4800"/>
              <a:t>初赛</a:t>
            </a:r>
            <a:r>
              <a:rPr lang="zh-CN" altLang="en-US" sz="4800"/>
              <a:t>汇报</a:t>
            </a:r>
            <a:endParaRPr lang="zh-CN" altLang="en-US" sz="4800"/>
          </a:p>
        </p:txBody>
      </p:sp>
      <p:sp>
        <p:nvSpPr>
          <p:cNvPr id="3" name="副标题 2"/>
          <p:cNvSpPr>
            <a:spLocks noGrp="1"/>
          </p:cNvSpPr>
          <p:nvPr>
            <p:ph type="subTitle" idx="1"/>
          </p:nvPr>
        </p:nvSpPr>
        <p:spPr>
          <a:xfrm>
            <a:off x="1524000" y="3675356"/>
            <a:ext cx="9144000" cy="2246051"/>
          </a:xfrm>
        </p:spPr>
        <p:txBody>
          <a:bodyPr>
            <a:normAutofit fontScale="92500" lnSpcReduction="10000"/>
          </a:bodyPr>
          <a:lstStyle/>
          <a:p>
            <a:r>
              <a:rPr lang="en-US" altLang="zh-CN" sz="2800">
                <a:latin typeface="楷体" panose="02010609060101010101" pitchFamily="49" charset="-122"/>
                <a:ea typeface="楷体" panose="02010609060101010101" pitchFamily="49" charset="-122"/>
              </a:rPr>
              <a:t>undefined</a:t>
            </a:r>
            <a:r>
              <a:rPr lang="zh-CN" altLang="en-US" sz="2800">
                <a:latin typeface="楷体" panose="02010609060101010101" pitchFamily="49" charset="-122"/>
                <a:ea typeface="楷体" panose="02010609060101010101" pitchFamily="49" charset="-122"/>
              </a:rPr>
              <a:t>队</a:t>
            </a:r>
            <a:endParaRPr lang="en-US" altLang="zh-CN" sz="2800">
              <a:latin typeface="楷体" panose="02010609060101010101" pitchFamily="49" charset="-122"/>
              <a:ea typeface="楷体" panose="02010609060101010101" pitchFamily="49" charset="-122"/>
            </a:endParaRPr>
          </a:p>
          <a:p>
            <a:r>
              <a:rPr lang="zh-CN" altLang="en-US" sz="2800">
                <a:latin typeface="楷体" panose="02010609060101010101" pitchFamily="49" charset="-122"/>
                <a:ea typeface="楷体" panose="02010609060101010101" pitchFamily="49" charset="-122"/>
              </a:rPr>
              <a:t>徐子航 黄雨婕 宋建昊</a:t>
            </a:r>
            <a:endParaRPr lang="en-US" altLang="zh-CN" sz="2800">
              <a:latin typeface="楷体" panose="02010609060101010101" pitchFamily="49" charset="-122"/>
              <a:ea typeface="楷体" panose="02010609060101010101" pitchFamily="49" charset="-122"/>
            </a:endParaRPr>
          </a:p>
          <a:p>
            <a:endParaRPr lang="en-US" altLang="zh-CN" sz="2800">
              <a:latin typeface="楷体" panose="02010609060101010101" pitchFamily="49" charset="-122"/>
              <a:ea typeface="楷体" panose="02010609060101010101" pitchFamily="49" charset="-122"/>
            </a:endParaRPr>
          </a:p>
          <a:p>
            <a:r>
              <a:rPr lang="zh-CN" altLang="en-US" sz="2800">
                <a:latin typeface="楷体" panose="02010609060101010101" pitchFamily="49" charset="-122"/>
                <a:ea typeface="楷体" panose="02010609060101010101" pitchFamily="49" charset="-122"/>
              </a:rPr>
              <a:t>清华大学 </a:t>
            </a:r>
            <a:endParaRPr lang="en-US" altLang="zh-CN" sz="2800">
              <a:latin typeface="楷体" panose="02010609060101010101" pitchFamily="49" charset="-122"/>
              <a:ea typeface="楷体" panose="02010609060101010101" pitchFamily="49" charset="-122"/>
            </a:endParaRPr>
          </a:p>
          <a:p>
            <a:r>
              <a:rPr lang="en-US" sz="2800">
                <a:latin typeface="楷体" panose="02010609060101010101" pitchFamily="49" charset="-122"/>
                <a:ea typeface="楷体" panose="02010609060101010101" pitchFamily="49" charset="-122"/>
              </a:rPr>
              <a:t>2025/6/30</a:t>
            </a:r>
            <a:endParaRPr lang="en-GB" sz="280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目录</a:t>
            </a:r>
            <a:endParaRPr lang="en-GB"/>
          </a:p>
        </p:txBody>
      </p:sp>
      <p:sp>
        <p:nvSpPr>
          <p:cNvPr id="3" name="内容占位符 2"/>
          <p:cNvSpPr>
            <a:spLocks noGrp="1"/>
          </p:cNvSpPr>
          <p:nvPr>
            <p:ph idx="1"/>
          </p:nvPr>
        </p:nvSpPr>
        <p:spPr/>
        <p:txBody>
          <a:bodyPr>
            <a:normAutofit lnSpcReduction="20000"/>
          </a:bodyPr>
          <a:lstStyle/>
          <a:p>
            <a:r>
              <a:rPr lang="zh-CN" altLang="en-US"/>
              <a:t>项目介绍</a:t>
            </a:r>
            <a:endParaRPr lang="zh-CN" altLang="en-US"/>
          </a:p>
          <a:p>
            <a:r>
              <a:rPr lang="zh-CN" altLang="en-US"/>
              <a:t>最终成果展示</a:t>
            </a:r>
            <a:endParaRPr lang="en-US" altLang="zh-CN"/>
          </a:p>
          <a:p>
            <a:r>
              <a:rPr lang="zh-CN" altLang="en-US"/>
              <a:t>组件化开发模式</a:t>
            </a:r>
            <a:endParaRPr lang="zh-CN" altLang="en-US"/>
          </a:p>
          <a:p>
            <a:r>
              <a:rPr lang="zh-CN" altLang="en-US"/>
              <a:t>系统调用设计</a:t>
            </a:r>
            <a:endParaRPr lang="zh-CN" altLang="en-US"/>
          </a:p>
          <a:p>
            <a:r>
              <a:rPr lang="zh-CN" altLang="en-US"/>
              <a:t>文件系统</a:t>
            </a:r>
            <a:endParaRPr lang="zh-CN" altLang="en-US"/>
          </a:p>
          <a:p>
            <a:r>
              <a:rPr lang="zh-CN" altLang="en-US"/>
              <a:t>内存管理</a:t>
            </a:r>
            <a:r>
              <a:rPr lang="zh-CN" altLang="en-US"/>
              <a:t>模块</a:t>
            </a:r>
            <a:endParaRPr lang="zh-CN" altLang="en-US"/>
          </a:p>
          <a:p>
            <a:r>
              <a:rPr lang="zh-CN" altLang="en-US"/>
              <a:t>进程管理</a:t>
            </a:r>
            <a:r>
              <a:rPr lang="zh-CN" altLang="en-US"/>
              <a:t>模块</a:t>
            </a:r>
            <a:endParaRPr lang="zh-CN" altLang="en-US"/>
          </a:p>
          <a:p>
            <a:r>
              <a:rPr lang="zh-CN" altLang="en-US"/>
              <a:t>信号处理</a:t>
            </a:r>
            <a:r>
              <a:rPr lang="zh-CN" altLang="en-US"/>
              <a:t>模块</a:t>
            </a:r>
            <a:endParaRPr lang="zh-CN" altLang="en-US"/>
          </a:p>
          <a:p>
            <a:r>
              <a:rPr lang="zh-CN" altLang="en-US"/>
              <a:t>网络模块</a:t>
            </a:r>
            <a:endParaRPr lang="zh-CN" altLang="en-US"/>
          </a:p>
          <a:p>
            <a:r>
              <a:rPr lang="zh-CN" altLang="en-US"/>
              <a:t>总结与展望</a:t>
            </a:r>
            <a:endParaRPr lang="en-US" altLang="zh-CN"/>
          </a:p>
          <a:p>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项目介绍</a:t>
            </a:r>
            <a:endParaRPr lang="en-GB"/>
          </a:p>
        </p:txBody>
      </p:sp>
      <p:sp>
        <p:nvSpPr>
          <p:cNvPr id="3" name="内容占位符 2"/>
          <p:cNvSpPr>
            <a:spLocks noGrp="1"/>
          </p:cNvSpPr>
          <p:nvPr>
            <p:ph idx="1"/>
          </p:nvPr>
        </p:nvSpPr>
        <p:spPr>
          <a:xfrm>
            <a:off x="838200" y="1825624"/>
            <a:ext cx="10515600" cy="4513031"/>
          </a:xfrm>
        </p:spPr>
        <p:txBody>
          <a:bodyPr>
            <a:normAutofit fontScale="80000"/>
          </a:bodyPr>
          <a:lstStyle/>
          <a:p>
            <a:pPr lvl="1" algn="l">
              <a:buClrTx/>
              <a:buSzTx/>
            </a:pPr>
            <a:r>
              <a:rPr lang="zh-CN" altLang="en-US"/>
              <a:t>UndefinedOS 是一个用 Rust 语言编写的操作系统内核，支持多种体系结构（包括 riscv64 、aarch64、loongarch64、x86_64）和多种硬件平台（如 Raspberry Pi、QEMU虚拟机等），采用模块化设计，注重兼容性、安全性与可移植性。</a:t>
            </a:r>
            <a:endParaRPr lang="zh-CN" altLang="en-US"/>
          </a:p>
          <a:p>
            <a:pPr lvl="1" algn="l">
              <a:buClrTx/>
              <a:buSzTx/>
            </a:pPr>
            <a:r>
              <a:rPr lang="en-US" altLang="zh-CN"/>
              <a:t>UndefinedOS </a:t>
            </a:r>
            <a:r>
              <a:rPr lang="zh-CN" altLang="en-US"/>
              <a:t>提供了</a:t>
            </a:r>
            <a:r>
              <a:rPr lang="en-US" altLang="zh-CN"/>
              <a:t>POSIX </a:t>
            </a:r>
            <a:r>
              <a:rPr lang="zh-CN" altLang="en-US"/>
              <a:t>兼容的系统调用接口，致力于提供兼容</a:t>
            </a:r>
            <a:r>
              <a:rPr lang="en-US" altLang="zh-CN"/>
              <a:t>Linux</a:t>
            </a:r>
            <a:r>
              <a:rPr lang="zh-CN" altLang="en-US"/>
              <a:t>内核用户接口，同时通过层次化的系统调用设计，保留了未来兼容其他系统调用规范的接口。</a:t>
            </a:r>
            <a:endParaRPr lang="en-US" altLang="zh-CN"/>
          </a:p>
          <a:p>
            <a:pPr lvl="1" algn="l">
              <a:buClrTx/>
              <a:buSzTx/>
            </a:pPr>
            <a:r>
              <a:rPr lang="en-US" altLang="zh-CN"/>
              <a:t>UndefinedOS </a:t>
            </a:r>
            <a:r>
              <a:rPr lang="zh-CN" altLang="en-US"/>
              <a:t>使用</a:t>
            </a:r>
            <a:r>
              <a:rPr lang="en-US" altLang="zh-CN"/>
              <a:t>Rust</a:t>
            </a:r>
            <a:r>
              <a:rPr lang="zh-CN" altLang="en-US"/>
              <a:t>语言编写，充分利用了</a:t>
            </a:r>
            <a:r>
              <a:rPr lang="en-US" altLang="zh-CN"/>
              <a:t>Rust</a:t>
            </a:r>
            <a:r>
              <a:rPr lang="zh-CN" altLang="en-US"/>
              <a:t>的安全性和性能优势，利用</a:t>
            </a:r>
            <a:r>
              <a:rPr lang="en-US" altLang="zh-CN"/>
              <a:t>Rust</a:t>
            </a:r>
            <a:r>
              <a:rPr lang="zh-CN" altLang="en-US"/>
              <a:t>提供的</a:t>
            </a:r>
            <a:r>
              <a:rPr lang="en-US" altLang="zh-CN"/>
              <a:t>RAII</a:t>
            </a:r>
            <a:r>
              <a:rPr lang="zh-CN" altLang="en-US"/>
              <a:t>机制和所有权系统，确保了资源获取和释放的安全性；利用锁和其他同步原语，确保内核在高并发场景下的稳定性和安全性。</a:t>
            </a:r>
            <a:endParaRPr lang="en-US" altLang="zh-CN"/>
          </a:p>
          <a:p>
            <a:pPr lvl="1" algn="l">
              <a:buClrTx/>
              <a:buSzTx/>
            </a:pPr>
            <a:r>
              <a:rPr lang="en-US" altLang="zh-CN"/>
              <a:t>UndefinedOS </a:t>
            </a:r>
            <a:r>
              <a:rPr lang="zh-CN" altLang="en-US"/>
              <a:t>内核采用了模块化设计，核心内核模块包括硬件抽象层、进程管理、内存管理、文件系统、信号机制、网络支持等。每个模块都提供了清晰的接口和实现，便于扩展和维护。同时，部分内核组件不依赖于其他模块，可以作为独立的</a:t>
            </a:r>
            <a:r>
              <a:rPr lang="en-US" altLang="zh-CN"/>
              <a:t>crate</a:t>
            </a:r>
            <a:r>
              <a:rPr lang="zh-CN" altLang="en-US"/>
              <a:t>，提供给其他</a:t>
            </a:r>
            <a:r>
              <a:rPr lang="en-US" altLang="zh-CN"/>
              <a:t>OS</a:t>
            </a:r>
            <a:r>
              <a:rPr lang="zh-CN" altLang="en-US"/>
              <a:t>实现或其他用户空间程序使用。</a:t>
            </a:r>
            <a:endParaRPr lang="zh-CN" altLang="en-US"/>
          </a:p>
          <a:p>
            <a:pPr lvl="1" algn="l">
              <a:buClrTx/>
              <a:buSzTx/>
            </a:pPr>
            <a:r>
              <a:rPr lang="zh-CN" altLang="en-US"/>
              <a:t>在此基础上，我们实现了200个POSIX系统调用，提供了Linux兼容性，能够初步运行gcc, git等为Linux编译的实用程序。</a:t>
            </a:r>
            <a:endParaRPr lang="zh-CN"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项目介绍</a:t>
            </a:r>
            <a:endParaRPr lang="zh-CN" altLang="en-US"/>
          </a:p>
        </p:txBody>
      </p:sp>
      <p:sp>
        <p:nvSpPr>
          <p:cNvPr id="3" name="内容占位符 2"/>
          <p:cNvSpPr>
            <a:spLocks noGrp="1"/>
          </p:cNvSpPr>
          <p:nvPr>
            <p:ph idx="1"/>
          </p:nvPr>
        </p:nvSpPr>
        <p:spPr>
          <a:xfrm>
            <a:off x="838200" y="1401445"/>
            <a:ext cx="10515600" cy="5044440"/>
          </a:xfrm>
        </p:spPr>
        <p:txBody>
          <a:bodyPr>
            <a:normAutofit lnSpcReduction="20000"/>
          </a:bodyPr>
          <a:p>
            <a:r>
              <a:rPr lang="zh-CN" altLang="en-US">
                <a:sym typeface="+mn-ea"/>
              </a:rPr>
              <a:t>我们的项目具有如下特色：</a:t>
            </a:r>
            <a:endParaRPr lang="en-US" altLang="zh-CN"/>
          </a:p>
          <a:p>
            <a:pPr lvl="1"/>
            <a:r>
              <a:rPr lang="zh-CN" altLang="en-US" sz="2800">
                <a:sym typeface="+mn-ea"/>
              </a:rPr>
              <a:t>安全：使用</a:t>
            </a:r>
            <a:r>
              <a:rPr lang="en-US" altLang="zh-CN" sz="2800">
                <a:sym typeface="+mn-ea"/>
              </a:rPr>
              <a:t>Rust</a:t>
            </a:r>
            <a:r>
              <a:rPr lang="zh-CN" altLang="en-US" sz="2800">
                <a:sym typeface="+mn-ea"/>
              </a:rPr>
              <a:t>语言编写，提供了内存安全性，支持多</a:t>
            </a:r>
            <a:r>
              <a:rPr lang="en-US" altLang="zh-CN" sz="2800">
                <a:sym typeface="+mn-ea"/>
              </a:rPr>
              <a:t>CPU</a:t>
            </a:r>
            <a:r>
              <a:rPr lang="zh-CN" altLang="en-US" sz="2800">
                <a:sym typeface="+mn-ea"/>
              </a:rPr>
              <a:t>核心下的线程安全。</a:t>
            </a:r>
            <a:endParaRPr lang="zh-CN" altLang="en-US" sz="2800"/>
          </a:p>
          <a:p>
            <a:pPr lvl="1"/>
            <a:r>
              <a:rPr lang="zh-CN" altLang="en-US" sz="2800">
                <a:sym typeface="+mn-ea"/>
              </a:rPr>
              <a:t>跨平台：支持</a:t>
            </a:r>
            <a:r>
              <a:rPr lang="en-US" altLang="zh-CN" sz="2800">
                <a:sym typeface="+mn-ea"/>
              </a:rPr>
              <a:t>x86_64/riscv64/aarch64/loongarch64 </a:t>
            </a:r>
            <a:r>
              <a:rPr lang="zh-CN" altLang="en-US" sz="2800">
                <a:sym typeface="+mn-ea"/>
              </a:rPr>
              <a:t>等多种指令架构，可以运行在</a:t>
            </a:r>
            <a:r>
              <a:rPr lang="en-US" altLang="zh-CN" sz="2800">
                <a:sym typeface="+mn-ea"/>
              </a:rPr>
              <a:t>qemu</a:t>
            </a:r>
            <a:r>
              <a:rPr lang="zh-CN" altLang="en-US" sz="2800">
                <a:sym typeface="+mn-ea"/>
              </a:rPr>
              <a:t>虚拟机和其他硬件开发板上。</a:t>
            </a:r>
            <a:endParaRPr lang="zh-CN" altLang="en-US" sz="2800"/>
          </a:p>
          <a:p>
            <a:pPr lvl="1"/>
            <a:r>
              <a:rPr lang="zh-CN" altLang="en-US" sz="2800">
                <a:sym typeface="+mn-ea"/>
              </a:rPr>
              <a:t>兼容性：我们提供了兼容</a:t>
            </a:r>
            <a:r>
              <a:rPr lang="en-US" altLang="zh-CN" sz="2800">
                <a:sym typeface="+mn-ea"/>
              </a:rPr>
              <a:t>Linux</a:t>
            </a:r>
            <a:r>
              <a:rPr lang="zh-CN" altLang="en-US" sz="2800">
                <a:sym typeface="+mn-ea"/>
              </a:rPr>
              <a:t>的系统调用实现，同时保留了未来兼容其他</a:t>
            </a:r>
            <a:r>
              <a:rPr lang="en-US" altLang="zh-CN" sz="2800">
                <a:sym typeface="+mn-ea"/>
              </a:rPr>
              <a:t>OS</a:t>
            </a:r>
            <a:r>
              <a:rPr lang="zh-CN" altLang="en-US" sz="2800">
                <a:sym typeface="+mn-ea"/>
              </a:rPr>
              <a:t>的系统调用的接口。</a:t>
            </a:r>
            <a:endParaRPr lang="zh-CN" altLang="en-US" sz="2800">
              <a:sym typeface="+mn-ea"/>
            </a:endParaRPr>
          </a:p>
          <a:p>
            <a:pPr lvl="1"/>
            <a:r>
              <a:rPr lang="zh-CN" altLang="en-US" sz="2800"/>
              <a:t>模块化设计</a:t>
            </a:r>
            <a:r>
              <a:rPr lang="zh-CN" altLang="en-US" sz="2800">
                <a:sym typeface="+mn-ea"/>
              </a:rPr>
              <a:t>：</a:t>
            </a:r>
            <a:r>
              <a:rPr lang="zh-CN" altLang="en-US" sz="2800"/>
              <a:t>每个模块都提供了清晰的接口和实现，便于扩展和维护。同时，部分内核组件不依赖于其他模块，可以作为独立的</a:t>
            </a:r>
            <a:r>
              <a:rPr lang="en-US" altLang="zh-CN" sz="2800"/>
              <a:t>crate</a:t>
            </a:r>
            <a:r>
              <a:rPr lang="zh-CN" altLang="en-US" sz="2800"/>
              <a:t>，提供给其他</a:t>
            </a:r>
            <a:r>
              <a:rPr lang="en-US" altLang="zh-CN" sz="2800"/>
              <a:t>OS</a:t>
            </a:r>
            <a:r>
              <a:rPr lang="zh-CN" altLang="en-US" sz="2800"/>
              <a:t>实现或其他用户空间程序使用。</a:t>
            </a:r>
            <a:endParaRPr lang="zh-CN" altLang="en-US" sz="2800"/>
          </a:p>
          <a:p>
            <a:pPr lvl="1"/>
            <a:r>
              <a:rPr lang="zh-CN" altLang="en-US" sz="2800"/>
              <a:t>仓库地址：</a:t>
            </a:r>
            <a:r>
              <a:rPr lang="en-US" altLang="zh-CN" sz="2800"/>
              <a:t>https://gitlab.eduxiji.net/T202510003995291/os-kernel2025-undefined</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最终成果</a:t>
            </a:r>
            <a:r>
              <a:rPr lang="zh-CN" altLang="en-US"/>
              <a:t>展示</a:t>
            </a:r>
            <a:endParaRPr lang="zh-CN" altLang="en-US"/>
          </a:p>
        </p:txBody>
      </p:sp>
      <p:pic>
        <p:nvPicPr>
          <p:cNvPr id="4" name="内容占位符 3"/>
          <p:cNvPicPr>
            <a:picLocks noChangeAspect="1"/>
          </p:cNvPicPr>
          <p:nvPr>
            <p:ph idx="1"/>
          </p:nvPr>
        </p:nvPicPr>
        <p:blipFill>
          <a:blip r:embed="rId1"/>
          <a:stretch>
            <a:fillRect/>
          </a:stretch>
        </p:blipFill>
        <p:spPr>
          <a:xfrm>
            <a:off x="4659630" y="688340"/>
            <a:ext cx="7235825" cy="5855335"/>
          </a:xfrm>
          <a:prstGeom prst="rect">
            <a:avLst/>
          </a:prstGeom>
        </p:spPr>
      </p:pic>
      <p:sp>
        <p:nvSpPr>
          <p:cNvPr id="5" name="文本框 4"/>
          <p:cNvSpPr txBox="1"/>
          <p:nvPr/>
        </p:nvSpPr>
        <p:spPr>
          <a:xfrm>
            <a:off x="594995" y="1869440"/>
            <a:ext cx="3963670" cy="3784600"/>
          </a:xfrm>
          <a:prstGeom prst="rect">
            <a:avLst/>
          </a:prstGeom>
          <a:noFill/>
        </p:spPr>
        <p:txBody>
          <a:bodyPr wrap="square" rtlCol="0">
            <a:spAutoFit/>
          </a:bodyPr>
          <a:p>
            <a:r>
              <a:rPr lang="en-US" altLang="zh-CN" sz="2000">
                <a:latin typeface="仿宋" panose="02010609060101010101" pitchFamily="49" charset="-122"/>
                <a:ea typeface="仿宋" panose="02010609060101010101" pitchFamily="49" charset="-122"/>
              </a:rPr>
              <a:t>- </a:t>
            </a:r>
            <a:r>
              <a:rPr lang="zh-CN" altLang="en-US" sz="2000">
                <a:latin typeface="仿宋" panose="02010609060101010101" pitchFamily="49" charset="-122"/>
                <a:ea typeface="仿宋" panose="02010609060101010101" pitchFamily="49" charset="-122"/>
              </a:rPr>
              <a:t>右边是我们目前已经实现的主要功能展示</a:t>
            </a:r>
            <a:endParaRPr lang="zh-CN" altLang="en-US" sz="2000">
              <a:latin typeface="仿宋" panose="02010609060101010101" pitchFamily="49" charset="-122"/>
              <a:ea typeface="仿宋" panose="02010609060101010101" pitchFamily="49" charset="-122"/>
            </a:endParaRPr>
          </a:p>
          <a:p>
            <a:r>
              <a:rPr lang="en-US" altLang="zh-CN" sz="2000">
                <a:latin typeface="仿宋" panose="02010609060101010101" pitchFamily="49" charset="-122"/>
                <a:ea typeface="仿宋" panose="02010609060101010101" pitchFamily="49" charset="-122"/>
              </a:rPr>
              <a:t>- </a:t>
            </a:r>
            <a:r>
              <a:rPr lang="zh-CN" altLang="en-US" sz="2000">
                <a:latin typeface="仿宋" panose="02010609060101010101" pitchFamily="49" charset="-122"/>
                <a:ea typeface="仿宋" panose="02010609060101010101" pitchFamily="49" charset="-122"/>
              </a:rPr>
              <a:t>目前</a:t>
            </a:r>
            <a:r>
              <a:rPr lang="zh-CN" altLang="en-US" sz="2000">
                <a:latin typeface="仿宋" panose="02010609060101010101" pitchFamily="49" charset="-122"/>
                <a:ea typeface="仿宋" panose="02010609060101010101" pitchFamily="49" charset="-122"/>
              </a:rPr>
              <a:t>部分模块的功能还在进一步完善中，我们希望通过不断的迭代和优化，提升系统的稳定性和性能，最终实现一个功能完善、性能优越的操作系统内核。</a:t>
            </a:r>
            <a:endParaRPr lang="zh-CN" altLang="en-US" sz="2000">
              <a:latin typeface="仿宋" panose="02010609060101010101" pitchFamily="49" charset="-122"/>
              <a:ea typeface="仿宋" panose="02010609060101010101" pitchFamily="49" charset="-122"/>
            </a:endParaRPr>
          </a:p>
          <a:p>
            <a:r>
              <a:rPr lang="en-US" altLang="zh-CN" sz="2000">
                <a:latin typeface="仿宋" panose="02010609060101010101" pitchFamily="49" charset="-122"/>
                <a:ea typeface="仿宋" panose="02010609060101010101" pitchFamily="49" charset="-122"/>
              </a:rPr>
              <a:t>- </a:t>
            </a:r>
            <a:r>
              <a:rPr lang="zh-CN" altLang="en-US" sz="2000">
                <a:latin typeface="仿宋" panose="02010609060101010101" pitchFamily="49" charset="-122"/>
                <a:ea typeface="仿宋" panose="02010609060101010101" pitchFamily="49" charset="-122"/>
              </a:rPr>
              <a:t>同时</a:t>
            </a:r>
            <a:r>
              <a:rPr lang="zh-CN" altLang="en-US" sz="2000">
                <a:latin typeface="仿宋" panose="02010609060101010101" pitchFamily="49" charset="-122"/>
                <a:ea typeface="仿宋" panose="02010609060101010101" pitchFamily="49" charset="-122"/>
              </a:rPr>
              <a:t>我们也希望这些模块在功能不断完善后，可以被其他项目复用，以验证实现的通用性与可移植性。</a:t>
            </a:r>
            <a:endParaRPr lang="zh-CN" altLang="en-US" sz="2000">
              <a:latin typeface="仿宋" panose="02010609060101010101" pitchFamily="49" charset="-122"/>
              <a:ea typeface="仿宋" panose="02010609060101010101" pitchFamily="49" charset="-122"/>
            </a:endParaRPr>
          </a:p>
          <a:p>
            <a:endParaRPr lang="en-US" altLang="zh-CN" sz="2000">
              <a:latin typeface="仿宋" panose="02010609060101010101" pitchFamily="49" charset="-122"/>
              <a:ea typeface="仿宋"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组件化开发模式</a:t>
            </a:r>
            <a:endParaRPr lang="en-GB"/>
          </a:p>
        </p:txBody>
      </p:sp>
      <p:sp>
        <p:nvSpPr>
          <p:cNvPr id="3" name="内容占位符 2"/>
          <p:cNvSpPr>
            <a:spLocks noGrp="1"/>
          </p:cNvSpPr>
          <p:nvPr>
            <p:ph idx="1"/>
          </p:nvPr>
        </p:nvSpPr>
        <p:spPr/>
        <p:txBody>
          <a:bodyPr/>
          <a:lstStyle/>
          <a:p>
            <a:r>
              <a:rPr lang="zh-CN" altLang="en-US"/>
              <a:t>我们的项目采用了</a:t>
            </a:r>
            <a:r>
              <a:rPr lang="zh-CN" altLang="en-US" b="1"/>
              <a:t>组件化</a:t>
            </a:r>
            <a:r>
              <a:rPr lang="zh-CN" altLang="en-US"/>
              <a:t>的开发模式，主要分成两个部分：</a:t>
            </a:r>
            <a:endParaRPr lang="en-US" altLang="zh-CN"/>
          </a:p>
          <a:p>
            <a:pPr lvl="1"/>
            <a:r>
              <a:rPr lang="zh-CN" altLang="en-US"/>
              <a:t>底层</a:t>
            </a:r>
            <a:r>
              <a:rPr lang="en-GB" altLang="zh-CN"/>
              <a:t>ArceOS</a:t>
            </a:r>
            <a:r>
              <a:rPr lang="zh-CN" altLang="en-US"/>
              <a:t>部分：提供了基础的硬件抽象、文件系统、页表和内存管理等底层功能，每个子功能是以组件</a:t>
            </a:r>
            <a:r>
              <a:rPr lang="en-US" altLang="zh-CN"/>
              <a:t>(Rust crate)</a:t>
            </a:r>
            <a:r>
              <a:rPr lang="zh-CN" altLang="en-US"/>
              <a:t>的形式提供的，耦合程度低，可以复用到其他宏内核实现上，或用于构建</a:t>
            </a:r>
            <a:r>
              <a:rPr lang="en-US" altLang="zh-CN"/>
              <a:t>Unikernel</a:t>
            </a:r>
            <a:r>
              <a:rPr lang="zh-CN" altLang="en-US"/>
              <a:t>应用。我们的贡献以错误修复和添加宏内核功能支持为主。</a:t>
            </a:r>
            <a:endParaRPr lang="en-US" altLang="zh-CN"/>
          </a:p>
          <a:p>
            <a:pPr lvl="1"/>
            <a:r>
              <a:rPr lang="zh-CN" altLang="en-US"/>
              <a:t>宏内核</a:t>
            </a:r>
            <a:r>
              <a:rPr lang="en-US" altLang="zh-CN"/>
              <a:t>UndefinedOS</a:t>
            </a:r>
            <a:r>
              <a:rPr lang="zh-CN" altLang="en-US"/>
              <a:t>部分：初版代码基于</a:t>
            </a:r>
            <a:r>
              <a:rPr lang="en-US" altLang="zh-CN"/>
              <a:t>StarryNext</a:t>
            </a:r>
            <a:r>
              <a:rPr lang="zh-CN" altLang="en-US"/>
              <a:t>，主要分为</a:t>
            </a:r>
            <a:r>
              <a:rPr lang="en-US" altLang="zh-CN"/>
              <a:t>POSIX</a:t>
            </a:r>
            <a:r>
              <a:rPr lang="zh-CN" altLang="en-US"/>
              <a:t>兼容的系统调用支持、进程线程管理、资源管理等部分，提供了一些仅适用于宏内核的组件。</a:t>
            </a:r>
            <a:endParaRPr lang="en-US" altLang="zh-CN"/>
          </a:p>
          <a:p>
            <a:r>
              <a:rPr lang="zh-CN" altLang="en-US"/>
              <a:t>组件化的开发模式便于自由裁剪组合所需的组件，解耦合的设计便于添加更多的平台</a:t>
            </a:r>
            <a:r>
              <a:rPr lang="en-US" altLang="zh-CN"/>
              <a:t>/</a:t>
            </a:r>
            <a:r>
              <a:rPr lang="zh-CN" altLang="en-US"/>
              <a:t>架构支持，便于并行开发和组件复用。</a:t>
            </a: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组件化的总体架构设计</a:t>
            </a:r>
            <a:endParaRPr lang="en-GB"/>
          </a:p>
        </p:txBody>
      </p:sp>
      <p:pic>
        <p:nvPicPr>
          <p:cNvPr id="4" name="内容占位符 3"/>
          <p:cNvPicPr>
            <a:picLocks noChangeAspect="1"/>
          </p:cNvPicPr>
          <p:nvPr>
            <p:ph idx="1"/>
          </p:nvPr>
        </p:nvPicPr>
        <p:blipFill>
          <a:blip r:embed="rId1"/>
          <a:stretch>
            <a:fillRect/>
          </a:stretch>
        </p:blipFill>
        <p:spPr>
          <a:xfrm>
            <a:off x="1518920" y="2043430"/>
            <a:ext cx="9153525" cy="39147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解耦合的系统调用架构设计</a:t>
            </a:r>
            <a:endParaRPr lang="en-GB"/>
          </a:p>
        </p:txBody>
      </p:sp>
      <p:sp>
        <p:nvSpPr>
          <p:cNvPr id="3" name="内容占位符 2"/>
          <p:cNvSpPr>
            <a:spLocks noGrp="1"/>
          </p:cNvSpPr>
          <p:nvPr>
            <p:ph idx="1"/>
          </p:nvPr>
        </p:nvSpPr>
        <p:spPr/>
        <p:txBody>
          <a:bodyPr/>
          <a:lstStyle/>
          <a:p>
            <a:r>
              <a:rPr lang="zh-CN" altLang="en-US"/>
              <a:t>我们采取了</a:t>
            </a:r>
            <a:r>
              <a:rPr lang="zh-CN" altLang="en-US" b="1"/>
              <a:t>接口</a:t>
            </a:r>
            <a:r>
              <a:rPr lang="zh-CN" altLang="en-US"/>
              <a:t>和</a:t>
            </a:r>
            <a:r>
              <a:rPr lang="zh-CN" altLang="en-US" b="1"/>
              <a:t>实现</a:t>
            </a:r>
            <a:r>
              <a:rPr lang="zh-CN" altLang="en-US"/>
              <a:t>分离的系统调用设计。</a:t>
            </a:r>
            <a:endParaRPr lang="en-US" altLang="zh-CN"/>
          </a:p>
          <a:p>
            <a:r>
              <a:rPr lang="zh-CN" altLang="en-US"/>
              <a:t>整合一类功能相近或彼此包含的系统调用，实现一个通用的实现函数以完成它们的功能的并集，作为</a:t>
            </a:r>
            <a:r>
              <a:rPr lang="zh-CN" altLang="en-US" b="1"/>
              <a:t>实现</a:t>
            </a:r>
            <a:r>
              <a:rPr lang="zh-CN" altLang="en-US"/>
              <a:t>部分。</a:t>
            </a:r>
            <a:endParaRPr lang="en-US" altLang="zh-CN"/>
          </a:p>
          <a:p>
            <a:r>
              <a:rPr lang="zh-CN" altLang="en-US"/>
              <a:t>为每个系统调用单独提供一个</a:t>
            </a:r>
            <a:r>
              <a:rPr lang="zh-CN" altLang="en-US" b="1"/>
              <a:t>接口</a:t>
            </a:r>
            <a:r>
              <a:rPr lang="zh-CN" altLang="en-US"/>
              <a:t>函数，进行参数的检查和转换，以合适的参数组合调用对应的</a:t>
            </a:r>
            <a:r>
              <a:rPr lang="zh-CN" altLang="en-US" b="1"/>
              <a:t>实现</a:t>
            </a:r>
            <a:r>
              <a:rPr lang="zh-CN" altLang="en-US"/>
              <a:t>函数。</a:t>
            </a:r>
            <a:endParaRPr lang="en-US" altLang="zh-CN"/>
          </a:p>
          <a:p>
            <a:r>
              <a:rPr lang="zh-CN" altLang="en-US" b="1"/>
              <a:t>接口</a:t>
            </a:r>
            <a:r>
              <a:rPr lang="zh-CN" altLang="en-US"/>
              <a:t>层可以处理不同架构下</a:t>
            </a:r>
            <a:r>
              <a:rPr lang="en-US" altLang="zh-CN"/>
              <a:t>Linux syscall</a:t>
            </a:r>
            <a:r>
              <a:rPr lang="zh-CN" altLang="en-US"/>
              <a:t>接口差异的问题。</a:t>
            </a:r>
            <a:endParaRPr lang="en-US" altLang="zh-CN"/>
          </a:p>
          <a:p>
            <a:r>
              <a:rPr lang="zh-CN" altLang="en-US"/>
              <a:t>使用不同的</a:t>
            </a:r>
            <a:r>
              <a:rPr lang="zh-CN" altLang="en-US" b="1"/>
              <a:t>接口</a:t>
            </a:r>
            <a:r>
              <a:rPr lang="zh-CN" altLang="en-US"/>
              <a:t>层即可兼容不同的</a:t>
            </a:r>
            <a:r>
              <a:rPr lang="en-US" altLang="zh-CN"/>
              <a:t>syscall</a:t>
            </a:r>
            <a:r>
              <a:rPr lang="zh-CN" altLang="en-US"/>
              <a:t>规范，使用不同的</a:t>
            </a:r>
            <a:r>
              <a:rPr lang="zh-CN" altLang="en-US" b="1"/>
              <a:t>实现</a:t>
            </a:r>
            <a:r>
              <a:rPr lang="zh-CN" altLang="en-US"/>
              <a:t>层即可更换不同的内核实现。</a:t>
            </a:r>
            <a:endParaRPr lang="en-US" altLang="zh-CN"/>
          </a:p>
          <a:p>
            <a:endParaRPr lang="en-US" altLang="zh-CN"/>
          </a:p>
          <a:p>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解耦合的系统调用架构设计</a:t>
            </a:r>
            <a:endParaRPr lang="en-GB"/>
          </a:p>
        </p:txBody>
      </p:sp>
      <p:sp>
        <p:nvSpPr>
          <p:cNvPr id="3" name="内容占位符 2"/>
          <p:cNvSpPr>
            <a:spLocks noGrp="1"/>
          </p:cNvSpPr>
          <p:nvPr>
            <p:ph idx="1"/>
          </p:nvPr>
        </p:nvSpPr>
        <p:spPr>
          <a:xfrm>
            <a:off x="838201" y="1825625"/>
            <a:ext cx="7718242" cy="4351338"/>
          </a:xfrm>
        </p:spPr>
        <p:txBody>
          <a:bodyPr/>
          <a:lstStyle/>
          <a:p>
            <a:r>
              <a:rPr lang="zh-CN" altLang="en-US"/>
              <a:t>实例：</a:t>
            </a:r>
            <a:endParaRPr lang="en-US" altLang="zh-CN"/>
          </a:p>
          <a:p>
            <a:r>
              <a:rPr lang="en-US"/>
              <a:t>sys_stat_impl -&gt; stat, fstat, lstat, statx, fstatat</a:t>
            </a:r>
            <a:endParaRPr lang="en-US"/>
          </a:p>
          <a:p>
            <a:r>
              <a:rPr lang="en-US"/>
              <a:t>sys_poll_impl -&gt; poll, ppoll, select, pselect</a:t>
            </a:r>
            <a:endParaRPr lang="en-US"/>
          </a:p>
          <a:p>
            <a:r>
              <a:rPr lang="en-US"/>
              <a:t>stat</a:t>
            </a:r>
            <a:r>
              <a:rPr lang="zh-CN" altLang="en-US"/>
              <a:t>系列系统调用在不同架构下</a:t>
            </a:r>
            <a:r>
              <a:rPr lang="en-US" altLang="zh-CN"/>
              <a:t>Kstat</a:t>
            </a:r>
            <a:r>
              <a:rPr lang="zh-CN" altLang="en-US"/>
              <a:t>结构体的定义不同</a:t>
            </a:r>
            <a:endParaRPr lang="en-US" altLang="zh-CN"/>
          </a:p>
          <a:p>
            <a:r>
              <a:rPr lang="en-US" altLang="zh-CN"/>
              <a:t>clone</a:t>
            </a:r>
            <a:r>
              <a:rPr lang="zh-CN" altLang="en-US"/>
              <a:t>系列系统调用在不同架构下的参数个数或顺序不同</a:t>
            </a:r>
            <a:endParaRPr lang="en-GB"/>
          </a:p>
        </p:txBody>
      </p:sp>
      <p:pic>
        <p:nvPicPr>
          <p:cNvPr id="6" name="图片 5"/>
          <p:cNvPicPr>
            <a:picLocks noChangeAspect="1"/>
          </p:cNvPicPr>
          <p:nvPr/>
        </p:nvPicPr>
        <p:blipFill>
          <a:blip r:embed="rId1"/>
          <a:stretch>
            <a:fillRect/>
          </a:stretch>
        </p:blipFill>
        <p:spPr>
          <a:xfrm>
            <a:off x="8556442" y="212"/>
            <a:ext cx="3647383"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解耦合的系统调用架构设计</a:t>
            </a:r>
            <a:endParaRPr lang="en-GB"/>
          </a:p>
        </p:txBody>
      </p:sp>
      <p:sp>
        <p:nvSpPr>
          <p:cNvPr id="3" name="内容占位符 2"/>
          <p:cNvSpPr>
            <a:spLocks noGrp="1"/>
          </p:cNvSpPr>
          <p:nvPr>
            <p:ph idx="1"/>
          </p:nvPr>
        </p:nvSpPr>
        <p:spPr/>
        <p:txBody>
          <a:bodyPr/>
          <a:lstStyle/>
          <a:p>
            <a:r>
              <a:rPr lang="zh-CN" altLang="en-US"/>
              <a:t>实例：功能相近的系统调用的整合，减少冗余代码</a:t>
            </a:r>
            <a:endParaRPr lang="en-US" altLang="zh-CN"/>
          </a:p>
          <a:p>
            <a:endParaRPr lang="en-GB"/>
          </a:p>
        </p:txBody>
      </p:sp>
      <p:pic>
        <p:nvPicPr>
          <p:cNvPr id="6" name="图片 5"/>
          <p:cNvPicPr>
            <a:picLocks noChangeAspect="1"/>
          </p:cNvPicPr>
          <p:nvPr/>
        </p:nvPicPr>
        <p:blipFill>
          <a:blip r:embed="rId1"/>
          <a:stretch>
            <a:fillRect/>
          </a:stretch>
        </p:blipFill>
        <p:spPr>
          <a:xfrm>
            <a:off x="1069207" y="2290747"/>
            <a:ext cx="5832107" cy="43823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组件化的文件系统设计</a:t>
            </a:r>
            <a:endParaRPr lang="zh-CN" altLang="en-US"/>
          </a:p>
        </p:txBody>
      </p:sp>
      <p:sp>
        <p:nvSpPr>
          <p:cNvPr id="3" name="内容占位符 2"/>
          <p:cNvSpPr>
            <a:spLocks noGrp="1"/>
          </p:cNvSpPr>
          <p:nvPr>
            <p:ph idx="1"/>
          </p:nvPr>
        </p:nvSpPr>
        <p:spPr/>
        <p:txBody>
          <a:bodyPr/>
          <a:p>
            <a:r>
              <a:rPr lang="en-US" altLang="zh-CN"/>
              <a:t>Undefined OS </a:t>
            </a:r>
            <a:r>
              <a:rPr lang="zh-CN" altLang="en-US"/>
              <a:t>的文件系统模块构建在一套抽象统一、模块解耦的</a:t>
            </a:r>
            <a:r>
              <a:rPr lang="en-US" altLang="zh-CN"/>
              <a:t> VFS </a:t>
            </a:r>
            <a:r>
              <a:rPr lang="zh-CN" altLang="en-US"/>
              <a:t>框架之上，支持挂载多个后端文件系统（如</a:t>
            </a:r>
            <a:r>
              <a:rPr lang="en-US" altLang="zh-CN"/>
              <a:t> Ext4</a:t>
            </a:r>
            <a:r>
              <a:rPr lang="zh-CN" altLang="en-US"/>
              <a:t>、</a:t>
            </a:r>
            <a:r>
              <a:rPr lang="en-US" altLang="zh-CN"/>
              <a:t>fat32</a:t>
            </a:r>
            <a:r>
              <a:rPr lang="zh-CN" altLang="en-US"/>
              <a:t>、</a:t>
            </a:r>
            <a:r>
              <a:rPr lang="en-US" altLang="zh-CN"/>
              <a:t>Devfs </a:t>
            </a:r>
            <a:r>
              <a:rPr lang="zh-CN" altLang="en-US"/>
              <a:t>等），在设计上借鉴了</a:t>
            </a:r>
            <a:r>
              <a:rPr lang="en-US" altLang="zh-CN"/>
              <a:t> Linux</a:t>
            </a:r>
            <a:r>
              <a:rPr lang="zh-CN" altLang="en-US"/>
              <a:t>架构，通过</a:t>
            </a:r>
            <a:r>
              <a:rPr lang="en-US" altLang="zh-CN"/>
              <a:t> Direntry </a:t>
            </a:r>
            <a:r>
              <a:rPr lang="zh-CN" altLang="en-US"/>
              <a:t>等抽象结构，协调路径解析、文件访问等操作流程。</a:t>
            </a:r>
            <a:endParaRPr lang="zh-CN" altLang="en-US"/>
          </a:p>
          <a:p>
            <a:r>
              <a:rPr lang="zh-CN" altLang="en-US"/>
              <a:t>我们的文件系统框架强调模块解耦、抽象统一与类型安全，在确保安全性的同时提升了系统可维护性与扩展性。</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组件化的文件系统设计</a:t>
            </a:r>
            <a:endParaRPr lang="en-GB"/>
          </a:p>
        </p:txBody>
      </p:sp>
      <p:sp>
        <p:nvSpPr>
          <p:cNvPr id="6" name="内容占位符 5"/>
          <p:cNvSpPr>
            <a:spLocks noGrp="1"/>
          </p:cNvSpPr>
          <p:nvPr>
            <p:ph idx="1"/>
          </p:nvPr>
        </p:nvSpPr>
        <p:spPr>
          <a:xfrm>
            <a:off x="838200" y="1825624"/>
            <a:ext cx="10515600" cy="4667251"/>
          </a:xfrm>
        </p:spPr>
        <p:txBody>
          <a:bodyPr>
            <a:normAutofit/>
          </a:bodyPr>
          <a:lstStyle/>
          <a:p>
            <a:r>
              <a:rPr lang="en-US" altLang="zh-CN"/>
              <a:t>OS</a:t>
            </a:r>
            <a:r>
              <a:rPr lang="zh-CN" altLang="en-US"/>
              <a:t>层：基于进程的文件系统上下文</a:t>
            </a:r>
            <a:endParaRPr lang="en-US" altLang="zh-CN"/>
          </a:p>
          <a:p>
            <a:pPr lvl="1"/>
            <a:r>
              <a:rPr lang="zh-CN" altLang="en-US"/>
              <a:t>当前目录</a:t>
            </a:r>
            <a:endParaRPr lang="en-US" altLang="zh-CN"/>
          </a:p>
          <a:p>
            <a:pPr lvl="1"/>
            <a:r>
              <a:rPr lang="zh-CN" altLang="en-US"/>
              <a:t>根目录</a:t>
            </a:r>
            <a:endParaRPr lang="en-US" altLang="zh-CN"/>
          </a:p>
          <a:p>
            <a:pPr lvl="1"/>
            <a:r>
              <a:rPr lang="en-US" altLang="zh-CN"/>
              <a:t>umask</a:t>
            </a:r>
            <a:endParaRPr lang="en-US" altLang="zh-CN"/>
          </a:p>
          <a:p>
            <a:r>
              <a:rPr lang="en-US" altLang="zh-CN"/>
              <a:t>API</a:t>
            </a:r>
            <a:r>
              <a:rPr lang="zh-CN" altLang="en-US"/>
              <a:t>层：提供含权限检查的文件系统操作</a:t>
            </a:r>
            <a:endParaRPr lang="en-US" altLang="zh-CN"/>
          </a:p>
          <a:p>
            <a:pPr lvl="1"/>
            <a:r>
              <a:rPr lang="zh-CN" altLang="en-US"/>
              <a:t>文件打开、创建</a:t>
            </a:r>
            <a:endParaRPr lang="en-US" altLang="zh-CN"/>
          </a:p>
          <a:p>
            <a:pPr lvl="1"/>
            <a:r>
              <a:rPr lang="zh-CN" altLang="en-US"/>
              <a:t>文件删除、移动、复制等</a:t>
            </a:r>
            <a:endParaRPr lang="en-US" altLang="zh-CN"/>
          </a:p>
          <a:p>
            <a:r>
              <a:rPr lang="zh-CN" altLang="en-US"/>
              <a:t>底层文件系统实现：提供基础的文件系统操作</a:t>
            </a:r>
            <a:endParaRPr lang="en-US" altLang="zh-CN"/>
          </a:p>
          <a:p>
            <a:pPr lvl="1"/>
            <a:r>
              <a:rPr lang="en-US" altLang="zh-CN"/>
              <a:t>RAM FS</a:t>
            </a:r>
            <a:endParaRPr lang="en-US" altLang="zh-CN"/>
          </a:p>
          <a:p>
            <a:pPr lvl="1"/>
            <a:r>
              <a:rPr lang="en-US" altLang="zh-CN"/>
              <a:t>ext4</a:t>
            </a:r>
            <a:endParaRPr lang="en-US" altLang="zh-CN"/>
          </a:p>
          <a:p>
            <a:pPr lvl="1"/>
            <a:r>
              <a:rPr lang="en-US" altLang="zh-CN"/>
              <a:t>fat32</a:t>
            </a:r>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组件化的内存管理模块</a:t>
            </a:r>
            <a:endParaRPr lang="zh-CN" altLang="en-US"/>
          </a:p>
        </p:txBody>
      </p:sp>
      <p:sp>
        <p:nvSpPr>
          <p:cNvPr id="6" name="内容占位符 5"/>
          <p:cNvSpPr>
            <a:spLocks noGrp="1"/>
          </p:cNvSpPr>
          <p:nvPr>
            <p:ph idx="1"/>
          </p:nvPr>
        </p:nvSpPr>
        <p:spPr>
          <a:xfrm>
            <a:off x="838200" y="1825624"/>
            <a:ext cx="10515600" cy="4667251"/>
          </a:xfrm>
        </p:spPr>
        <p:txBody>
          <a:bodyPr>
            <a:normAutofit lnSpcReduction="20000"/>
          </a:bodyPr>
          <a:lstStyle/>
          <a:p>
            <a:r>
              <a:rPr lang="zh-CN" altLang="en-US"/>
              <a:t>虚拟内存管理</a:t>
            </a:r>
            <a:endParaRPr lang="zh-CN" altLang="en-US"/>
          </a:p>
          <a:p>
            <a:pPr lvl="1"/>
            <a:r>
              <a:rPr lang="zh-CN" altLang="en-US"/>
              <a:t>写时复制</a:t>
            </a:r>
            <a:endParaRPr lang="zh-CN" altLang="en-US"/>
          </a:p>
          <a:p>
            <a:pPr lvl="1"/>
            <a:r>
              <a:rPr lang="zh-CN" altLang="en-US"/>
              <a:t>懒分配</a:t>
            </a:r>
            <a:endParaRPr lang="en-US" altLang="zh-CN"/>
          </a:p>
          <a:p>
            <a:pPr lvl="1"/>
            <a:r>
              <a:rPr lang="zh-CN" altLang="en-US"/>
              <a:t>大</a:t>
            </a:r>
            <a:r>
              <a:rPr lang="zh-CN" altLang="en-US"/>
              <a:t>页支持</a:t>
            </a:r>
            <a:endParaRPr lang="zh-CN" altLang="en-US"/>
          </a:p>
          <a:p>
            <a:pPr lvl="1"/>
            <a:r>
              <a:rPr lang="zh-CN" altLang="en-US"/>
              <a:t>共享内存支持</a:t>
            </a:r>
            <a:endParaRPr lang="zh-CN" altLang="en-US"/>
          </a:p>
          <a:p>
            <a:pPr lvl="1"/>
            <a:r>
              <a:rPr lang="zh-CN" altLang="en-US"/>
              <a:t>零拷贝文件映射支持</a:t>
            </a:r>
            <a:endParaRPr lang="zh-CN" altLang="en-US"/>
          </a:p>
          <a:p>
            <a:r>
              <a:rPr lang="zh-CN" altLang="en-US"/>
              <a:t>物理内存分配</a:t>
            </a:r>
            <a:endParaRPr lang="zh-CN" altLang="en-US"/>
          </a:p>
          <a:p>
            <a:pPr lvl="1"/>
            <a:r>
              <a:rPr lang="zh-CN" altLang="en-US"/>
              <a:t>两级内存分配器（页级</a:t>
            </a:r>
            <a:r>
              <a:rPr lang="en-US" altLang="zh-CN"/>
              <a:t>+</a:t>
            </a:r>
            <a:r>
              <a:rPr lang="zh-CN" altLang="en-US"/>
              <a:t>字节</a:t>
            </a:r>
            <a:r>
              <a:rPr lang="zh-CN" altLang="en-US"/>
              <a:t>级）</a:t>
            </a:r>
            <a:endParaRPr lang="zh-CN" altLang="en-US"/>
          </a:p>
          <a:p>
            <a:pPr lvl="1"/>
            <a:r>
              <a:rPr lang="en-US" altLang="zh-CN"/>
              <a:t>process </a:t>
            </a:r>
            <a:r>
              <a:rPr lang="zh-CN" altLang="en-US"/>
              <a:t>和</a:t>
            </a:r>
            <a:r>
              <a:rPr lang="en-US" altLang="zh-CN"/>
              <a:t> processdata</a:t>
            </a:r>
            <a:r>
              <a:rPr lang="zh-CN" altLang="en-US"/>
              <a:t>分开</a:t>
            </a:r>
            <a:r>
              <a:rPr lang="zh-CN" altLang="en-US"/>
              <a:t>管理</a:t>
            </a:r>
            <a:endParaRPr lang="zh-CN" altLang="en-US"/>
          </a:p>
          <a:p>
            <a:r>
              <a:rPr lang="zh-CN" altLang="en-US"/>
              <a:t>多功能内存映射</a:t>
            </a:r>
            <a:endParaRPr lang="zh-CN" altLang="en-US"/>
          </a:p>
          <a:p>
            <a:pPr lvl="1"/>
            <a:r>
              <a:rPr lang="zh-CN" altLang="en-US"/>
              <a:t>混合页、智能地址分配、零拷贝文件映射、惰性匿名映射</a:t>
            </a:r>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组件化的内存管理模块</a:t>
            </a:r>
            <a:endParaRPr lang="zh-CN" altLang="en-US"/>
          </a:p>
        </p:txBody>
      </p:sp>
      <p:sp>
        <p:nvSpPr>
          <p:cNvPr id="6" name="内容占位符 5"/>
          <p:cNvSpPr>
            <a:spLocks noGrp="1"/>
          </p:cNvSpPr>
          <p:nvPr>
            <p:ph idx="1"/>
          </p:nvPr>
        </p:nvSpPr>
        <p:spPr>
          <a:xfrm>
            <a:off x="838200" y="1825624"/>
            <a:ext cx="10515600" cy="4667251"/>
          </a:xfrm>
        </p:spPr>
        <p:txBody>
          <a:bodyPr>
            <a:normAutofit lnSpcReduction="20000"/>
          </a:bodyPr>
          <a:lstStyle/>
          <a:p>
            <a:r>
              <a:rPr lang="zh-CN" altLang="en-US"/>
              <a:t>整个内存管理系统通过四层架构实现高效管理：</a:t>
            </a:r>
            <a:endParaRPr lang="zh-CN" altLang="en-US"/>
          </a:p>
          <a:p>
            <a:r>
              <a:rPr lang="en-US" altLang="zh-CN"/>
              <a:t>1.</a:t>
            </a:r>
            <a:r>
              <a:rPr lang="zh-CN" altLang="en-US"/>
              <a:t>物理层：伙伴分配器管理物理页帧</a:t>
            </a:r>
            <a:endParaRPr lang="zh-CN" altLang="en-US"/>
          </a:p>
          <a:p>
            <a:r>
              <a:rPr lang="en-US" altLang="zh-CN"/>
              <a:t>2.</a:t>
            </a:r>
            <a:r>
              <a:rPr lang="zh-CN" altLang="en-US"/>
              <a:t>虚拟层：</a:t>
            </a:r>
            <a:r>
              <a:rPr lang="en-US" altLang="zh-CN"/>
              <a:t>AddrSpace </a:t>
            </a:r>
            <a:r>
              <a:rPr lang="zh-CN" altLang="en-US"/>
              <a:t>管理进程页表映射</a:t>
            </a:r>
            <a:endParaRPr lang="zh-CN" altLang="en-US"/>
          </a:p>
          <a:p>
            <a:r>
              <a:rPr lang="en-US" altLang="zh-CN"/>
              <a:t>3.</a:t>
            </a:r>
            <a:r>
              <a:rPr lang="zh-CN" altLang="en-US"/>
              <a:t>接口层：</a:t>
            </a:r>
            <a:r>
              <a:rPr lang="en-US" altLang="zh-CN"/>
              <a:t>mmap/brk/shm </a:t>
            </a:r>
            <a:r>
              <a:rPr lang="zh-CN" altLang="en-US"/>
              <a:t>等系统调用</a:t>
            </a:r>
            <a:endParaRPr lang="zh-CN" altLang="en-US"/>
          </a:p>
          <a:p>
            <a:r>
              <a:rPr lang="en-US" altLang="zh-CN"/>
              <a:t>4.</a:t>
            </a:r>
            <a:r>
              <a:rPr lang="zh-CN" altLang="en-US"/>
              <a:t>安全层：硬件辅助</a:t>
            </a:r>
            <a:r>
              <a:rPr lang="en-US" altLang="zh-CN"/>
              <a:t>+</a:t>
            </a:r>
            <a:r>
              <a:rPr lang="zh-CN" altLang="en-US"/>
              <a:t>类型系统双重保护</a:t>
            </a:r>
            <a:endParaRPr lang="zh-CN" altLang="en-US"/>
          </a:p>
          <a:p>
            <a:endParaRPr lang="zh-CN" altLang="en-US"/>
          </a:p>
          <a:p>
            <a:r>
              <a:rPr lang="en-US" altLang="zh-CN"/>
              <a:t>Undefined OS </a:t>
            </a:r>
            <a:r>
              <a:rPr lang="zh-CN" altLang="en-US"/>
              <a:t>采用写时复制加速进程创建、惰性分配降低内存占用，致力于构建的高性能内存管理体系。</a:t>
            </a:r>
            <a:endParaRPr lang="en-US" altLang="zh-CN"/>
          </a:p>
          <a:p>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进程管理模块</a:t>
            </a:r>
            <a:endParaRPr lang="zh-CN" altLang="en-US"/>
          </a:p>
        </p:txBody>
      </p:sp>
      <p:sp>
        <p:nvSpPr>
          <p:cNvPr id="3" name="内容占位符 2"/>
          <p:cNvSpPr>
            <a:spLocks noGrp="1"/>
          </p:cNvSpPr>
          <p:nvPr>
            <p:ph idx="1"/>
          </p:nvPr>
        </p:nvSpPr>
        <p:spPr/>
        <p:txBody>
          <a:bodyPr/>
          <a:p>
            <a:r>
              <a:rPr lang="zh-CN" altLang="en-US"/>
              <a:t>我们实现了一个独立模块</a:t>
            </a:r>
            <a:r>
              <a:rPr lang="en-US" altLang="zh-CN"/>
              <a:t>process</a:t>
            </a:r>
            <a:r>
              <a:rPr lang="zh-CN" altLang="en-US"/>
              <a:t>，它是操作系统无关的，可以作为一个基础组件提供给其他操作系统使用，没有依赖</a:t>
            </a:r>
            <a:r>
              <a:rPr lang="en-US" altLang="zh-CN"/>
              <a:t>ArceOS </a:t>
            </a:r>
            <a:r>
              <a:rPr lang="zh-CN" altLang="en-US"/>
              <a:t>或者</a:t>
            </a:r>
            <a:r>
              <a:rPr lang="en-US" altLang="zh-CN"/>
              <a:t>undefined-os </a:t>
            </a:r>
            <a:r>
              <a:rPr lang="zh-CN" altLang="en-US"/>
              <a:t>中的组件</a:t>
            </a:r>
            <a:endParaRPr lang="zh-CN" altLang="en-US"/>
          </a:p>
          <a:p>
            <a:r>
              <a:rPr lang="zh-CN" altLang="en-US"/>
              <a:t>该模块采用分层架构，严格遵循</a:t>
            </a:r>
            <a:r>
              <a:rPr lang="en-US" altLang="zh-CN"/>
              <a:t>Linux </a:t>
            </a:r>
            <a:r>
              <a:rPr lang="zh-CN" altLang="en-US"/>
              <a:t>的进程组织结构：会话</a:t>
            </a:r>
            <a:r>
              <a:rPr lang="en-US" altLang="zh-CN"/>
              <a:t>(Session)</a:t>
            </a:r>
            <a:r>
              <a:rPr lang="zh-CN" altLang="en-US"/>
              <a:t>包含进程组</a:t>
            </a:r>
            <a:r>
              <a:rPr lang="en-US" altLang="zh-CN"/>
              <a:t>(Process Group)</a:t>
            </a:r>
            <a:r>
              <a:rPr lang="zh-CN" altLang="en-US"/>
              <a:t>，进程组包含进程</a:t>
            </a:r>
            <a:r>
              <a:rPr lang="en-US" altLang="zh-CN"/>
              <a:t>(Process)</a:t>
            </a:r>
            <a:r>
              <a:rPr lang="zh-CN" altLang="en-US"/>
              <a:t>，进程包含线程</a:t>
            </a:r>
            <a:r>
              <a:rPr lang="en-US" altLang="zh-CN"/>
              <a:t>(Thread)</a:t>
            </a:r>
            <a:r>
              <a:rPr lang="zh-CN" altLang="en-US"/>
              <a:t>。同时维护进程间的父子关系树，为操作系统提供完整的进程生命周期管理能力。</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进程管理模块</a:t>
            </a:r>
            <a:endParaRPr lang="zh-CN" altLang="en-US"/>
          </a:p>
        </p:txBody>
      </p:sp>
      <p:sp>
        <p:nvSpPr>
          <p:cNvPr id="3" name="内容占位符 2"/>
          <p:cNvSpPr>
            <a:spLocks noGrp="1"/>
          </p:cNvSpPr>
          <p:nvPr>
            <p:ph idx="1"/>
          </p:nvPr>
        </p:nvSpPr>
        <p:spPr/>
        <p:txBody>
          <a:bodyPr/>
          <a:p>
            <a:r>
              <a:rPr lang="zh-CN" altLang="en-US"/>
              <a:t>我们认为调度的基本单元是线程，我们据此设计了操作系统无关的线程和进程模型，旨在提供一个通用的包，来提供进程和线程管理操作，基本覆盖了</a:t>
            </a:r>
            <a:r>
              <a:rPr lang="en-US" altLang="zh-CN"/>
              <a:t>POSIX </a:t>
            </a:r>
            <a:r>
              <a:rPr lang="zh-CN" altLang="en-US"/>
              <a:t>的所有进程</a:t>
            </a:r>
            <a:r>
              <a:rPr lang="en-US" altLang="zh-CN"/>
              <a:t>/</a:t>
            </a:r>
            <a:r>
              <a:rPr lang="zh-CN" altLang="en-US"/>
              <a:t>线程操作，如：</a:t>
            </a:r>
            <a:endParaRPr lang="zh-CN" altLang="en-US"/>
          </a:p>
          <a:p>
            <a:r>
              <a:rPr lang="zh-CN" altLang="en-US"/>
              <a:t>会话</a:t>
            </a:r>
            <a:r>
              <a:rPr lang="en-US" altLang="zh-CN"/>
              <a:t>/</a:t>
            </a:r>
            <a:r>
              <a:rPr lang="zh-CN" altLang="en-US"/>
              <a:t>进程组</a:t>
            </a:r>
            <a:r>
              <a:rPr lang="en-US" altLang="zh-CN"/>
              <a:t>/</a:t>
            </a:r>
            <a:r>
              <a:rPr lang="zh-CN" altLang="en-US"/>
              <a:t>进程</a:t>
            </a:r>
            <a:r>
              <a:rPr lang="en-US" altLang="zh-CN"/>
              <a:t>/</a:t>
            </a:r>
            <a:r>
              <a:rPr lang="zh-CN" altLang="en-US"/>
              <a:t>线程创建</a:t>
            </a:r>
            <a:endParaRPr lang="zh-CN" altLang="en-US"/>
          </a:p>
          <a:p>
            <a:r>
              <a:rPr lang="zh-CN" altLang="en-US"/>
              <a:t>线程</a:t>
            </a:r>
            <a:r>
              <a:rPr lang="en-US" altLang="zh-CN"/>
              <a:t>/</a:t>
            </a:r>
            <a:r>
              <a:rPr lang="zh-CN" altLang="en-US"/>
              <a:t>进程退出</a:t>
            </a:r>
            <a:r>
              <a:rPr lang="en-US" altLang="zh-CN"/>
              <a:t>(</a:t>
            </a:r>
            <a:r>
              <a:rPr lang="zh-CN" altLang="en-US"/>
              <a:t>包括</a:t>
            </a:r>
            <a:r>
              <a:rPr lang="en-US" altLang="zh-CN"/>
              <a:t>exit_group)</a:t>
            </a:r>
            <a:r>
              <a:rPr lang="zh-CN" altLang="en-US"/>
              <a:t>和收养</a:t>
            </a:r>
            <a:endParaRPr lang="zh-CN" altLang="en-US"/>
          </a:p>
          <a:p>
            <a:r>
              <a:rPr lang="zh-CN" altLang="en-US"/>
              <a:t>更改进程所在的进程组</a:t>
            </a:r>
            <a:endParaRPr lang="zh-CN" altLang="en-US"/>
          </a:p>
          <a:p>
            <a:r>
              <a:rPr lang="en-US" altLang="zh-CN"/>
              <a:t>pid/tid </a:t>
            </a:r>
            <a:r>
              <a:rPr lang="zh-CN" altLang="en-US"/>
              <a:t>查询和管理</a:t>
            </a:r>
            <a:endParaRPr lang="zh-CN" altLang="en-US"/>
          </a:p>
          <a:p>
            <a:pPr marL="0" indent="0">
              <a:buNone/>
            </a:pPr>
            <a:r>
              <a:rPr lang="en-US" altLang="zh-CN"/>
              <a:t>• </a:t>
            </a:r>
            <a:r>
              <a:rPr lang="zh-CN" altLang="en-US"/>
              <a:t>进程</a:t>
            </a:r>
            <a:r>
              <a:rPr lang="en-US" altLang="zh-CN"/>
              <a:t>fork </a:t>
            </a:r>
            <a:r>
              <a:rPr lang="zh-CN" altLang="en-US"/>
              <a:t>和创建新线程</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进程管理模块</a:t>
            </a:r>
            <a:endParaRPr lang="zh-CN" altLang="en-US"/>
          </a:p>
        </p:txBody>
      </p:sp>
      <p:sp>
        <p:nvSpPr>
          <p:cNvPr id="3" name="内容占位符 2"/>
          <p:cNvSpPr>
            <a:spLocks noGrp="1"/>
          </p:cNvSpPr>
          <p:nvPr>
            <p:ph idx="1"/>
          </p:nvPr>
        </p:nvSpPr>
        <p:spPr/>
        <p:txBody>
          <a:bodyPr/>
          <a:p>
            <a:r>
              <a:rPr lang="en-US" altLang="zh-CN"/>
              <a:t>undefined-os </a:t>
            </a:r>
            <a:r>
              <a:rPr lang="zh-CN" altLang="en-US"/>
              <a:t>完整实现了符合</a:t>
            </a:r>
            <a:r>
              <a:rPr lang="en-US" altLang="zh-CN"/>
              <a:t>POSIX </a:t>
            </a:r>
            <a:r>
              <a:rPr lang="zh-CN" altLang="en-US"/>
              <a:t>标准的高级进程管理体系，主要特性为：</a:t>
            </a:r>
            <a:endParaRPr lang="zh-CN" altLang="en-US"/>
          </a:p>
          <a:p>
            <a:pPr marL="0" indent="0">
              <a:buNone/>
            </a:pPr>
            <a:r>
              <a:rPr lang="en-US" altLang="zh-CN"/>
              <a:t>1.</a:t>
            </a:r>
            <a:r>
              <a:rPr lang="zh-CN" altLang="en-US"/>
              <a:t>完整的</a:t>
            </a:r>
            <a:r>
              <a:rPr lang="en-US" altLang="zh-CN"/>
              <a:t>POSIX </a:t>
            </a:r>
            <a:r>
              <a:rPr lang="zh-CN" altLang="en-US"/>
              <a:t>进程</a:t>
            </a:r>
            <a:r>
              <a:rPr lang="en-US" altLang="zh-CN"/>
              <a:t>/</a:t>
            </a:r>
            <a:r>
              <a:rPr lang="zh-CN" altLang="en-US"/>
              <a:t>线程生命周期管理</a:t>
            </a:r>
            <a:endParaRPr lang="zh-CN" altLang="en-US"/>
          </a:p>
          <a:p>
            <a:pPr marL="0" indent="0">
              <a:buNone/>
            </a:pPr>
            <a:r>
              <a:rPr lang="en-US" altLang="zh-CN"/>
              <a:t>2.</a:t>
            </a:r>
            <a:r>
              <a:rPr lang="zh-CN" altLang="en-US"/>
              <a:t>严格的会话</a:t>
            </a:r>
            <a:r>
              <a:rPr lang="en-US" altLang="zh-CN"/>
              <a:t>-</a:t>
            </a:r>
            <a:r>
              <a:rPr lang="zh-CN" altLang="en-US"/>
              <a:t>进程组</a:t>
            </a:r>
            <a:r>
              <a:rPr lang="en-US" altLang="zh-CN"/>
              <a:t>-</a:t>
            </a:r>
            <a:r>
              <a:rPr lang="zh-CN" altLang="en-US"/>
              <a:t>进程层级结构</a:t>
            </a:r>
            <a:endParaRPr lang="zh-CN" altLang="en-US"/>
          </a:p>
          <a:p>
            <a:pPr marL="0" indent="0">
              <a:buNone/>
            </a:pPr>
            <a:r>
              <a:rPr lang="en-US" altLang="zh-CN"/>
              <a:t>3.</a:t>
            </a:r>
            <a:r>
              <a:rPr lang="zh-CN" altLang="en-US"/>
              <a:t>安全的父子进程关系维护</a:t>
            </a:r>
            <a:endParaRPr lang="zh-CN" altLang="en-US"/>
          </a:p>
          <a:p>
            <a:pPr marL="0" indent="0">
              <a:buNone/>
            </a:pPr>
            <a:r>
              <a:rPr lang="en-US" altLang="zh-CN"/>
              <a:t>4.</a:t>
            </a:r>
            <a:r>
              <a:rPr lang="zh-CN" altLang="en-US"/>
              <a:t>僵尸进程和孤儿进程处理</a:t>
            </a:r>
            <a:endParaRPr lang="zh-CN" altLang="en-US"/>
          </a:p>
          <a:p>
            <a:pPr marL="0" indent="0">
              <a:buNone/>
            </a:pPr>
            <a:r>
              <a:rPr lang="en-US" altLang="zh-CN"/>
              <a:t>5.</a:t>
            </a:r>
            <a:r>
              <a:rPr lang="zh-CN" altLang="en-US"/>
              <a:t>资源限制与隔离机制</a:t>
            </a:r>
            <a:endParaRPr lang="zh-CN" altLang="en-US"/>
          </a:p>
          <a:p>
            <a:pPr marL="0" indent="0">
              <a:buNone/>
            </a:pPr>
            <a:r>
              <a:rPr lang="en-US" altLang="zh-CN"/>
              <a:t>6.</a:t>
            </a:r>
            <a:r>
              <a:rPr lang="zh-CN" altLang="en-US"/>
              <a:t>操作系统无关的通用接口</a:t>
            </a:r>
            <a:endParaRPr lang="en-US" altLang="zh-CN"/>
          </a:p>
          <a:p>
            <a:pPr marL="0" indent="0">
              <a:buNone/>
            </a:pPr>
            <a:endParaRPr lang="en-US" altLang="zh-CN"/>
          </a:p>
          <a:p>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信号</a:t>
            </a:r>
            <a:r>
              <a:rPr lang="zh-CN" altLang="en-US">
                <a:sym typeface="+mn-ea"/>
              </a:rPr>
              <a:t>处理模块</a:t>
            </a:r>
            <a:endParaRPr lang="zh-CN" altLang="en-US"/>
          </a:p>
        </p:txBody>
      </p:sp>
      <p:sp>
        <p:nvSpPr>
          <p:cNvPr id="3" name="内容占位符 2"/>
          <p:cNvSpPr>
            <a:spLocks noGrp="1"/>
          </p:cNvSpPr>
          <p:nvPr>
            <p:ph idx="1"/>
          </p:nvPr>
        </p:nvSpPr>
        <p:spPr/>
        <p:txBody>
          <a:bodyPr>
            <a:noAutofit/>
          </a:bodyPr>
          <a:p>
            <a:r>
              <a:rPr lang="zh-CN" altLang="en-US" sz="2400"/>
              <a:t>信号是</a:t>
            </a:r>
            <a:r>
              <a:rPr lang="en-US" altLang="zh-CN" sz="2400"/>
              <a:t>Linux</a:t>
            </a:r>
            <a:r>
              <a:rPr lang="zh-CN" altLang="en-US" sz="2400"/>
              <a:t>的一种经典的进程间通信机制，允许内核或其他进程向目标进程</a:t>
            </a:r>
            <a:r>
              <a:rPr lang="en-US" altLang="zh-CN" sz="2400"/>
              <a:t>/</a:t>
            </a:r>
            <a:r>
              <a:rPr lang="zh-CN" altLang="en-US" sz="2400"/>
              <a:t>线程发送信号，信号有默认的处理方式，也可以通过用户自定义的信号处理函数来处理。</a:t>
            </a:r>
            <a:endParaRPr lang="zh-CN" altLang="en-US" sz="2400"/>
          </a:p>
          <a:p>
            <a:r>
              <a:rPr lang="en-US" altLang="zh-CN" sz="2400"/>
              <a:t>Undefined OS</a:t>
            </a:r>
            <a:r>
              <a:rPr lang="zh-CN" altLang="en-US" sz="2400"/>
              <a:t>的信号处理模块设计旨在提供高效、灵活且兼容</a:t>
            </a:r>
            <a:r>
              <a:rPr lang="en-US" altLang="zh-CN" sz="2400"/>
              <a:t>POSIX</a:t>
            </a:r>
            <a:r>
              <a:rPr lang="zh-CN" altLang="en-US" sz="2400"/>
              <a:t>标准的信号处理机制。</a:t>
            </a:r>
            <a:endParaRPr lang="en-US" altLang="zh-CN" sz="2400"/>
          </a:p>
          <a:p>
            <a:r>
              <a:rPr lang="zh-CN" altLang="en-US" sz="2400"/>
              <a:t>信号处理时机：</a:t>
            </a:r>
            <a:r>
              <a:rPr lang="en-US" altLang="zh-CN" sz="2400"/>
              <a:t>Undefined OS </a:t>
            </a:r>
            <a:r>
              <a:rPr lang="zh-CN" altLang="en-US" sz="2400"/>
              <a:t>在每次系统调用完成准备返回用户态时，都会检查当前进程的信号状态。如果有待处理的信号，内核会在返回前进行处理。具体来说，内核会检查进程的信号屏蔽字，确定哪些信号是未被阻塞的，然后根据信号的处理方式（默认、忽略或自定义处理）执行相应的操作。如果用户定义了信号处理函数，内核会保存当前进程的执行上下文，并切换到用户定义的处理函数执行。处理完成后，内核会恢复上下文并继续执行原来的代码。在从用户的信号处理程序返回时，用户程序会执行映射到用户空间的一段内核</a:t>
            </a:r>
            <a:r>
              <a:rPr lang="en-US" altLang="zh-CN" sz="2400"/>
              <a:t>“</a:t>
            </a:r>
            <a:r>
              <a:rPr lang="zh-CN" altLang="en-US" sz="2400"/>
              <a:t>跳板代码</a:t>
            </a:r>
            <a:r>
              <a:rPr lang="en-US" altLang="zh-CN" sz="2400"/>
              <a:t>”</a:t>
            </a:r>
            <a:r>
              <a:rPr lang="zh-CN" altLang="en-US" sz="2400"/>
              <a:t>，以从用户态返回到内核态。</a:t>
            </a:r>
            <a:endParaRPr lang="en-US" altLang="zh-CN" sz="2400"/>
          </a:p>
          <a:p>
            <a:endParaRPr lang="en-US" altLang="zh-CN"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信号处理模块</a:t>
            </a:r>
            <a:endParaRPr lang="zh-CN" altLang="en-US"/>
          </a:p>
        </p:txBody>
      </p:sp>
      <p:sp>
        <p:nvSpPr>
          <p:cNvPr id="3" name="内容占位符 2"/>
          <p:cNvSpPr>
            <a:spLocks noGrp="1"/>
          </p:cNvSpPr>
          <p:nvPr>
            <p:ph idx="1"/>
          </p:nvPr>
        </p:nvSpPr>
        <p:spPr/>
        <p:txBody>
          <a:bodyPr/>
          <a:p>
            <a:r>
              <a:rPr lang="zh-CN" altLang="en-US">
                <a:sym typeface="+mn-ea"/>
              </a:rPr>
              <a:t>信号处理与退出状态：进程退出后将成为僵尸进程，僵尸进程的回收是通过</a:t>
            </a:r>
            <a:r>
              <a:rPr lang="en-US" altLang="zh-CN">
                <a:sym typeface="+mn-ea"/>
              </a:rPr>
              <a:t>wait4 </a:t>
            </a:r>
            <a:r>
              <a:rPr lang="zh-CN" altLang="en-US">
                <a:sym typeface="+mn-ea"/>
              </a:rPr>
              <a:t>等系统调用实现的。</a:t>
            </a:r>
            <a:endParaRPr lang="zh-CN" altLang="en-US">
              <a:sym typeface="+mn-ea"/>
            </a:endParaRPr>
          </a:p>
          <a:p>
            <a:r>
              <a:rPr lang="zh-CN" altLang="en-US">
                <a:sym typeface="+mn-ea"/>
              </a:rPr>
              <a:t>父进程通过调用</a:t>
            </a:r>
            <a:r>
              <a:rPr lang="en-US" altLang="zh-CN">
                <a:sym typeface="+mn-ea"/>
              </a:rPr>
              <a:t>wait4</a:t>
            </a:r>
            <a:r>
              <a:rPr lang="zh-CN" altLang="en-US">
                <a:sym typeface="+mn-ea"/>
              </a:rPr>
              <a:t>等系统调用来获取子进程的退出状态和信号信息。</a:t>
            </a:r>
            <a:endParaRPr lang="zh-CN" altLang="en-US">
              <a:sym typeface="+mn-ea"/>
            </a:endParaRPr>
          </a:p>
          <a:p>
            <a:r>
              <a:rPr lang="en-US" altLang="zh-CN">
                <a:sym typeface="+mn-ea"/>
              </a:rPr>
              <a:t>Undefined OS </a:t>
            </a:r>
            <a:r>
              <a:rPr lang="zh-CN" altLang="en-US">
                <a:sym typeface="+mn-ea"/>
              </a:rPr>
              <a:t>在处理信号时，如果信号的行为中包含退出进程的操作（如</a:t>
            </a:r>
            <a:r>
              <a:rPr lang="en-US" altLang="zh-CN">
                <a:sym typeface="+mn-ea"/>
              </a:rPr>
              <a:t>SIGKILL</a:t>
            </a:r>
            <a:r>
              <a:rPr lang="zh-CN" altLang="en-US">
                <a:sym typeface="+mn-ea"/>
              </a:rPr>
              <a:t>或</a:t>
            </a:r>
            <a:r>
              <a:rPr lang="en-US" altLang="zh-CN">
                <a:sym typeface="+mn-ea"/>
              </a:rPr>
              <a:t>SIGTERM</a:t>
            </a:r>
            <a:r>
              <a:rPr lang="zh-CN" altLang="en-US">
                <a:sym typeface="+mn-ea"/>
              </a:rPr>
              <a:t>等），内核会在处理完信号后将进程标记为已终止状态，并将信号设置在该进程的退出状态中。这样，父进程在调用</a:t>
            </a:r>
            <a:r>
              <a:rPr lang="en-US" altLang="zh-CN">
                <a:sym typeface="+mn-ea"/>
              </a:rPr>
              <a:t>wait4</a:t>
            </a:r>
            <a:r>
              <a:rPr lang="zh-CN" altLang="en-US">
                <a:sym typeface="+mn-ea"/>
              </a:rPr>
              <a:t>时可以获取到子进程的退出状态和信号信息。</a:t>
            </a:r>
            <a:endParaRPr lang="en-US" altLang="zh-CN"/>
          </a:p>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网络</a:t>
            </a:r>
            <a:r>
              <a:rPr lang="zh-CN" altLang="en-US"/>
              <a:t>模块</a:t>
            </a:r>
            <a:endParaRPr lang="zh-CN" altLang="en-US"/>
          </a:p>
        </p:txBody>
      </p:sp>
      <p:sp>
        <p:nvSpPr>
          <p:cNvPr id="3" name="内容占位符 2"/>
          <p:cNvSpPr>
            <a:spLocks noGrp="1"/>
          </p:cNvSpPr>
          <p:nvPr>
            <p:ph idx="1"/>
          </p:nvPr>
        </p:nvSpPr>
        <p:spPr/>
        <p:txBody>
          <a:bodyPr>
            <a:normAutofit/>
          </a:bodyPr>
          <a:p>
            <a:pPr marL="0" indent="0">
              <a:buNone/>
            </a:pPr>
            <a:r>
              <a:rPr lang="zh-CN" altLang="en-US"/>
              <a:t>我们实现了</a:t>
            </a:r>
            <a:r>
              <a:rPr lang="zh-CN" altLang="en-US"/>
              <a:t>基本的网络</a:t>
            </a:r>
            <a:r>
              <a:rPr lang="zh-CN" altLang="en-US"/>
              <a:t>功能</a:t>
            </a:r>
            <a:endParaRPr lang="zh-CN" altLang="en-US"/>
          </a:p>
          <a:p>
            <a:r>
              <a:rPr lang="zh-CN" altLang="en-US"/>
              <a:t>支持基本的本地回环网络功能</a:t>
            </a:r>
            <a:endParaRPr lang="zh-CN" altLang="en-US"/>
          </a:p>
          <a:p>
            <a:r>
              <a:rPr lang="zh-CN" altLang="en-US"/>
              <a:t>包括</a:t>
            </a:r>
            <a:r>
              <a:rPr lang="en-US" altLang="zh-CN"/>
              <a:t>TCP/UDP</a:t>
            </a:r>
            <a:r>
              <a:rPr lang="zh-CN" altLang="en-US"/>
              <a:t>通信支持</a:t>
            </a:r>
            <a:endParaRPr lang="zh-CN" altLang="en-US"/>
          </a:p>
          <a:p>
            <a:r>
              <a:rPr lang="zh-CN" altLang="en-US"/>
              <a:t>提供了真实网络设备驱动接口</a:t>
            </a:r>
            <a:endParaRPr lang="zh-CN" altLang="en-US"/>
          </a:p>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网络模块</a:t>
            </a:r>
            <a:endParaRPr lang="zh-CN" altLang="en-US"/>
          </a:p>
        </p:txBody>
      </p:sp>
      <p:sp>
        <p:nvSpPr>
          <p:cNvPr id="3" name="内容占位符 2"/>
          <p:cNvSpPr>
            <a:spLocks noGrp="1"/>
          </p:cNvSpPr>
          <p:nvPr>
            <p:ph idx="1"/>
          </p:nvPr>
        </p:nvSpPr>
        <p:spPr/>
        <p:txBody>
          <a:bodyPr>
            <a:normAutofit fontScale="80000"/>
          </a:bodyPr>
          <a:p>
            <a:r>
              <a:rPr lang="en-US" altLang="zh-CN">
                <a:sym typeface="+mn-ea"/>
              </a:rPr>
              <a:t>Undefined OS </a:t>
            </a:r>
            <a:r>
              <a:rPr lang="zh-CN" altLang="en-US">
                <a:sym typeface="+mn-ea"/>
              </a:rPr>
              <a:t>的网络模块是基于</a:t>
            </a:r>
            <a:r>
              <a:rPr lang="en-US" altLang="zh-CN">
                <a:sym typeface="+mn-ea"/>
              </a:rPr>
              <a:t>smoltcp</a:t>
            </a:r>
            <a:r>
              <a:rPr lang="zh-CN" altLang="en-US">
                <a:sym typeface="+mn-ea"/>
              </a:rPr>
              <a:t>库实现的，支持</a:t>
            </a:r>
            <a:r>
              <a:rPr lang="en-US" altLang="zh-CN">
                <a:sym typeface="+mn-ea"/>
              </a:rPr>
              <a:t>socket</a:t>
            </a:r>
            <a:r>
              <a:rPr lang="zh-CN" altLang="en-US">
                <a:sym typeface="+mn-ea"/>
              </a:rPr>
              <a:t>的基础功能，包括套接字创建、绑定、监听、连接、发送和接收数据等，支持本地</a:t>
            </a:r>
            <a:r>
              <a:rPr lang="en-US" altLang="zh-CN">
                <a:sym typeface="+mn-ea"/>
              </a:rPr>
              <a:t>(local/unix)</a:t>
            </a:r>
            <a:r>
              <a:rPr lang="zh-CN" altLang="en-US">
                <a:sym typeface="+mn-ea"/>
              </a:rPr>
              <a:t>套接字和网络套接字。网络模块提供了对</a:t>
            </a:r>
            <a:r>
              <a:rPr lang="en-US" altLang="zh-CN">
                <a:sym typeface="+mn-ea"/>
              </a:rPr>
              <a:t>IPv4</a:t>
            </a:r>
            <a:r>
              <a:rPr lang="zh-CN" altLang="en-US">
                <a:sym typeface="+mn-ea"/>
              </a:rPr>
              <a:t>和</a:t>
            </a:r>
            <a:r>
              <a:rPr lang="en-US" altLang="zh-CN">
                <a:sym typeface="+mn-ea"/>
              </a:rPr>
              <a:t>IPv6</a:t>
            </a:r>
            <a:r>
              <a:rPr lang="zh-CN" altLang="en-US">
                <a:sym typeface="+mn-ea"/>
              </a:rPr>
              <a:t>的支持，并实现了</a:t>
            </a:r>
            <a:r>
              <a:rPr lang="en-US" altLang="zh-CN">
                <a:sym typeface="+mn-ea"/>
              </a:rPr>
              <a:t>TCP</a:t>
            </a:r>
            <a:r>
              <a:rPr lang="zh-CN" altLang="en-US">
                <a:sym typeface="+mn-ea"/>
              </a:rPr>
              <a:t>和</a:t>
            </a:r>
            <a:r>
              <a:rPr lang="en-US" altLang="zh-CN">
                <a:sym typeface="+mn-ea"/>
              </a:rPr>
              <a:t>UDP</a:t>
            </a:r>
            <a:r>
              <a:rPr lang="zh-CN" altLang="en-US">
                <a:sym typeface="+mn-ea"/>
              </a:rPr>
              <a:t>协议栈。网络模块的设计目标是提供高效、灵活且易于扩展的网络通信能力。</a:t>
            </a:r>
            <a:endParaRPr lang="zh-CN" altLang="en-US"/>
          </a:p>
          <a:p>
            <a:endParaRPr lang="en-US" altLang="zh-CN"/>
          </a:p>
          <a:p>
            <a:r>
              <a:rPr lang="zh-CN" altLang="en-US">
                <a:sym typeface="+mn-ea"/>
              </a:rPr>
              <a:t>网络模块的功能主要通过套接字提供，根据</a:t>
            </a:r>
            <a:r>
              <a:rPr lang="en-US" altLang="zh-CN">
                <a:sym typeface="+mn-ea"/>
              </a:rPr>
              <a:t>Unix</a:t>
            </a:r>
            <a:r>
              <a:rPr lang="zh-CN" altLang="en-US">
                <a:sym typeface="+mn-ea"/>
              </a:rPr>
              <a:t>的一切都是文件的设计理念，网络模块将套接字抽象为文件描述符，提供统一的文件操作接口。内部实现对</a:t>
            </a:r>
            <a:r>
              <a:rPr lang="en-US" altLang="zh-CN">
                <a:sym typeface="+mn-ea"/>
              </a:rPr>
              <a:t>smoltcp</a:t>
            </a:r>
            <a:r>
              <a:rPr lang="zh-CN" altLang="en-US">
                <a:sym typeface="+mn-ea"/>
              </a:rPr>
              <a:t>库的封装，提供了对网络设备的抽象和管理。网络模块支持多种地址族，包括</a:t>
            </a:r>
            <a:r>
              <a:rPr lang="en-US" altLang="zh-CN">
                <a:sym typeface="+mn-ea"/>
              </a:rPr>
              <a:t>AF_INET</a:t>
            </a:r>
            <a:r>
              <a:rPr lang="zh-CN" altLang="en-US">
                <a:sym typeface="+mn-ea"/>
              </a:rPr>
              <a:t>、</a:t>
            </a:r>
            <a:r>
              <a:rPr lang="en-US" altLang="zh-CN">
                <a:sym typeface="+mn-ea"/>
              </a:rPr>
              <a:t>AF_INET6</a:t>
            </a:r>
            <a:r>
              <a:rPr lang="zh-CN" altLang="en-US">
                <a:sym typeface="+mn-ea"/>
              </a:rPr>
              <a:t>等，能够处理</a:t>
            </a:r>
            <a:r>
              <a:rPr lang="en-US" altLang="zh-CN">
                <a:sym typeface="+mn-ea"/>
              </a:rPr>
              <a:t>IPv4</a:t>
            </a:r>
            <a:r>
              <a:rPr lang="zh-CN" altLang="en-US">
                <a:sym typeface="+mn-ea"/>
              </a:rPr>
              <a:t>和</a:t>
            </a:r>
            <a:r>
              <a:rPr lang="en-US" altLang="zh-CN">
                <a:sym typeface="+mn-ea"/>
              </a:rPr>
              <a:t>IPv6</a:t>
            </a:r>
            <a:r>
              <a:rPr lang="zh-CN" altLang="en-US">
                <a:sym typeface="+mn-ea"/>
              </a:rPr>
              <a:t>双协议栈，实现了</a:t>
            </a:r>
            <a:r>
              <a:rPr lang="en-US" altLang="zh-CN">
                <a:sym typeface="+mn-ea"/>
              </a:rPr>
              <a:t>TCP</a:t>
            </a:r>
            <a:r>
              <a:rPr lang="zh-CN" altLang="en-US">
                <a:sym typeface="+mn-ea"/>
              </a:rPr>
              <a:t>和</a:t>
            </a:r>
            <a:r>
              <a:rPr lang="en-US" altLang="zh-CN">
                <a:sym typeface="+mn-ea"/>
              </a:rPr>
              <a:t>UDP</a:t>
            </a:r>
            <a:r>
              <a:rPr lang="zh-CN" altLang="en-US">
                <a:sym typeface="+mn-ea"/>
              </a:rPr>
              <a:t>传输协议。</a:t>
            </a:r>
            <a:endParaRPr lang="zh-CN" altLang="en-US"/>
          </a:p>
          <a:p>
            <a:endParaRPr lang="en-US" altLang="zh-CN"/>
          </a:p>
          <a:p>
            <a:r>
              <a:rPr lang="zh-CN" altLang="en-US">
                <a:sym typeface="+mn-ea"/>
              </a:rPr>
              <a:t>目前的实现仍然不够完善，尚未在真实物理网卡上进行测试，目前仅支持本地回环通信。</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总结与</a:t>
            </a:r>
            <a:r>
              <a:rPr lang="zh-CN" altLang="en-US"/>
              <a:t>展望</a:t>
            </a:r>
            <a:endParaRPr lang="zh-CN" altLang="en-US"/>
          </a:p>
        </p:txBody>
      </p:sp>
      <p:sp>
        <p:nvSpPr>
          <p:cNvPr id="3" name="内容占位符 2"/>
          <p:cNvSpPr>
            <a:spLocks noGrp="1"/>
          </p:cNvSpPr>
          <p:nvPr>
            <p:ph idx="1"/>
          </p:nvPr>
        </p:nvSpPr>
        <p:spPr>
          <a:xfrm>
            <a:off x="838200" y="1825625"/>
            <a:ext cx="3683000" cy="4351655"/>
          </a:xfrm>
        </p:spPr>
        <p:txBody>
          <a:bodyPr>
            <a:normAutofit lnSpcReduction="10000"/>
          </a:bodyPr>
          <a:p>
            <a:r>
              <a:rPr lang="zh-CN" altLang="en-US"/>
              <a:t>我们目前已经实现了较多功能，虽然还有进一步提升的空间，但总体已经是一个相对比较完善的操作系统</a:t>
            </a:r>
            <a:r>
              <a:rPr lang="zh-CN" altLang="en-US"/>
              <a:t>内核。</a:t>
            </a:r>
            <a:endParaRPr lang="zh-CN" altLang="en-US"/>
          </a:p>
          <a:p>
            <a:r>
              <a:rPr lang="zh-CN" altLang="en-US"/>
              <a:t>接下来，我们希望能够进一步的优化</a:t>
            </a:r>
            <a:r>
              <a:rPr lang="en-US" altLang="zh-CN"/>
              <a:t>undefined-os </a:t>
            </a:r>
            <a:r>
              <a:rPr lang="zh-CN" altLang="en-US"/>
              <a:t>的性能，以发展成一个成熟、可投入实际应用的</a:t>
            </a:r>
            <a:r>
              <a:rPr lang="zh-CN" altLang="en-US"/>
              <a:t>操作系统。</a:t>
            </a:r>
            <a:endParaRPr lang="zh-CN" altLang="en-US"/>
          </a:p>
        </p:txBody>
      </p:sp>
      <p:pic>
        <p:nvPicPr>
          <p:cNvPr id="4" name="内容占位符 3"/>
          <p:cNvPicPr>
            <a:picLocks noChangeAspect="1"/>
          </p:cNvPicPr>
          <p:nvPr/>
        </p:nvPicPr>
        <p:blipFill>
          <a:blip r:embed="rId1"/>
          <a:stretch>
            <a:fillRect/>
          </a:stretch>
        </p:blipFill>
        <p:spPr>
          <a:xfrm>
            <a:off x="4659630" y="688340"/>
            <a:ext cx="7235825" cy="58553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总结与展望</a:t>
            </a:r>
            <a:endParaRPr lang="zh-CN" altLang="en-US"/>
          </a:p>
        </p:txBody>
      </p:sp>
      <p:sp>
        <p:nvSpPr>
          <p:cNvPr id="3" name="内容占位符 2"/>
          <p:cNvSpPr>
            <a:spLocks noGrp="1"/>
          </p:cNvSpPr>
          <p:nvPr>
            <p:ph idx="1"/>
          </p:nvPr>
        </p:nvSpPr>
        <p:spPr/>
        <p:txBody>
          <a:bodyPr>
            <a:normAutofit fontScale="90000"/>
          </a:bodyPr>
          <a:p>
            <a:r>
              <a:rPr lang="zh-CN" altLang="en-US"/>
              <a:t>初赛阶段，</a:t>
            </a:r>
            <a:r>
              <a:rPr lang="en-US" altLang="zh-CN"/>
              <a:t>Undefined OS </a:t>
            </a:r>
            <a:r>
              <a:rPr lang="zh-CN" altLang="en-US"/>
              <a:t>实现了一个功能相对完善的宏内核操作系统，支持了主流的系统架构（</a:t>
            </a:r>
            <a:r>
              <a:rPr lang="en-US" altLang="zh-CN"/>
              <a:t>RISC-V64, AArch64, x86_64, LoongArch64</a:t>
            </a:r>
            <a:r>
              <a:rPr lang="zh-CN" altLang="en-US"/>
              <a:t>），并在此基础上构建了多个核心模块，解耦合的设计提供了良好的可移植性。我们提供了</a:t>
            </a:r>
            <a:r>
              <a:rPr lang="en-US" altLang="zh-CN"/>
              <a:t> 200 </a:t>
            </a:r>
            <a:r>
              <a:rPr lang="zh-CN" altLang="en-US"/>
              <a:t>余个系统调用，覆盖大部分基础应用的需求，并通过</a:t>
            </a:r>
            <a:r>
              <a:rPr lang="en-US" altLang="zh-CN"/>
              <a:t> LTP </a:t>
            </a:r>
            <a:r>
              <a:rPr lang="zh-CN" altLang="en-US"/>
              <a:t>测试套件验证了系统调用的兼容性和稳定性。</a:t>
            </a:r>
            <a:endParaRPr lang="zh-CN" altLang="en-US"/>
          </a:p>
          <a:p>
            <a:r>
              <a:rPr lang="zh-CN" altLang="en-US"/>
              <a:t>为了验证我们的内核的实用性，我们使用来自</a:t>
            </a:r>
            <a:r>
              <a:rPr lang="en-US" altLang="zh-CN"/>
              <a:t> Ubuntu 24.04.2 LTS </a:t>
            </a:r>
            <a:r>
              <a:rPr lang="zh-CN" altLang="en-US"/>
              <a:t>的部分二进制，组建了一个根文件系统，可以支持运行一些常用的命令行工具和应用程序，如</a:t>
            </a:r>
            <a:r>
              <a:rPr lang="en-US" altLang="zh-CN"/>
              <a:t>gcc , grep , git , micropython , sqlte3 </a:t>
            </a:r>
            <a:r>
              <a:rPr lang="zh-CN" altLang="en-US"/>
              <a:t>等，此外，</a:t>
            </a:r>
            <a:r>
              <a:rPr lang="en-US" altLang="zh-CN"/>
              <a:t>Tiny C Compiler </a:t>
            </a:r>
            <a:r>
              <a:rPr lang="zh-CN" altLang="en-US"/>
              <a:t>可以在我们的操作系统上自举编译出一个</a:t>
            </a:r>
            <a:r>
              <a:rPr lang="en-US" altLang="zh-CN"/>
              <a:t> C </a:t>
            </a:r>
            <a:r>
              <a:rPr lang="zh-CN" altLang="en-US"/>
              <a:t>语言编译器，</a:t>
            </a:r>
            <a:r>
              <a:rPr lang="en-US" altLang="zh-CN"/>
              <a:t> sqlte3 </a:t>
            </a:r>
            <a:r>
              <a:rPr lang="zh-CN" altLang="en-US"/>
              <a:t>等程序也可以在我们的操作系统上正确编译，这意味着我们的内核的实用性和兼容性得到了初步验证。</a:t>
            </a:r>
            <a:endParaRPr lang="zh-CN" altLang="en-US"/>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总结与展望</a:t>
            </a:r>
            <a:endParaRPr lang="zh-CN" altLang="en-US"/>
          </a:p>
        </p:txBody>
      </p:sp>
      <p:sp>
        <p:nvSpPr>
          <p:cNvPr id="3" name="内容占位符 2"/>
          <p:cNvSpPr>
            <a:spLocks noGrp="1"/>
          </p:cNvSpPr>
          <p:nvPr>
            <p:ph idx="1"/>
          </p:nvPr>
        </p:nvSpPr>
        <p:spPr/>
        <p:txBody>
          <a:bodyPr/>
          <a:p>
            <a:r>
              <a:rPr lang="zh-CN" altLang="en-US">
                <a:sym typeface="+mn-ea"/>
              </a:rPr>
              <a:t>目前，在网络协议栈部分还有较大的改进空间，未来我们会进一步推进网络功能的完善和硬件平台的适配。我们会继续推进内核组件的设计，在实现内核的同时也希望能为开源社区提供更多的通用性强的操作系统组件，同时，我们也会在后续</a:t>
            </a:r>
            <a:r>
              <a:rPr lang="zh-CN" altLang="en-US"/>
              <a:t>开发中延续组件化、层次化的设计思想，为我们的内核提供更好的功能裁剪选择支持。</a:t>
            </a:r>
            <a:endParaRPr lang="en-US" altLang="zh-CN"/>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a:t>谢谢大家</a:t>
            </a:r>
            <a:endParaRPr lang="en-GB"/>
          </a:p>
        </p:txBody>
      </p:sp>
      <p:sp>
        <p:nvSpPr>
          <p:cNvPr id="5" name="副标题 4"/>
          <p:cNvSpPr>
            <a:spLocks noGrp="1"/>
          </p:cNvSpPr>
          <p:nvPr>
            <p:ph type="subTitle" idx="1"/>
          </p:nvPr>
        </p:nvSpPr>
        <p:spPr/>
        <p:txBody>
          <a:bodyPr/>
          <a:lstStyle/>
          <a:p>
            <a:endParaRPr lang="en-GB"/>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4648</Words>
  <Application>WPS 演示</Application>
  <PresentationFormat>宽屏</PresentationFormat>
  <Paragraphs>196</Paragraphs>
  <Slides>25</Slides>
  <Notes>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25</vt:i4>
      </vt:variant>
    </vt:vector>
  </HeadingPairs>
  <TitlesOfParts>
    <vt:vector size="36" baseType="lpstr">
      <vt:lpstr>Arial</vt:lpstr>
      <vt:lpstr>宋体</vt:lpstr>
      <vt:lpstr>Wingdings</vt:lpstr>
      <vt:lpstr>仿宋</vt:lpstr>
      <vt:lpstr>楷体</vt:lpstr>
      <vt:lpstr>微软雅黑</vt:lpstr>
      <vt:lpstr>Arial Unicode MS</vt:lpstr>
      <vt:lpstr>等线</vt:lpstr>
      <vt:lpstr>Wingdings</vt:lpstr>
      <vt:lpstr>Office 主题​​</vt:lpstr>
      <vt:lpstr>1_Office 主题​​</vt:lpstr>
      <vt:lpstr>UndefinedOS 开发实践分享</vt:lpstr>
      <vt:lpstr>目录</vt:lpstr>
      <vt:lpstr>项目介绍</vt:lpstr>
      <vt:lpstr>PowerPoint 演示文稿</vt:lpstr>
      <vt:lpstr>PowerPoint 演示文稿</vt:lpstr>
      <vt:lpstr>开发模式</vt:lpstr>
      <vt:lpstr>组件化的总体架构设计</vt:lpstr>
      <vt:lpstr>解耦合的系统调用架构设计</vt:lpstr>
      <vt:lpstr>解耦合的系统调用架构设计</vt:lpstr>
      <vt:lpstr>解耦合的系统调用架构设计</vt:lpstr>
      <vt:lpstr>PowerPoint 演示文稿</vt:lpstr>
      <vt:lpstr>组件化的文件系统设计</vt:lpstr>
      <vt:lpstr>组件化的文件系统设计</vt:lpstr>
      <vt:lpstr>组件化的内存管理模块</vt:lpstr>
      <vt:lpstr>PowerPoint 演示文稿</vt:lpstr>
      <vt:lpstr>PowerPoint 演示文稿</vt:lpstr>
      <vt:lpstr>组件化的进程管理模块</vt:lpstr>
      <vt:lpstr>组件化的进程管理模块</vt:lpstr>
      <vt:lpstr>PowerPoint 演示文稿</vt:lpstr>
      <vt:lpstr>PowerPoint 演示文稿</vt:lpstr>
      <vt:lpstr>PowerPoint 演示文稿</vt:lpstr>
      <vt:lpstr>PowerPoint 演示文稿</vt:lpstr>
      <vt:lpstr>PowerPoint 演示文稿</vt:lpstr>
      <vt:lpstr>PowerPoint 演示文稿</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分享会报告</dc:title>
  <dc:creator>dragonhh</dc:creator>
  <cp:lastModifiedBy>黄雨婕</cp:lastModifiedBy>
  <cp:revision>9</cp:revision>
  <dcterms:created xsi:type="dcterms:W3CDTF">2025-06-20T08:15:00Z</dcterms:created>
  <dcterms:modified xsi:type="dcterms:W3CDTF">2025-06-30T15:52:58Z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E4881EF94BA141BDB00A651D51236C20_12</vt:lpwstr>
  </property>
  <property fmtid="{D5CDD505-2E9C-101B-9397-08002B2CF9AE}" pid="3" name="KSOProductBuildVer">
    <vt:lpwstr>2052-12.1.0.21171</vt:lpwstr>
  </property>
</Properties>
</file>