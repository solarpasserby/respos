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LTP 用例通过率（case 口径，%）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用例通过率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RV glibc</c:v>
                </c:pt>
                <c:pt idx="1">
                  <c:v>RV musl</c:v>
                </c:pt>
                <c:pt idx="2">
                  <c:v>LA glibc</c:v>
                </c:pt>
                <c:pt idx="3">
                  <c:v>LA musl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93.6</c:v>
                </c:pt>
                <c:pt idx="1">
                  <c:v>93.8</c:v>
                </c:pt>
                <c:pt idx="2">
                  <c:v>93.7</c:v>
                </c:pt>
                <c:pt idx="3">
                  <c:v>93.1</c:v>
                </c:pt>
              </c:numCache>
            </c:numRef>
          </c:val>
        </c:ser>
        <c:dLbls>
          <c:numFmt formatCode="0.0%" sourceLinked="0"/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9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  <c:majorUnit val="2.0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iperf BASIC 吞吐（Mbits/s）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UDP receiver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RV musl</c:v>
                </c:pt>
                <c:pt idx="1">
                  <c:v>RV glibc</c:v>
                </c:pt>
                <c:pt idx="2">
                  <c:v>LA musl</c:v>
                </c:pt>
                <c:pt idx="3">
                  <c:v>LA glibc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50.7</c:v>
                </c:pt>
                <c:pt idx="1">
                  <c:v>51.1</c:v>
                </c:pt>
                <c:pt idx="2">
                  <c:v>50.4</c:v>
                </c:pt>
                <c:pt idx="3">
                  <c:v>50.6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TCP receiver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RV musl</c:v>
                </c:pt>
                <c:pt idx="1">
                  <c:v>RV glibc</c:v>
                </c:pt>
                <c:pt idx="2">
                  <c:v>LA musl</c:v>
                </c:pt>
                <c:pt idx="3">
                  <c:v>LA glibc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28.0</c:v>
                </c:pt>
                <c:pt idx="1">
                  <c:v>27.1</c:v>
                </c:pt>
                <c:pt idx="2">
                  <c:v>39.9</c:v>
                </c:pt>
                <c:pt idx="3">
                  <c:v>40.1</c:v>
                </c:pt>
              </c:numCache>
            </c:numRef>
          </c:val>
        </c:ser>
        <c:dLbls>
          <c:numFmt formatCode="0.0" sourceLinked="0"/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0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  <c:majorUnit val="15.0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7.xml" /><ns0:Relationship Id="rId5" Type="http://schemas.openxmlformats.org/officeDocument/2006/relationships/chart" Target="../charts/chart4.xml" /><ns0:Relationship Id="rId6" Type="http://schemas.openxmlformats.org/officeDocument/2006/relationships/chart" Target="../charts/chart5.xml" /></ns0: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6446520"/>
            <a:ext cx="1325880" cy="201168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r">
              <a:defRPr sz="850" b="0">
                <a:solidFill>
                  <a:srgbClr val="667085"/>
                </a:solidFill>
                <a:latin typeface="Microsoft YaHei"/>
              </a:defRPr>
            </a:pPr>
            <a:r>
              <a:rPr>
                <a:latin typeface="Microsoft YaHei"/>
              </a:rPr>
              <a:t>01 /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5669280" cy="34747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400" b="0">
                <a:solidFill>
                  <a:srgbClr val="667085"/>
                </a:solidFill>
                <a:latin typeface="Microsoft YaHei"/>
              </a:defRPr>
            </a:pPr>
            <a:r>
              <a:rPr>
                <a:latin typeface="Microsoft YaHei"/>
              </a:rPr>
              <a:t>全国大学生计算机系统能力大赛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170432"/>
            <a:ext cx="4754880" cy="731520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4000" b="1">
                <a:solidFill>
                  <a:srgbClr val="202124"/>
                </a:solidFill>
                <a:latin typeface="Arial"/>
              </a:defRPr>
            </a:pPr>
            <a:r>
              <a:rPr>
                <a:latin typeface="Microsoft YaHei"/>
              </a:rPr>
              <a:t>RespOS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920240"/>
            <a:ext cx="1645920" cy="45720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2212848"/>
            <a:ext cx="6949440" cy="502920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2600" b="1">
                <a:solidFill>
                  <a:srgbClr val="202124"/>
                </a:solidFill>
                <a:latin typeface="Microsoft YaHei"/>
              </a:defRPr>
            </a:pPr>
            <a:r>
              <a:rPr>
                <a:latin typeface="Microsoft YaHei"/>
              </a:rPr>
              <a:t>初赛进展汇报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761488"/>
            <a:ext cx="7132320" cy="320040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350" b="0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开发进度 · 功能完成度 · 后续优化计划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52360" y="960120"/>
            <a:ext cx="379476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52360" y="960120"/>
            <a:ext cx="68580" cy="4297680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98664" y="1069848"/>
            <a:ext cx="3520440" cy="25603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400" b="1">
                <a:solidFill>
                  <a:srgbClr val="202124"/>
                </a:solidFill>
                <a:latin typeface="Microsoft YaHei"/>
              </a:defRPr>
            </a:pPr>
            <a:r>
              <a:rPr>
                <a:latin typeface="Microsoft YaHei"/>
              </a:rPr>
              <a:t>汇报关键词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98664" y="1399032"/>
            <a:ext cx="3520440" cy="3822191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100" b="0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Rust 类 Unix 宏内核</a:t>
            </a:r>
            <a:br/>
            <a:r>
              <a:rPr>
                <a:latin typeface="Microsoft YaHei"/>
              </a:rPr>
              <a:t>RISC-V 64 / LoongArch 64</a:t>
            </a:r>
            <a:br/>
            <a:r>
              <a:rPr>
                <a:latin typeface="Microsoft YaHei"/>
              </a:rPr>
              <a:t>Linux ABI 兼容</a:t>
            </a:r>
            <a:br/>
            <a:r>
              <a:rPr>
                <a:latin typeface="Microsoft YaHei"/>
              </a:rPr>
              <a:t>Ext4 + VFS</a:t>
            </a:r>
            <a:br/>
            <a:r>
              <a:rPr>
                <a:latin typeface="Microsoft YaHei"/>
              </a:rPr>
              <a:t>LTP 驱动开发</a:t>
            </a:r>
            <a:br/>
            <a:r>
              <a:rPr>
                <a:latin typeface="Microsoft YaHei"/>
              </a:rPr>
              <a:t>smoltcp 回环网络</a:t>
            </a:r>
            <a:br/>
            <a:r>
              <a:rPr>
                <a:latin typeface="Microsoft YaHei"/>
              </a:rPr>
              <a:t>VirtIO block 设备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080760"/>
            <a:ext cx="6217920" cy="25603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050" b="0">
                <a:solidFill>
                  <a:srgbClr val="667085"/>
                </a:solidFill>
                <a:latin typeface="Microsoft YaHei"/>
              </a:defRPr>
            </a:pPr>
            <a:r>
              <a:rPr>
                <a:latin typeface="Microsoft YaHei"/>
              </a:rPr>
              <a:t>比特工匠队 · 山东大学（青岛） · 2026 年 6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6446520"/>
            <a:ext cx="1325880" cy="201168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r">
              <a:defRPr sz="850" b="0">
                <a:solidFill>
                  <a:srgbClr val="667085"/>
                </a:solidFill>
                <a:latin typeface="Microsoft YaHei"/>
              </a:defRPr>
            </a:pPr>
            <a:r>
              <a:rPr>
                <a:latin typeface="Microsoft YaHei"/>
              </a:rPr>
              <a:t>02 /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47472"/>
            <a:ext cx="9144000" cy="411480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2250" b="1">
                <a:solidFill>
                  <a:srgbClr val="202124"/>
                </a:solidFill>
                <a:latin typeface="Microsoft YaHei"/>
              </a:defRPr>
            </a:pPr>
            <a:r>
              <a:rPr>
                <a:latin typeface="Microsoft YaHei"/>
              </a:rPr>
              <a:t>汇报目录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768096"/>
            <a:ext cx="10515600" cy="310896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050" b="0">
                <a:solidFill>
                  <a:srgbClr val="667085"/>
                </a:solidFill>
                <a:latin typeface="Microsoft YaHei"/>
              </a:defRPr>
            </a:pPr>
            <a:r>
              <a:rPr>
                <a:latin typeface="Microsoft YaHei"/>
              </a:rPr>
              <a:t>25 页进展汇报，重点展开进度、完成度和优化路线</a:t>
            </a:r>
          </a:p>
        </p:txBody>
      </p:sp>
      <p:sp>
        <p:nvSpPr>
          <p:cNvPr id="7" name="Rectangle 6"/>
          <p:cNvSpPr/>
          <p:nvPr/>
        </p:nvSpPr>
        <p:spPr>
          <a:xfrm>
            <a:off x="530352" y="1069848"/>
            <a:ext cx="1143000" cy="32004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77240" y="1325880"/>
            <a:ext cx="10607040" cy="5303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325880"/>
            <a:ext cx="68580" cy="530352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" y="1435607"/>
            <a:ext cx="10332719" cy="25603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250" b="1">
                <a:solidFill>
                  <a:srgbClr val="202124"/>
                </a:solidFill>
                <a:latin typeface="Microsoft YaHei"/>
              </a:defRPr>
            </a:pPr>
            <a:r>
              <a:rPr>
                <a:latin typeface="Microsoft YaHei"/>
              </a:rPr>
              <a:t>01  项目定位与总体目标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4560" y="1481328"/>
            <a:ext cx="8686800" cy="201168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950" b="0">
                <a:solidFill>
                  <a:srgbClr val="667085"/>
                </a:solidFill>
                <a:latin typeface="Microsoft YaHei"/>
              </a:defRPr>
            </a:pPr>
            <a:r>
              <a:rPr>
                <a:latin typeface="Microsoft YaHei"/>
              </a:rPr>
              <a:t>说明项目背景和初赛阶段关注点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167128"/>
            <a:ext cx="10607040" cy="5303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2167128"/>
            <a:ext cx="68580" cy="530352"/>
          </a:xfrm>
          <a:prstGeom prst="rect">
            <a:avLst/>
          </a:prstGeom>
          <a:solidFill>
            <a:srgbClr val="2D6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544" y="2276856"/>
            <a:ext cx="10332719" cy="25603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250" b="1">
                <a:solidFill>
                  <a:srgbClr val="202124"/>
                </a:solidFill>
                <a:latin typeface="Microsoft YaHei"/>
              </a:defRPr>
            </a:pPr>
            <a:r>
              <a:rPr>
                <a:latin typeface="Microsoft YaHei"/>
              </a:rPr>
              <a:t>02  开发进度与阶段产物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4560" y="2322576"/>
            <a:ext cx="8686800" cy="201168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950" b="0">
                <a:solidFill>
                  <a:srgbClr val="667085"/>
                </a:solidFill>
                <a:latin typeface="Microsoft YaHei"/>
              </a:defRPr>
            </a:pPr>
            <a:r>
              <a:rPr>
                <a:latin typeface="Microsoft YaHei"/>
              </a:rPr>
              <a:t>按阶段解释功能推进路径和产出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3008376"/>
            <a:ext cx="10607040" cy="5303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3008376"/>
            <a:ext cx="68580" cy="530352"/>
          </a:xfrm>
          <a:prstGeom prst="rect">
            <a:avLst/>
          </a:prstGeom>
          <a:solidFill>
            <a:srgbClr val="1296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3544" y="3118104"/>
            <a:ext cx="10332719" cy="25603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250" b="1">
                <a:solidFill>
                  <a:srgbClr val="202124"/>
                </a:solidFill>
                <a:latin typeface="Microsoft YaHei"/>
              </a:defRPr>
            </a:pPr>
            <a:r>
              <a:rPr>
                <a:latin typeface="Microsoft YaHei"/>
              </a:rPr>
              <a:t>03  核心模块功能完成度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4560" y="3163824"/>
            <a:ext cx="8686800" cy="201168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950" b="0">
                <a:solidFill>
                  <a:srgbClr val="667085"/>
                </a:solidFill>
                <a:latin typeface="Microsoft YaHei"/>
              </a:defRPr>
            </a:pPr>
            <a:r>
              <a:rPr>
                <a:latin typeface="Microsoft YaHei"/>
              </a:rPr>
              <a:t>逐模块说明已完成主路径和边界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849624"/>
            <a:ext cx="10607040" cy="5303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3849624"/>
            <a:ext cx="68580" cy="530352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3544" y="3959352"/>
            <a:ext cx="10332719" cy="25603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250" b="1">
                <a:solidFill>
                  <a:srgbClr val="202124"/>
                </a:solidFill>
                <a:latin typeface="Microsoft YaHei"/>
              </a:defRPr>
            </a:pPr>
            <a:r>
              <a:rPr>
                <a:latin typeface="Microsoft YaHei"/>
              </a:rPr>
              <a:t>04  本地测试与当前问题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4560" y="4005072"/>
            <a:ext cx="8686800" cy="201168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950" b="0">
                <a:solidFill>
                  <a:srgbClr val="667085"/>
                </a:solidFill>
                <a:latin typeface="Microsoft YaHei"/>
              </a:defRPr>
            </a:pPr>
            <a:r>
              <a:rPr>
                <a:latin typeface="Microsoft YaHei"/>
              </a:rPr>
              <a:t>用 LTP 报告说明验证方式和剩余风险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4690872"/>
            <a:ext cx="10607040" cy="5303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77240" y="4690872"/>
            <a:ext cx="68580" cy="530352"/>
          </a:xfrm>
          <a:prstGeom prst="rect">
            <a:avLst/>
          </a:prstGeom>
          <a:solidFill>
            <a:srgbClr val="704C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3544" y="4800600"/>
            <a:ext cx="10332719" cy="25603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250" b="1">
                <a:solidFill>
                  <a:srgbClr val="202124"/>
                </a:solidFill>
                <a:latin typeface="Microsoft YaHei"/>
              </a:defRPr>
            </a:pPr>
            <a:r>
              <a:rPr>
                <a:latin typeface="Microsoft YaHei"/>
              </a:rPr>
              <a:t>05  后续优化计划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4560" y="4846320"/>
            <a:ext cx="8686800" cy="201168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950" b="0">
                <a:solidFill>
                  <a:srgbClr val="667085"/>
                </a:solidFill>
                <a:latin typeface="Microsoft YaHei"/>
              </a:defRPr>
            </a:pPr>
            <a:r>
              <a:rPr>
                <a:latin typeface="Microsoft YaHei"/>
              </a:rPr>
              <a:t>给出下一阶段优先级和落地任务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6446520"/>
            <a:ext cx="1325880" cy="201168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r">
              <a:defRPr sz="850" b="0">
                <a:solidFill>
                  <a:srgbClr val="667085"/>
                </a:solidFill>
                <a:latin typeface="Microsoft YaHei"/>
              </a:defRPr>
            </a:pPr>
            <a:r>
              <a:rPr>
                <a:latin typeface="Microsoft YaHei"/>
              </a:rPr>
              <a:t>03 /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47472"/>
            <a:ext cx="9144000" cy="411480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2250" b="1">
                <a:solidFill>
                  <a:srgbClr val="202124"/>
                </a:solidFill>
                <a:latin typeface="Microsoft YaHei"/>
              </a:defRPr>
            </a:pPr>
            <a:r>
              <a:rPr>
                <a:latin typeface="Microsoft YaHei"/>
              </a:rPr>
              <a:t>项目定位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768096"/>
            <a:ext cx="10515600" cy="310896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050" b="0">
                <a:solidFill>
                  <a:srgbClr val="667085"/>
                </a:solidFill>
                <a:latin typeface="Microsoft YaHei"/>
              </a:defRPr>
            </a:pPr>
            <a:r>
              <a:rPr>
                <a:latin typeface="Microsoft YaHei"/>
              </a:rPr>
              <a:t>面向初赛测例和教学型内核演进的 Rust 类 Unix 宏内核</a:t>
            </a:r>
          </a:p>
        </p:txBody>
      </p:sp>
      <p:sp>
        <p:nvSpPr>
          <p:cNvPr id="7" name="Rectangle 6"/>
          <p:cNvSpPr/>
          <p:nvPr/>
        </p:nvSpPr>
        <p:spPr>
          <a:xfrm>
            <a:off x="530352" y="1069848"/>
            <a:ext cx="1143000" cy="32004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85800" y="1234440"/>
            <a:ext cx="342900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1234440"/>
            <a:ext cx="68580" cy="1280160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2104" y="1344168"/>
            <a:ext cx="3154680" cy="25603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250" b="1">
                <a:solidFill>
                  <a:srgbClr val="202124"/>
                </a:solidFill>
                <a:latin typeface="Microsoft YaHei"/>
              </a:defRPr>
            </a:pPr>
            <a:r>
              <a:rPr>
                <a:latin typeface="Microsoft YaHei"/>
              </a:rPr>
              <a:t>不是只做 syscall 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" y="1673352"/>
            <a:ext cx="3154680" cy="804671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969" b="0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初赛测例会穿透任务、内存、文件、信号、时间、网络和设备路径，因此目标是补齐用户程序运行链路。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234440"/>
            <a:ext cx="342900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89120" y="1234440"/>
            <a:ext cx="68580" cy="1280160"/>
          </a:xfrm>
          <a:prstGeom prst="rect">
            <a:avLst/>
          </a:prstGeom>
          <a:solidFill>
            <a:srgbClr val="2D6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35424" y="1344168"/>
            <a:ext cx="3154680" cy="25603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250" b="1">
                <a:solidFill>
                  <a:srgbClr val="202124"/>
                </a:solidFill>
                <a:latin typeface="Microsoft YaHei"/>
              </a:defRPr>
            </a:pPr>
            <a:r>
              <a:rPr>
                <a:latin typeface="Microsoft YaHei"/>
              </a:rPr>
              <a:t>双架构运行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35424" y="1673352"/>
            <a:ext cx="3154680" cy="804671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969" b="0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当前代码同时维护 RISC-V 64 与 LoongArch 64 路径，架构差异集中在 arch 层。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1234440"/>
            <a:ext cx="342900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92440" y="1234440"/>
            <a:ext cx="68580" cy="1280160"/>
          </a:xfrm>
          <a:prstGeom prst="rect">
            <a:avLst/>
          </a:prstGeom>
          <a:solidFill>
            <a:srgbClr val="1296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38744" y="1344168"/>
            <a:ext cx="3154680" cy="25603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250" b="1">
                <a:solidFill>
                  <a:srgbClr val="202124"/>
                </a:solidFill>
                <a:latin typeface="Microsoft YaHei"/>
              </a:defRPr>
            </a:pPr>
            <a:r>
              <a:rPr>
                <a:latin typeface="Microsoft YaHei"/>
              </a:rPr>
              <a:t>测例驱动开发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1673352"/>
            <a:ext cx="3154680" cy="804671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969" b="0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以 busybox、libc 初始化流程和 LTP 输出作为功能闭环验证依据。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2880360"/>
            <a:ext cx="1083564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85800" y="2880360"/>
            <a:ext cx="68580" cy="2240280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2104" y="2990088"/>
            <a:ext cx="10561319" cy="25603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300" b="1">
                <a:solidFill>
                  <a:srgbClr val="202124"/>
                </a:solidFill>
                <a:latin typeface="Microsoft YaHei"/>
              </a:defRPr>
            </a:pPr>
            <a:r>
              <a:rPr>
                <a:latin typeface="Microsoft YaHei"/>
              </a:rPr>
              <a:t>阶段性目标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104" y="3319272"/>
            <a:ext cx="10561319" cy="176479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100" b="0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构建一个能稳定运行用户态负载、能通过日志定位问题、能继续围绕 Linux ABI 细节迭代的宏内核。当前重点已经从“能否启动和进入用户态”转向“复杂系统调用组合是否符合 Linux 行为、双架构是否一致、长测是否稳定”。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6446520"/>
            <a:ext cx="1325880" cy="201168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r">
              <a:defRPr sz="850" b="0">
                <a:solidFill>
                  <a:srgbClr val="667085"/>
                </a:solidFill>
                <a:latin typeface="Microsoft YaHei"/>
              </a:defRPr>
            </a:pPr>
            <a:r>
              <a:rPr>
                <a:latin typeface="Microsoft YaHei"/>
              </a:rPr>
              <a:t>04 /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47472"/>
            <a:ext cx="9144000" cy="411480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2250" b="1">
                <a:solidFill>
                  <a:srgbClr val="202124"/>
                </a:solidFill>
                <a:latin typeface="Microsoft YaHei"/>
              </a:defRPr>
            </a:pPr>
            <a:r>
              <a:rPr>
                <a:latin typeface="Microsoft YaHei"/>
              </a:rPr>
              <a:t>初赛阶段工作范围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768096"/>
            <a:ext cx="10515600" cy="310896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050" b="0">
                <a:solidFill>
                  <a:srgbClr val="667085"/>
                </a:solidFill>
                <a:latin typeface="Microsoft YaHei"/>
              </a:defRPr>
            </a:pPr>
            <a:r>
              <a:rPr>
                <a:latin typeface="Microsoft YaHei"/>
              </a:rPr>
              <a:t>围绕用户程序可运行性补齐基础设施</a:t>
            </a:r>
          </a:p>
        </p:txBody>
      </p:sp>
      <p:sp>
        <p:nvSpPr>
          <p:cNvPr id="7" name="Rectangle 6"/>
          <p:cNvSpPr/>
          <p:nvPr/>
        </p:nvSpPr>
        <p:spPr>
          <a:xfrm>
            <a:off x="530352" y="1069848"/>
            <a:ext cx="1143000" cy="32004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85800" y="1280160"/>
            <a:ext cx="5303520" cy="4800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1280160"/>
            <a:ext cx="68580" cy="4800600"/>
          </a:xfrm>
          <a:prstGeom prst="rect">
            <a:avLst/>
          </a:prstGeom>
          <a:solidFill>
            <a:srgbClr val="2D6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2104" y="1389888"/>
            <a:ext cx="5029200" cy="25603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250" b="1">
                <a:solidFill>
                  <a:srgbClr val="202124"/>
                </a:solidFill>
                <a:latin typeface="Microsoft YaHei"/>
              </a:defRPr>
            </a:pPr>
            <a:r>
              <a:rPr>
                <a:latin typeface="Microsoft YaHei"/>
              </a:rPr>
              <a:t>主要覆盖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1783080"/>
            <a:ext cx="4709160" cy="3977639"/>
          </a:xfrm>
          <a:prstGeom prst="rect">
            <a:avLst/>
          </a:prstGeom>
          <a:noFill/>
        </p:spPr>
        <p:txBody>
          <a:bodyPr wrap="square" lIns="73152" rIns="27432">
            <a:spAutoFit/>
          </a:bodyPr>
          <a:lstStyle/>
          <a:p>
            <a:pPr marL="210000" hanging="105000">
              <a:spcAft>
                <a:spcPts val="500"/>
              </a:spcAft>
              <a:defRPr sz="1019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进程与线程：fork/clone/execve/wait4/exit</a:t>
            </a:r>
          </a:p>
          <a:p>
            <a:pPr marL="210000" hanging="105000">
              <a:spcAft>
                <a:spcPts val="500"/>
              </a:spcAft>
              <a:defRPr sz="1019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虚拟内存：ELF、用户栈、auxv、mmap、brk、COW</a:t>
            </a:r>
          </a:p>
          <a:p>
            <a:pPr marL="210000" hanging="105000">
              <a:spcAft>
                <a:spcPts val="500"/>
              </a:spcAft>
              <a:defRPr sz="1019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文件系统：VFS、Ext4、procfs、devfs、fd 表</a:t>
            </a:r>
          </a:p>
          <a:p>
            <a:pPr marL="210000" hanging="105000">
              <a:spcAft>
                <a:spcPts val="500"/>
              </a:spcAft>
              <a:defRPr sz="1019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兼容接口：Linux errno、信号、时间、socket、IPC</a:t>
            </a:r>
          </a:p>
          <a:p>
            <a:pPr marL="210000" hanging="105000">
              <a:spcAft>
                <a:spcPts val="500"/>
              </a:spcAft>
              <a:defRPr sz="1019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设备与平台：VirtIO block、控制台、双架构页表和 trap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280160"/>
            <a:ext cx="5303520" cy="4800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1280160"/>
            <a:ext cx="68580" cy="4800600"/>
          </a:xfrm>
          <a:prstGeom prst="rect">
            <a:avLst/>
          </a:prstGeom>
          <a:solidFill>
            <a:srgbClr val="1296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9944" y="1389888"/>
            <a:ext cx="5029200" cy="25603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250" b="1">
                <a:solidFill>
                  <a:srgbClr val="202124"/>
                </a:solidFill>
                <a:latin typeface="Microsoft YaHei"/>
              </a:defRPr>
            </a:pPr>
            <a:r>
              <a:rPr>
                <a:latin typeface="Microsoft YaHei"/>
              </a:rPr>
              <a:t>暂不作为重点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1783080"/>
            <a:ext cx="4709160" cy="3977639"/>
          </a:xfrm>
          <a:prstGeom prst="rect">
            <a:avLst/>
          </a:prstGeom>
          <a:noFill/>
        </p:spPr>
        <p:txBody>
          <a:bodyPr wrap="square" lIns="73152" rIns="27432">
            <a:spAutoFit/>
          </a:bodyPr>
          <a:lstStyle/>
          <a:p>
            <a:pPr marL="210000" hanging="105000">
              <a:spcAft>
                <a:spcPts val="500"/>
              </a:spcAft>
              <a:defRPr sz="1019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复杂调度策略和多核负载均衡</a:t>
            </a:r>
          </a:p>
          <a:p>
            <a:pPr marL="210000" hanging="105000">
              <a:spcAft>
                <a:spcPts val="500"/>
              </a:spcAft>
              <a:defRPr sz="1019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真实网卡驱动和完整网络协议覆盖</a:t>
            </a:r>
          </a:p>
          <a:p>
            <a:pPr marL="210000" hanging="105000">
              <a:spcAft>
                <a:spcPts val="500"/>
              </a:spcAft>
              <a:defRPr sz="1019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通用设备模型、热插拔和完整设备树解析</a:t>
            </a:r>
          </a:p>
          <a:p>
            <a:pPr marL="210000" hanging="105000">
              <a:spcAft>
                <a:spcPts val="500"/>
              </a:spcAft>
              <a:defRPr sz="1019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完整复刻 Linux 的全部 /proc、/sys 与 ioctl 语义</a:t>
            </a:r>
          </a:p>
          <a:p>
            <a:pPr marL="210000" hanging="105000">
              <a:spcAft>
                <a:spcPts val="500"/>
              </a:spcAft>
              <a:defRPr sz="1019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没有测例支撑且收益较低的大范围重构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6446520"/>
            <a:ext cx="1325880" cy="201168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r">
              <a:defRPr sz="850" b="0">
                <a:solidFill>
                  <a:srgbClr val="667085"/>
                </a:solidFill>
                <a:latin typeface="Microsoft YaHei"/>
              </a:defRPr>
            </a:pPr>
            <a:r>
              <a:rPr>
                <a:latin typeface="Microsoft YaHei"/>
              </a:rPr>
              <a:t>05 /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47472"/>
            <a:ext cx="9144000" cy="411480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2250" b="1">
                <a:solidFill>
                  <a:srgbClr val="202124"/>
                </a:solidFill>
                <a:latin typeface="Microsoft YaHei"/>
              </a:defRPr>
            </a:pPr>
            <a:r>
              <a:rPr>
                <a:latin typeface="Microsoft YaHei"/>
              </a:rPr>
              <a:t>仓库结构与阶段产物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768096"/>
            <a:ext cx="10515600" cy="310896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050" b="0">
                <a:solidFill>
                  <a:srgbClr val="667085"/>
                </a:solidFill>
                <a:latin typeface="Microsoft YaHei"/>
              </a:defRPr>
            </a:pPr>
            <a:r>
              <a:rPr>
                <a:latin typeface="Microsoft YaHei"/>
              </a:rPr>
              <a:t>代码、测试和文档分离维护</a:t>
            </a:r>
          </a:p>
        </p:txBody>
      </p:sp>
      <p:sp>
        <p:nvSpPr>
          <p:cNvPr id="7" name="Rectangle 6"/>
          <p:cNvSpPr/>
          <p:nvPr/>
        </p:nvSpPr>
        <p:spPr>
          <a:xfrm>
            <a:off x="530352" y="1069848"/>
            <a:ext cx="1143000" cy="32004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85800" y="1234440"/>
            <a:ext cx="3383280" cy="4206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1234440"/>
            <a:ext cx="68580" cy="4206240"/>
          </a:xfrm>
          <a:prstGeom prst="rect">
            <a:avLst/>
          </a:prstGeom>
          <a:solidFill>
            <a:srgbClr val="2D6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2104" y="1344168"/>
            <a:ext cx="3108960" cy="25603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250" b="1">
                <a:solidFill>
                  <a:srgbClr val="202124"/>
                </a:solidFill>
                <a:latin typeface="Microsoft YaHei"/>
              </a:defRPr>
            </a:pPr>
            <a:r>
              <a:rPr>
                <a:latin typeface="Microsoft YaHei"/>
              </a:rPr>
              <a:t>内核与用户态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" y="1673352"/>
            <a:ext cx="3108960" cy="373075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969" b="0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os/ 内核主体</a:t>
            </a:r>
            <a:br/>
            <a:r>
              <a:rPr>
                <a:latin typeface="Microsoft YaHei"/>
              </a:rPr>
              <a:t>user/ 用户态库和测试程序</a:t>
            </a:r>
            <a:br/>
            <a:r>
              <a:rPr>
                <a:latin typeface="Microsoft YaHei"/>
              </a:rPr>
              <a:t>os/src/arch 双架构代码</a:t>
            </a:r>
            <a:br/>
            <a:r>
              <a:rPr>
                <a:latin typeface="Microsoft YaHei"/>
              </a:rPr>
              <a:t>os/src/syscall 系统调用分发</a:t>
            </a:r>
            <a:br/>
            <a:r>
              <a:rPr>
                <a:latin typeface="Microsoft YaHei"/>
              </a:rPr>
              <a:t>os/src/fs/mm/task/net 等核心模块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34840" y="1234440"/>
            <a:ext cx="3383280" cy="4206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34840" y="1234440"/>
            <a:ext cx="68580" cy="4206240"/>
          </a:xfrm>
          <a:prstGeom prst="rect">
            <a:avLst/>
          </a:prstGeom>
          <a:solidFill>
            <a:srgbClr val="1296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81144" y="1344168"/>
            <a:ext cx="3108960" cy="25603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250" b="1">
                <a:solidFill>
                  <a:srgbClr val="202124"/>
                </a:solidFill>
                <a:latin typeface="Microsoft YaHei"/>
              </a:defRPr>
            </a:pPr>
            <a:r>
              <a:rPr>
                <a:latin typeface="Microsoft YaHei"/>
              </a:rPr>
              <a:t>测试与日志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81144" y="1673352"/>
            <a:ext cx="3108960" cy="373075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969" b="0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user/oscomp_ltp_list.txt</a:t>
            </a:r>
            <a:br/>
            <a:r>
              <a:rPr>
                <a:latin typeface="Microsoft YaHei"/>
              </a:rPr>
              <a:t>debug-rvoutput.txt</a:t>
            </a:r>
            <a:br/>
            <a:r>
              <a:rPr>
                <a:latin typeface="Microsoft YaHei"/>
              </a:rPr>
              <a:t>debug-laoutput.txt</a:t>
            </a:r>
            <a:br/>
            <a:r>
              <a:rPr>
                <a:latin typeface="Microsoft YaHei"/>
              </a:rPr>
              <a:t>rv-output.txt / la-output.txt</a:t>
            </a:r>
            <a:br/>
            <a:r>
              <a:rPr>
                <a:latin typeface="Microsoft YaHei"/>
              </a:rPr>
              <a:t>judge/local-report/</a:t>
            </a:r>
            <a:br/>
            <a:r>
              <a:rPr>
                <a:latin typeface="Microsoft YaHei"/>
              </a:rPr>
              <a:t>judge/local-compare/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79" y="1234440"/>
            <a:ext cx="3383280" cy="4206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83879" y="1234440"/>
            <a:ext cx="68580" cy="4206240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30183" y="1344168"/>
            <a:ext cx="3108960" cy="25603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250" b="1">
                <a:solidFill>
                  <a:srgbClr val="202124"/>
                </a:solidFill>
                <a:latin typeface="Microsoft YaHei"/>
              </a:defRPr>
            </a:pPr>
            <a:r>
              <a:rPr>
                <a:latin typeface="Microsoft YaHei"/>
              </a:rPr>
              <a:t>第三方与文档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0183" y="1673352"/>
            <a:ext cx="3108960" cy="373075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969" b="0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vendor/lwext4_rust</a:t>
            </a:r>
            <a:br/>
            <a:r>
              <a:rPr>
                <a:latin typeface="Microsoft YaHei"/>
              </a:rPr>
              <a:t>vendor/smoltcp</a:t>
            </a:r>
            <a:br/>
            <a:r>
              <a:rPr>
                <a:latin typeface="Microsoft YaHei"/>
              </a:rPr>
              <a:t>vendor/riscv</a:t>
            </a:r>
            <a:br/>
            <a:r>
              <a:rPr>
                <a:latin typeface="Microsoft YaHei"/>
              </a:rPr>
              <a:t>docs/初赛文档/main.typ</a:t>
            </a:r>
            <a:br/>
            <a:r>
              <a:rPr>
                <a:latin typeface="Microsoft YaHei"/>
              </a:rPr>
              <a:t>初赛文档.pdf</a:t>
            </a:r>
            <a:br/>
            <a:r>
              <a:rPr>
                <a:latin typeface="Microsoft YaHei"/>
              </a:rPr>
              <a:t>进展汇报 PPT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6446520"/>
            <a:ext cx="1325880" cy="201168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r">
              <a:defRPr sz="850" b="0">
                <a:solidFill>
                  <a:srgbClr val="667085"/>
                </a:solidFill>
                <a:latin typeface="Microsoft YaHei"/>
              </a:defRPr>
            </a:pPr>
            <a:r>
              <a:t>06 /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47472"/>
            <a:ext cx="9326880" cy="411480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2250" b="1">
                <a:solidFill>
                  <a:srgbClr val="202124"/>
                </a:solidFill>
                <a:latin typeface="Microsoft YaHei"/>
              </a:defRPr>
            </a:pPr>
            <a:r>
              <a:t>开发进度时间线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768096"/>
            <a:ext cx="10515600" cy="310896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050" b="0">
                <a:solidFill>
                  <a:srgbClr val="667085"/>
                </a:solidFill>
                <a:latin typeface="Microsoft YaHei"/>
              </a:defRPr>
            </a:pPr>
            <a:r>
              <a:t>最终版已经完成双架构全量测例回归</a:t>
            </a:r>
          </a:p>
        </p:txBody>
      </p:sp>
      <p:sp>
        <p:nvSpPr>
          <p:cNvPr id="7" name="Rectangle 6"/>
          <p:cNvSpPr/>
          <p:nvPr/>
        </p:nvSpPr>
        <p:spPr>
          <a:xfrm>
            <a:off x="530352" y="1069848"/>
            <a:ext cx="1143000" cy="32004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85800" y="1325880"/>
            <a:ext cx="1993392" cy="3337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1325880"/>
            <a:ext cx="68580" cy="3337560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2104" y="1435607"/>
            <a:ext cx="1719072" cy="25603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120" b="1">
                <a:solidFill>
                  <a:srgbClr val="202124"/>
                </a:solidFill>
                <a:latin typeface="Microsoft YaHei"/>
              </a:defRPr>
            </a:pPr>
            <a:r>
              <a:t>基础内核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" y="1764792"/>
            <a:ext cx="1719072" cy="286207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890" b="0">
                <a:solidFill>
                  <a:srgbClr val="475467"/>
                </a:solidFill>
                <a:latin typeface="Microsoft YaHei"/>
              </a:defRPr>
            </a:pPr>
            <a:r>
              <a:t>启动、trap、页表、堆和页帧分配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2606040" y="2697480"/>
            <a:ext cx="320040" cy="182880"/>
          </a:xfrm>
          <a:prstGeom prst="rightArrow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990088" y="1325880"/>
            <a:ext cx="1993392" cy="3337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90088" y="1325880"/>
            <a:ext cx="68580" cy="3337560"/>
          </a:xfrm>
          <a:prstGeom prst="rect">
            <a:avLst/>
          </a:prstGeom>
          <a:solidFill>
            <a:srgbClr val="2D6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136392" y="1435607"/>
            <a:ext cx="1719072" cy="25603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120" b="1">
                <a:solidFill>
                  <a:srgbClr val="202124"/>
                </a:solidFill>
                <a:latin typeface="Microsoft YaHei"/>
              </a:defRPr>
            </a:pPr>
            <a:r>
              <a:t>用户态链路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36392" y="1764792"/>
            <a:ext cx="1719072" cy="286207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890" b="0">
                <a:solidFill>
                  <a:srgbClr val="475467"/>
                </a:solidFill>
                <a:latin typeface="Microsoft YaHei"/>
              </a:defRPr>
            </a:pPr>
            <a:r>
              <a:t>TCB、调度、fd、VFS、Ext4、ELF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910328" y="2697480"/>
            <a:ext cx="320040" cy="182880"/>
          </a:xfrm>
          <a:prstGeom prst="rightArrow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294376" y="1325880"/>
            <a:ext cx="1993392" cy="3337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294376" y="1325880"/>
            <a:ext cx="68580" cy="3337560"/>
          </a:xfrm>
          <a:prstGeom prst="rect">
            <a:avLst/>
          </a:prstGeom>
          <a:solidFill>
            <a:srgbClr val="1296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40680" y="1435607"/>
            <a:ext cx="1719072" cy="25603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120" b="1">
                <a:solidFill>
                  <a:srgbClr val="202124"/>
                </a:solidFill>
                <a:latin typeface="Microsoft YaHei"/>
              </a:defRPr>
            </a:pPr>
            <a:r>
              <a:t>兼容语义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1764792"/>
            <a:ext cx="1719072" cy="286207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890" b="0">
                <a:solidFill>
                  <a:srgbClr val="475467"/>
                </a:solidFill>
                <a:latin typeface="Microsoft YaHei"/>
              </a:defRPr>
            </a:pPr>
            <a:r>
              <a:t>mmap/COW、信号、IPC、时间、socket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7214616" y="2697480"/>
            <a:ext cx="320040" cy="182880"/>
          </a:xfrm>
          <a:prstGeom prst="rightArrow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598664" y="1325880"/>
            <a:ext cx="1993392" cy="3337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598664" y="1325880"/>
            <a:ext cx="68580" cy="3337560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44968" y="1435607"/>
            <a:ext cx="1719072" cy="25603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120" b="1">
                <a:solidFill>
                  <a:srgbClr val="202124"/>
                </a:solidFill>
                <a:latin typeface="Microsoft YaHei"/>
              </a:defRPr>
            </a:pPr>
            <a:r>
              <a:t>双架构收敛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44968" y="1764792"/>
            <a:ext cx="1719072" cy="286207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890" b="0">
                <a:solidFill>
                  <a:srgbClr val="475467"/>
                </a:solidFill>
                <a:latin typeface="Microsoft YaHei"/>
              </a:defRPr>
            </a:pPr>
            <a:r>
              <a:t>LoongArch 页表/TLB、PCI、UART、RISC-V SBI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9518904" y="2697480"/>
            <a:ext cx="320040" cy="182880"/>
          </a:xfrm>
          <a:prstGeom prst="rightArrow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902952" y="1325880"/>
            <a:ext cx="1993392" cy="3337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902952" y="1325880"/>
            <a:ext cx="68580" cy="3337560"/>
          </a:xfrm>
          <a:prstGeom prst="rect">
            <a:avLst/>
          </a:prstGeom>
          <a:solidFill>
            <a:srgbClr val="704C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49256" y="1435607"/>
            <a:ext cx="1719072" cy="25603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120" b="1">
                <a:solidFill>
                  <a:srgbClr val="202124"/>
                </a:solidFill>
                <a:latin typeface="Microsoft YaHei"/>
              </a:defRPr>
            </a:pPr>
            <a:r>
              <a:t>全量回归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49256" y="1764792"/>
            <a:ext cx="1719072" cy="286207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890" b="0">
                <a:solidFill>
                  <a:srgbClr val="475467"/>
                </a:solidFill>
                <a:latin typeface="Microsoft YaHei"/>
              </a:defRPr>
            </a:pPr>
            <a:r>
              <a:t>rv-output/la-output、local-report、local-compare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5166360"/>
            <a:ext cx="1060704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77240" y="5166360"/>
            <a:ext cx="68580" cy="731520"/>
          </a:xfrm>
          <a:prstGeom prst="rect">
            <a:avLst/>
          </a:prstGeom>
          <a:solidFill>
            <a:srgbClr val="1296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3544" y="5276088"/>
            <a:ext cx="10332719" cy="25603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250" b="1">
                <a:solidFill>
                  <a:srgbClr val="202124"/>
                </a:solidFill>
                <a:latin typeface="Microsoft YaHei"/>
              </a:defRPr>
            </a:pPr>
            <a:r>
              <a:t>当前判断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3544" y="5605272"/>
            <a:ext cx="10332719" cy="25603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960" b="0">
                <a:solidFill>
                  <a:srgbClr val="475467"/>
                </a:solidFill>
                <a:latin typeface="Microsoft YaHei"/>
              </a:defRPr>
            </a:pPr>
            <a:r>
              <a:t>主路径已经打通并完成全量 LTP 回归；后续收益最高的工作是按 compare CSV 收敛文件系统/I/O 差异，而不是继续扩张模块数量。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10378440" y="6446520"/>
            <a:ext cx="1325880" cy="201168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r">
              <a:defRPr sz="850" b="0">
                <a:solidFill>
                  <a:srgbClr val="667085"/>
                </a:solidFill>
                <a:latin typeface="Microsoft YaHei"/>
              </a:defRPr>
            </a:pPr>
            <a:r>
              <a:t>07 /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47472"/>
            <a:ext cx="9509760" cy="384048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2200" b="1">
                <a:solidFill>
                  <a:srgbClr val="202124"/>
                </a:solidFill>
                <a:latin typeface="Microsoft YaHei"/>
              </a:defRPr>
            </a:pPr>
            <a:r>
              <a:t>总体架构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768096"/>
            <a:ext cx="10424160" cy="274320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019" b="0">
                <a:solidFill>
                  <a:srgbClr val="667085"/>
                </a:solidFill>
                <a:latin typeface="Microsoft YaHei"/>
              </a:defRPr>
            </a:pPr>
            <a:r>
              <a:t>宏内核结构，关键路径直接协作</a:t>
            </a:r>
          </a:p>
        </p:txBody>
      </p:sp>
      <p:pic>
        <p:nvPicPr>
          <p:cNvPr id="7" name="Picture 6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3827" y="1078992"/>
            <a:ext cx="9464040" cy="53649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58368" y="5870448"/>
            <a:ext cx="105613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475467"/>
                </a:solidFill>
                <a:latin typeface="Microsoft YaHei"/>
              </a:defRPr>
            </a:pPr>
            <a:r>
              <a:t>架构图来自 docs/初赛文档/figures/architecture.svg，展示用户态测试负载、系统调用入口、内核核心服务与双架构硬件抽象的协作边界。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78440" y="6446520"/>
            <a:ext cx="12801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475467"/>
                </a:solidFill>
                <a:latin typeface="Microsoft YaHei"/>
              </a:defRPr>
            </a:pPr>
            <a:r>
              <a:t>07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6446520"/>
            <a:ext cx="1325880" cy="201168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r">
              <a:defRPr sz="850" b="0">
                <a:solidFill>
                  <a:srgbClr val="667085"/>
                </a:solidFill>
                <a:latin typeface="Microsoft YaHei"/>
              </a:defRPr>
            </a:pPr>
            <a:r>
              <a:rPr>
                <a:latin typeface="Microsoft YaHei"/>
              </a:rPr>
              <a:t>08 /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47472"/>
            <a:ext cx="9144000" cy="411480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2250" b="1">
                <a:solidFill>
                  <a:srgbClr val="202124"/>
                </a:solidFill>
                <a:latin typeface="Microsoft YaHei"/>
              </a:defRPr>
            </a:pPr>
            <a:r>
              <a:rPr>
                <a:latin typeface="Microsoft YaHei"/>
              </a:rPr>
              <a:t>双架构硬件抽象层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768096"/>
            <a:ext cx="10515600" cy="310896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050" b="0">
                <a:solidFill>
                  <a:srgbClr val="667085"/>
                </a:solidFill>
                <a:latin typeface="Microsoft YaHei"/>
              </a:defRPr>
            </a:pPr>
            <a:r>
              <a:rPr>
                <a:latin typeface="Microsoft YaHei"/>
              </a:rPr>
              <a:t>同名模块 + 条件编译 + 统一 re-export</a:t>
            </a:r>
          </a:p>
        </p:txBody>
      </p:sp>
      <p:sp>
        <p:nvSpPr>
          <p:cNvPr id="7" name="Rectangle 6"/>
          <p:cNvSpPr/>
          <p:nvPr/>
        </p:nvSpPr>
        <p:spPr>
          <a:xfrm>
            <a:off x="530352" y="1069848"/>
            <a:ext cx="1143000" cy="32004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85800" y="1280160"/>
            <a:ext cx="5303520" cy="4800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1280160"/>
            <a:ext cx="68580" cy="4800600"/>
          </a:xfrm>
          <a:prstGeom prst="rect">
            <a:avLst/>
          </a:prstGeom>
          <a:solidFill>
            <a:srgbClr val="2D6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2104" y="1389888"/>
            <a:ext cx="5029200" cy="25603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250" b="1">
                <a:solidFill>
                  <a:srgbClr val="202124"/>
                </a:solidFill>
                <a:latin typeface="Microsoft YaHei"/>
              </a:defRPr>
            </a:pPr>
            <a:r>
              <a:rPr>
                <a:latin typeface="Microsoft YaHei"/>
              </a:rPr>
              <a:t>统一接口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1783080"/>
            <a:ext cx="4709160" cy="3977639"/>
          </a:xfrm>
          <a:prstGeom prst="rect">
            <a:avLst/>
          </a:prstGeom>
          <a:noFill/>
        </p:spPr>
        <p:txBody>
          <a:bodyPr wrap="square" lIns="73152" rIns="27432">
            <a:spAutoFit/>
          </a:bodyPr>
          <a:lstStyle/>
          <a:p>
            <a:pPr marL="210000" hanging="105000">
              <a:spcAft>
                <a:spcPts val="500"/>
              </a:spcAft>
              <a:defRPr sz="1019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arch/mod.rs 根据 target_arch 导出 rv64 或 loongarch64</a:t>
            </a:r>
          </a:p>
          <a:p>
            <a:pPr marL="210000" hanging="105000">
              <a:spcAft>
                <a:spcPts val="500"/>
              </a:spcAft>
              <a:defRPr sz="1019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上层共享 read_mmu_token/write_mmu_token/sfence/timer/trap/mm/task</a:t>
            </a:r>
          </a:p>
          <a:p>
            <a:pPr marL="210000" hanging="105000">
              <a:spcAft>
                <a:spcPts val="500"/>
              </a:spcAft>
              <a:defRPr sz="1019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MemorySet 调用同名 PageTable 接口，不感知底层 PTE 编码</a:t>
            </a:r>
          </a:p>
          <a:p>
            <a:pPr marL="210000" hanging="105000">
              <a:spcAft>
                <a:spcPts val="500"/>
              </a:spcAft>
              <a:defRPr sz="1019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中断守卫、任务切换和 timer 接口对上层保持同名语义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280160"/>
            <a:ext cx="5303520" cy="4800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1280160"/>
            <a:ext cx="68580" cy="4800600"/>
          </a:xfrm>
          <a:prstGeom prst="rect">
            <a:avLst/>
          </a:prstGeom>
          <a:solidFill>
            <a:srgbClr val="1296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9944" y="1389888"/>
            <a:ext cx="5029200" cy="25603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250" b="1">
                <a:solidFill>
                  <a:srgbClr val="202124"/>
                </a:solidFill>
                <a:latin typeface="Microsoft YaHei"/>
              </a:defRPr>
            </a:pPr>
            <a:r>
              <a:rPr>
                <a:latin typeface="Microsoft YaHei"/>
              </a:rPr>
              <a:t>架构差异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1783080"/>
            <a:ext cx="4709160" cy="3977639"/>
          </a:xfrm>
          <a:prstGeom prst="rect">
            <a:avLst/>
          </a:prstGeom>
          <a:noFill/>
        </p:spPr>
        <p:txBody>
          <a:bodyPr wrap="square" lIns="73152" rIns="27432">
            <a:spAutoFit/>
          </a:bodyPr>
          <a:lstStyle/>
          <a:p>
            <a:pPr marL="210000" hanging="105000">
              <a:spcAft>
                <a:spcPts val="500"/>
              </a:spcAft>
              <a:defRPr sz="1019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RISC-V 使用 satp、sfence.vma、sret、SBI legacy console</a:t>
            </a:r>
          </a:p>
          <a:p>
            <a:pPr marL="210000" hanging="105000">
              <a:spcAft>
                <a:spcPts val="500"/>
              </a:spcAft>
              <a:defRPr sz="1019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LoongArch 使用 PGDL/PGDH、TLB refill、ertn、UART MMIO</a:t>
            </a:r>
          </a:p>
          <a:p>
            <a:pPr marL="210000" hanging="105000">
              <a:spcAft>
                <a:spcPts val="500"/>
              </a:spcAft>
              <a:defRPr sz="1019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LoongArch 启动阶段依赖 DMW，再切换到高地址页表</a:t>
            </a:r>
          </a:p>
          <a:p>
            <a:pPr marL="210000" hanging="105000">
              <a:spcAft>
                <a:spcPts val="500"/>
              </a:spcAft>
              <a:defRPr sz="1019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两套 TrapContext 的寄存器编号和 syscall 参数位置不同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6446520"/>
            <a:ext cx="1325880" cy="201168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r">
              <a:defRPr sz="850" b="0">
                <a:solidFill>
                  <a:srgbClr val="667085"/>
                </a:solidFill>
                <a:latin typeface="Microsoft YaHei"/>
              </a:defRPr>
            </a:pPr>
            <a:r>
              <a:rPr>
                <a:latin typeface="Microsoft YaHei"/>
              </a:rPr>
              <a:t>09 /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47472"/>
            <a:ext cx="9144000" cy="411480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2250" b="1">
                <a:solidFill>
                  <a:srgbClr val="202124"/>
                </a:solidFill>
                <a:latin typeface="Microsoft YaHei"/>
              </a:defRPr>
            </a:pPr>
            <a:r>
              <a:rPr>
                <a:latin typeface="Microsoft YaHei"/>
              </a:rPr>
              <a:t>启动与 trap 路径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768096"/>
            <a:ext cx="10515600" cy="310896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050" b="0">
                <a:solidFill>
                  <a:srgbClr val="667085"/>
                </a:solidFill>
                <a:latin typeface="Microsoft YaHei"/>
              </a:defRPr>
            </a:pPr>
            <a:r>
              <a:rPr>
                <a:latin typeface="Microsoft YaHei"/>
              </a:rPr>
              <a:t>用户态和内核态切换是所有系统调用的共同边界</a:t>
            </a:r>
          </a:p>
        </p:txBody>
      </p:sp>
      <p:sp>
        <p:nvSpPr>
          <p:cNvPr id="7" name="Rectangle 6"/>
          <p:cNvSpPr/>
          <p:nvPr/>
        </p:nvSpPr>
        <p:spPr>
          <a:xfrm>
            <a:off x="530352" y="1069848"/>
            <a:ext cx="1143000" cy="32004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234440"/>
            <a:ext cx="507492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234440"/>
            <a:ext cx="68580" cy="1920240"/>
          </a:xfrm>
          <a:prstGeom prst="rect">
            <a:avLst/>
          </a:prstGeom>
          <a:solidFill>
            <a:srgbClr val="2D6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344168"/>
            <a:ext cx="4800600" cy="25603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250" b="1">
                <a:solidFill>
                  <a:srgbClr val="202124"/>
                </a:solidFill>
                <a:latin typeface="Microsoft YaHei"/>
              </a:defRPr>
            </a:pPr>
            <a:r>
              <a:rPr>
                <a:latin typeface="Microsoft YaHei"/>
              </a:rPr>
              <a:t>启动路径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1673352"/>
            <a:ext cx="4800600" cy="144475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969" b="0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RISC-V 在汇编入口建立 boot_pagetable 并写 satp；LoongArch 先使用 DMW 直映运行，随后构造临时页表并跳到高半区。进入 rust_main_high 后，trap、mm、net、initproc 和 timer 初始化顺序重新汇合。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234440"/>
            <a:ext cx="507492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234440"/>
            <a:ext cx="68580" cy="1920240"/>
          </a:xfrm>
          <a:prstGeom prst="rect">
            <a:avLst/>
          </a:prstGeom>
          <a:solidFill>
            <a:srgbClr val="1296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64224" y="1344168"/>
            <a:ext cx="4800600" cy="25603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250" b="1">
                <a:solidFill>
                  <a:srgbClr val="202124"/>
                </a:solidFill>
                <a:latin typeface="Microsoft YaHei"/>
              </a:defRPr>
            </a:pPr>
            <a:r>
              <a:rPr>
                <a:latin typeface="Microsoft YaHei"/>
              </a:rPr>
              <a:t>trap 路径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4224" y="1673352"/>
            <a:ext cx="4800600" cy="144475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969" b="0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入口汇编保存 TrapContext，Rust trap_handler 分发系统调用、页错误和时钟中断，返回前检查定时器和待处理信号，再由 __restore/sret 或 ertn 回到用户态。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3749039"/>
            <a:ext cx="10149840" cy="1051560"/>
          </a:xfrm>
          <a:prstGeom prst="roundRect">
            <a:avLst/>
          </a:prstGeom>
          <a:solidFill>
            <a:srgbClr val="F2F4F7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trap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3947" y="2871216"/>
            <a:ext cx="7543800" cy="3852053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68680" y="5989320"/>
            <a:ext cx="9875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475467"/>
                </a:solidFill>
                <a:latin typeface="Microsoft YaHei"/>
              </a:defRPr>
            </a:pPr>
            <a:r>
              <a:t>trap-flow.svg 对应系统调用、异常和时钟中断的共同入口：保存 TrapContext 后进入 Rust 分发，再按 syscall、page fault、timer/yield 等路径返回或调度。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6446520"/>
            <a:ext cx="1325880" cy="201168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r">
              <a:defRPr sz="850" b="0">
                <a:solidFill>
                  <a:srgbClr val="667085"/>
                </a:solidFill>
                <a:latin typeface="Microsoft YaHei"/>
              </a:defRPr>
            </a:pPr>
            <a:r>
              <a:t>10 /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47472"/>
            <a:ext cx="9509760" cy="384048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2200" b="1">
                <a:solidFill>
                  <a:srgbClr val="202124"/>
                </a:solidFill>
                <a:latin typeface="Microsoft YaHei"/>
              </a:defRPr>
            </a:pPr>
            <a:r>
              <a:t>进程与线程管理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768096"/>
            <a:ext cx="10424160" cy="274320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019" b="0">
                <a:solidFill>
                  <a:srgbClr val="667085"/>
                </a:solidFill>
                <a:latin typeface="Microsoft YaHei"/>
              </a:defRPr>
            </a:pPr>
            <a:r>
              <a:t>任务状态图和线程组语义</a:t>
            </a:r>
          </a:p>
        </p:txBody>
      </p:sp>
      <p:sp>
        <p:nvSpPr>
          <p:cNvPr id="7" name="Rectangle 6"/>
          <p:cNvSpPr/>
          <p:nvPr/>
        </p:nvSpPr>
        <p:spPr>
          <a:xfrm>
            <a:off x="530352" y="1060704"/>
            <a:ext cx="1143000" cy="32004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77240" y="4572000"/>
            <a:ext cx="507492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4572000"/>
            <a:ext cx="64008" cy="1097280"/>
          </a:xfrm>
          <a:prstGeom prst="rect">
            <a:avLst/>
          </a:prstGeom>
          <a:solidFill>
            <a:srgbClr val="2D6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663440"/>
            <a:ext cx="4800600" cy="25603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150" b="1">
                <a:solidFill>
                  <a:srgbClr val="202124"/>
                </a:solidFill>
                <a:latin typeface="Microsoft YaHei"/>
              </a:defRPr>
            </a:pPr>
            <a:r>
              <a:t>已完成主路径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4965192"/>
            <a:ext cx="4800600" cy="676656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900" b="0">
                <a:solidFill>
                  <a:srgbClr val="475467"/>
                </a:solidFill>
                <a:latin typeface="Microsoft YaHei"/>
              </a:defRPr>
            </a:pPr>
            <a:r>
              <a:t>TCB 聚合执行上下文、地址空间、fd 表、信号状态和父子关系；ThreadGroup 区分 TGID/TID，支撑 fork/clone/execve/wait。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0" y="4572000"/>
            <a:ext cx="507492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17920" y="4572000"/>
            <a:ext cx="64008" cy="1097280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55080" y="4663440"/>
            <a:ext cx="4800600" cy="25603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150" b="1">
                <a:solidFill>
                  <a:srgbClr val="202124"/>
                </a:solidFill>
                <a:latin typeface="Microsoft YaHei"/>
              </a:defRPr>
            </a:pPr>
            <a:r>
              <a:t>当前关注点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5080" y="4965192"/>
            <a:ext cx="4800600" cy="676656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900" b="0">
                <a:solidFill>
                  <a:srgbClr val="475467"/>
                </a:solidFill>
                <a:latin typeface="Microsoft YaHei"/>
              </a:defRPr>
            </a:pPr>
            <a:r>
              <a:t>线程组退出、clear_child_tid、robust list 和 futex 交互仍是长测稳定性的重点。</a:t>
            </a:r>
          </a:p>
        </p:txBody>
      </p:sp>
      <p:pic>
        <p:nvPicPr>
          <p:cNvPr id="30" name="Picture 29" descr="task-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9587" y="1170432"/>
            <a:ext cx="8732520" cy="349300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6446520"/>
            <a:ext cx="1325880" cy="201168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r">
              <a:defRPr sz="850" b="0">
                <a:solidFill>
                  <a:srgbClr val="667085"/>
                </a:solidFill>
                <a:latin typeface="Microsoft YaHei"/>
              </a:defRPr>
            </a:pPr>
            <a:r>
              <a:t>11 /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47472"/>
            <a:ext cx="9509760" cy="384048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2200" b="1">
                <a:solidFill>
                  <a:srgbClr val="202124"/>
                </a:solidFill>
                <a:latin typeface="Microsoft YaHei"/>
              </a:defRPr>
            </a:pPr>
            <a:r>
              <a:t>调度、阻塞与生命周期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768096"/>
            <a:ext cx="10424160" cy="274320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019" b="0">
                <a:solidFill>
                  <a:srgbClr val="667085"/>
                </a:solidFill>
                <a:latin typeface="Microsoft YaHei"/>
              </a:defRPr>
            </a:pPr>
            <a:r>
              <a:t>FIFO 调度队列和等待路径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434840" y="4663440"/>
            <a:ext cx="672084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434840" y="4663440"/>
            <a:ext cx="64008" cy="1005840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72000" y="4754879"/>
            <a:ext cx="6446520" cy="25603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150" b="1">
                <a:solidFill>
                  <a:srgbClr val="202124"/>
                </a:solidFill>
                <a:latin typeface="Microsoft YaHei"/>
              </a:defRPr>
            </a:pPr>
            <a:r>
              <a:t>生命周期边界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72000" y="5056631"/>
            <a:ext cx="6446520" cy="585216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880" b="0">
                <a:solidFill>
                  <a:srgbClr val="475467"/>
                </a:solidFill>
                <a:latin typeface="Microsoft YaHei"/>
              </a:defRPr>
            </a:pPr>
            <a:r>
              <a:t>普通子进程退出后保留退出码和元数据，直到父进程 wait4 回收；线程退出还需要清理 clear_child_tid 并执行 futex wake。</a:t>
            </a:r>
          </a:p>
        </p:txBody>
      </p:sp>
      <p:pic>
        <p:nvPicPr>
          <p:cNvPr id="43" name="Picture 42" descr="scheduler-queu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2427" y="1417320"/>
            <a:ext cx="9006840" cy="2448735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4434840" y="3767328"/>
            <a:ext cx="57150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475467"/>
                </a:solidFill>
                <a:latin typeface="Microsoft YaHei"/>
              </a:defRPr>
            </a:pPr>
            <a:r>
              <a:t>调度队列图来自 scheduler-queues.svg：ready_queue、Processor 与 blocked_queue 之间只表达任务流转，不混入具体系统调用细节。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6446520"/>
            <a:ext cx="1325880" cy="201168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r">
              <a:defRPr sz="850" b="0">
                <a:solidFill>
                  <a:srgbClr val="667085"/>
                </a:solidFill>
                <a:latin typeface="Microsoft YaHei"/>
              </a:defRPr>
            </a:pPr>
            <a:r>
              <a:t>12 /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47472"/>
            <a:ext cx="9509760" cy="384048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2200" b="1">
                <a:solidFill>
                  <a:srgbClr val="202124"/>
                </a:solidFill>
                <a:latin typeface="Microsoft YaHei"/>
              </a:defRPr>
            </a:pPr>
            <a:r>
              <a:t>功能完成度总览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768096"/>
            <a:ext cx="10424160" cy="274320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019" b="0">
                <a:solidFill>
                  <a:srgbClr val="667085"/>
                </a:solidFill>
                <a:latin typeface="Microsoft YaHei"/>
              </a:defRPr>
            </a:pPr>
            <a:r>
              <a:t>以最终源码和全量 LTP 报告衡量主路径成熟度</a:t>
            </a:r>
          </a:p>
        </p:txBody>
      </p:sp>
      <p:sp>
        <p:nvSpPr>
          <p:cNvPr id="7" name="Rectangle 6"/>
          <p:cNvSpPr/>
          <p:nvPr/>
        </p:nvSpPr>
        <p:spPr>
          <a:xfrm>
            <a:off x="530352" y="1060704"/>
            <a:ext cx="1143000" cy="32004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234440"/>
            <a:ext cx="4114800" cy="201168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980" b="1">
                <a:solidFill>
                  <a:srgbClr val="202124"/>
                </a:solidFill>
                <a:latin typeface="Microsoft YaHei"/>
              </a:defRPr>
            </a:pPr>
            <a:r>
              <a:t>系统调用分发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1499616"/>
            <a:ext cx="4114800" cy="128016"/>
          </a:xfrm>
          <a:prstGeom prst="roundRect">
            <a:avLst/>
          </a:prstGeom>
          <a:solidFill>
            <a:srgbClr val="EB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68680" y="1499616"/>
            <a:ext cx="4114800" cy="128016"/>
          </a:xfrm>
          <a:prstGeom prst="roundRect">
            <a:avLst/>
          </a:prstGeom>
          <a:solidFill>
            <a:srgbClr val="1296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56632" y="1417320"/>
            <a:ext cx="502920" cy="201168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800" b="1">
                <a:solidFill>
                  <a:srgbClr val="129675"/>
                </a:solidFill>
                <a:latin typeface="Microsoft YaHei"/>
              </a:defRPr>
            </a:pPr>
            <a:r>
              <a:t>100.0%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682496"/>
            <a:ext cx="4526280" cy="274320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780" b="0">
                <a:solidFill>
                  <a:srgbClr val="667085"/>
                </a:solidFill>
                <a:latin typeface="Microsoft YaHei"/>
              </a:defRPr>
            </a:pPr>
            <a:r>
              <a:t>216 个 dispatch arm 一一对应。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1234440"/>
            <a:ext cx="4114800" cy="201168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980" b="1">
                <a:solidFill>
                  <a:srgbClr val="202124"/>
                </a:solidFill>
                <a:latin typeface="Microsoft YaHei"/>
              </a:defRPr>
            </a:pPr>
            <a:r>
              <a:t>文件系统与 fd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499616"/>
            <a:ext cx="4114800" cy="128016"/>
          </a:xfrm>
          <a:prstGeom prst="roundRect">
            <a:avLst/>
          </a:prstGeom>
          <a:solidFill>
            <a:srgbClr val="EB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309360" y="1499616"/>
            <a:ext cx="3867911" cy="128016"/>
          </a:xfrm>
          <a:prstGeom prst="roundRect">
            <a:avLst/>
          </a:prstGeom>
          <a:solidFill>
            <a:srgbClr val="2D6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497312" y="1417320"/>
            <a:ext cx="502920" cy="201168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800" b="1">
                <a:solidFill>
                  <a:srgbClr val="2D64E6"/>
                </a:solidFill>
                <a:latin typeface="Microsoft YaHei"/>
              </a:defRPr>
            </a:pPr>
            <a:r>
              <a:t>94.0%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1682496"/>
            <a:ext cx="4526280" cy="274320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780" b="0">
                <a:solidFill>
                  <a:srgbClr val="667085"/>
                </a:solidFill>
                <a:latin typeface="Microsoft YaHei"/>
              </a:defRPr>
            </a:pPr>
            <a:r>
              <a:t>剩余差异集中在文件/I/O 边界。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2377440"/>
            <a:ext cx="4114800" cy="201168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980" b="1">
                <a:solidFill>
                  <a:srgbClr val="202124"/>
                </a:solidFill>
                <a:latin typeface="Microsoft YaHei"/>
              </a:defRPr>
            </a:pPr>
            <a:r>
              <a:t>进程/线程/调度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8680" y="2642616"/>
            <a:ext cx="4114800" cy="128016"/>
          </a:xfrm>
          <a:prstGeom prst="roundRect">
            <a:avLst/>
          </a:prstGeom>
          <a:solidFill>
            <a:srgbClr val="EB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68680" y="2642616"/>
            <a:ext cx="3909059" cy="128016"/>
          </a:xfrm>
          <a:prstGeom prst="roundRect">
            <a:avLst/>
          </a:prstGeom>
          <a:solidFill>
            <a:srgbClr val="1296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56632" y="2560320"/>
            <a:ext cx="502920" cy="201168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800" b="1">
                <a:solidFill>
                  <a:srgbClr val="129675"/>
                </a:solidFill>
                <a:latin typeface="Microsoft YaHei"/>
              </a:defRPr>
            </a:pPr>
            <a:r>
              <a:t>95.0%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2825496"/>
            <a:ext cx="4526280" cy="274320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780" b="0">
                <a:solidFill>
                  <a:srgbClr val="667085"/>
                </a:solidFill>
                <a:latin typeface="Microsoft YaHei"/>
              </a:defRPr>
            </a:pPr>
            <a:r>
              <a:t>fork/clone/exec/wait/futex 主路径可用。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2377440"/>
            <a:ext cx="4114800" cy="201168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980" b="1">
                <a:solidFill>
                  <a:srgbClr val="202124"/>
                </a:solidFill>
                <a:latin typeface="Microsoft YaHei"/>
              </a:defRPr>
            </a:pPr>
            <a:r>
              <a:t>内存管理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2642616"/>
            <a:ext cx="4114800" cy="128016"/>
          </a:xfrm>
          <a:prstGeom prst="roundRect">
            <a:avLst/>
          </a:prstGeom>
          <a:solidFill>
            <a:srgbClr val="EB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09360" y="2642616"/>
            <a:ext cx="3826764" cy="128016"/>
          </a:xfrm>
          <a:prstGeom prst="roundRect">
            <a:avLst/>
          </a:prstGeom>
          <a:solidFill>
            <a:srgbClr val="704C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497312" y="2560320"/>
            <a:ext cx="502920" cy="201168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800" b="1">
                <a:solidFill>
                  <a:srgbClr val="704CB6"/>
                </a:solidFill>
                <a:latin typeface="Microsoft YaHei"/>
              </a:defRPr>
            </a:pPr>
            <a:r>
              <a:t>93.0%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2825496"/>
            <a:ext cx="4526280" cy="274320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780" b="0">
                <a:solidFill>
                  <a:srgbClr val="667085"/>
                </a:solidFill>
                <a:latin typeface="Microsoft YaHei"/>
              </a:defRPr>
            </a:pPr>
            <a:r>
              <a:t>ELF、mmap、COW、双架构页表稳定。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3520440"/>
            <a:ext cx="4114800" cy="201168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980" b="1">
                <a:solidFill>
                  <a:srgbClr val="202124"/>
                </a:solidFill>
                <a:latin typeface="Microsoft YaHei"/>
              </a:defRPr>
            </a:pPr>
            <a:r>
              <a:t>时间与 special fd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68680" y="3785615"/>
            <a:ext cx="4114800" cy="128016"/>
          </a:xfrm>
          <a:prstGeom prst="roundRect">
            <a:avLst/>
          </a:prstGeom>
          <a:solidFill>
            <a:srgbClr val="EB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68680" y="3785615"/>
            <a:ext cx="3950208" cy="128016"/>
          </a:xfrm>
          <a:prstGeom prst="roundRect">
            <a:avLst/>
          </a:prstGeom>
          <a:solidFill>
            <a:srgbClr val="1296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56632" y="3703320"/>
            <a:ext cx="502920" cy="201168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800" b="1">
                <a:solidFill>
                  <a:srgbClr val="129675"/>
                </a:solidFill>
                <a:latin typeface="Microsoft YaHei"/>
              </a:defRPr>
            </a:pPr>
            <a:r>
              <a:t>96.0%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" y="3968496"/>
            <a:ext cx="4526280" cy="274320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780" b="0">
                <a:solidFill>
                  <a:srgbClr val="667085"/>
                </a:solidFill>
                <a:latin typeface="Microsoft YaHei"/>
              </a:defRPr>
            </a:pPr>
            <a:r>
              <a:t>timerfd、epoll、eventfd 等接入 fd。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9360" y="3520440"/>
            <a:ext cx="4114800" cy="201168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980" b="1">
                <a:solidFill>
                  <a:srgbClr val="202124"/>
                </a:solidFill>
                <a:latin typeface="Microsoft YaHei"/>
              </a:defRPr>
            </a:pPr>
            <a:r>
              <a:t>网络回环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309360" y="3785615"/>
            <a:ext cx="4114800" cy="128016"/>
          </a:xfrm>
          <a:prstGeom prst="roundRect">
            <a:avLst/>
          </a:prstGeom>
          <a:solidFill>
            <a:srgbClr val="EB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309360" y="3785615"/>
            <a:ext cx="3621024" cy="128016"/>
          </a:xfrm>
          <a:prstGeom prst="round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497312" y="3703320"/>
            <a:ext cx="502920" cy="201168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800" b="1">
                <a:solidFill>
                  <a:srgbClr val="F58220"/>
                </a:solidFill>
                <a:latin typeface="Microsoft YaHei"/>
              </a:defRPr>
            </a:pPr>
            <a:r>
              <a:t>88.0%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09360" y="3968496"/>
            <a:ext cx="4526280" cy="274320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780" b="0">
                <a:solidFill>
                  <a:srgbClr val="667085"/>
                </a:solidFill>
                <a:latin typeface="Microsoft YaHei"/>
              </a:defRPr>
            </a:pPr>
            <a:r>
              <a:t>IPv4 TCP/UDP 回环；真实网卡暂未接入。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68680" y="5074920"/>
            <a:ext cx="10378440" cy="685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68680" y="5074920"/>
            <a:ext cx="64008" cy="685800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05839" y="5166359"/>
            <a:ext cx="10104119" cy="25603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120" b="1">
                <a:solidFill>
                  <a:srgbClr val="202124"/>
                </a:solidFill>
                <a:latin typeface="Microsoft YaHei"/>
              </a:defRPr>
            </a:pPr>
            <a:r>
              <a:t>口径说明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5839" y="5468112"/>
            <a:ext cx="10104119" cy="265176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880" b="0">
                <a:solidFill>
                  <a:srgbClr val="475467"/>
                </a:solidFill>
                <a:latin typeface="Microsoft YaHei"/>
              </a:defRPr>
            </a:pPr>
            <a:r>
              <a:t>这里是汇报用主路径成熟度；真实验证看 LTP 断言统计和 compare CSV。四组 LTP 断言通过率为 96.91%-97.63%。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6446520"/>
            <a:ext cx="1325880" cy="201168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r">
              <a:defRPr sz="850" b="0">
                <a:solidFill>
                  <a:srgbClr val="667085"/>
                </a:solidFill>
                <a:latin typeface="Microsoft YaHei"/>
              </a:defRPr>
            </a:pPr>
            <a:r>
              <a:rPr>
                <a:latin typeface="Microsoft YaHei"/>
              </a:rPr>
              <a:t>13 /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47472"/>
            <a:ext cx="9144000" cy="411480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2250" b="1">
                <a:solidFill>
                  <a:srgbClr val="202124"/>
                </a:solidFill>
                <a:latin typeface="Microsoft YaHei"/>
              </a:defRPr>
            </a:pPr>
            <a:r>
              <a:rPr>
                <a:latin typeface="Microsoft YaHei"/>
              </a:rPr>
              <a:t>文件系统模块完成度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768096"/>
            <a:ext cx="10515600" cy="310896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050" b="0">
                <a:solidFill>
                  <a:srgbClr val="667085"/>
                </a:solidFill>
                <a:latin typeface="Microsoft YaHei"/>
              </a:defRPr>
            </a:pPr>
            <a:r>
              <a:rPr>
                <a:latin typeface="Microsoft YaHei"/>
              </a:rPr>
              <a:t>VFS 抽象支撑常规文件、目录、procfs 和 devfs</a:t>
            </a:r>
          </a:p>
        </p:txBody>
      </p:sp>
      <p:sp>
        <p:nvSpPr>
          <p:cNvPr id="7" name="Rectangle 6"/>
          <p:cNvSpPr/>
          <p:nvPr/>
        </p:nvSpPr>
        <p:spPr>
          <a:xfrm>
            <a:off x="530352" y="1069848"/>
            <a:ext cx="1143000" cy="32004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85800" y="1280160"/>
            <a:ext cx="5303520" cy="4800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1280160"/>
            <a:ext cx="68580" cy="4800600"/>
          </a:xfrm>
          <a:prstGeom prst="rect">
            <a:avLst/>
          </a:prstGeom>
          <a:solidFill>
            <a:srgbClr val="2D6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2104" y="1389888"/>
            <a:ext cx="5029200" cy="25603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250" b="1">
                <a:solidFill>
                  <a:srgbClr val="202124"/>
                </a:solidFill>
                <a:latin typeface="Microsoft YaHei"/>
              </a:defRPr>
            </a:pPr>
            <a:r>
              <a:rPr>
                <a:latin typeface="Microsoft YaHei"/>
              </a:rPr>
              <a:t>VFS 与后端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1783080"/>
            <a:ext cx="4709160" cy="3977639"/>
          </a:xfrm>
          <a:prstGeom prst="rect">
            <a:avLst/>
          </a:prstGeom>
          <a:noFill/>
        </p:spPr>
        <p:txBody>
          <a:bodyPr wrap="square" lIns="73152" rIns="27432">
            <a:spAutoFit/>
          </a:bodyPr>
          <a:lstStyle/>
          <a:p>
            <a:pPr marL="210000" hanging="105000">
              <a:spcAft>
                <a:spcPts val="500"/>
              </a:spcAft>
              <a:defRPr sz="1019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inode/dentry/file/superblock 抽象统一常规文件和特殊文件</a:t>
            </a:r>
          </a:p>
          <a:p>
            <a:pPr marL="210000" hanging="105000">
              <a:spcAft>
                <a:spcPts val="500"/>
              </a:spcAft>
              <a:defRPr sz="1019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Ext4 通过 lwext4_rust 和 Disk 适配层接入块设备</a:t>
            </a:r>
          </a:p>
          <a:p>
            <a:pPr marL="210000" hanging="105000">
              <a:spcAft>
                <a:spcPts val="500"/>
              </a:spcAft>
              <a:defRPr sz="1019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procfs 动态生成 cpuinfo、mounts、meminfo、status 等兼容入口</a:t>
            </a:r>
          </a:p>
          <a:p>
            <a:pPr marL="210000" hanging="105000">
              <a:spcAft>
                <a:spcPts val="500"/>
              </a:spcAft>
              <a:defRPr sz="1019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devfs 暴露 null、zero、random、misc/rtc、loop-control、loop0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280160"/>
            <a:ext cx="5303520" cy="4800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1280160"/>
            <a:ext cx="68580" cy="4800600"/>
          </a:xfrm>
          <a:prstGeom prst="rect">
            <a:avLst/>
          </a:prstGeom>
          <a:solidFill>
            <a:srgbClr val="1296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9944" y="1389888"/>
            <a:ext cx="5029200" cy="25603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250" b="1">
                <a:solidFill>
                  <a:srgbClr val="202124"/>
                </a:solidFill>
                <a:latin typeface="Microsoft YaHei"/>
              </a:defRPr>
            </a:pPr>
            <a:r>
              <a:rPr>
                <a:latin typeface="Microsoft YaHei"/>
              </a:rPr>
              <a:t>需要继续强化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1783080"/>
            <a:ext cx="4709160" cy="3977639"/>
          </a:xfrm>
          <a:prstGeom prst="rect">
            <a:avLst/>
          </a:prstGeom>
          <a:noFill/>
        </p:spPr>
        <p:txBody>
          <a:bodyPr wrap="square" lIns="73152" rIns="27432">
            <a:spAutoFit/>
          </a:bodyPr>
          <a:lstStyle/>
          <a:p>
            <a:pPr marL="210000" hanging="105000">
              <a:spcAft>
                <a:spcPts val="500"/>
              </a:spcAft>
              <a:defRPr sz="1019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路径解析中的权限、软链接、AT_* 标志和错误码细节</a:t>
            </a:r>
          </a:p>
          <a:p>
            <a:pPr marL="210000" hanging="105000">
              <a:spcAft>
                <a:spcPts val="500"/>
              </a:spcAft>
              <a:defRPr sz="1019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page cache 与 dentry cache 在目录修改和写回路径中的一致性</a:t>
            </a:r>
          </a:p>
          <a:p>
            <a:pPr marL="210000" hanging="105000">
              <a:spcAft>
                <a:spcPts val="500"/>
              </a:spcAft>
              <a:defRPr sz="1019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xattr、mount、rename/link/unlink 等复杂边界</a:t>
            </a:r>
          </a:p>
          <a:p>
            <a:pPr marL="210000" hanging="105000">
              <a:spcAft>
                <a:spcPts val="500"/>
              </a:spcAft>
              <a:defRPr sz="1019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长测下 Ext4 写入、truncate 和目录项更新稳定性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6446520"/>
            <a:ext cx="1325880" cy="201168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r">
              <a:defRPr sz="850" b="0">
                <a:solidFill>
                  <a:srgbClr val="667085"/>
                </a:solidFill>
                <a:latin typeface="Microsoft YaHei"/>
              </a:defRPr>
            </a:pPr>
            <a:r>
              <a:t>14 /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47472"/>
            <a:ext cx="9326880" cy="411480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2250" b="1">
                <a:solidFill>
                  <a:srgbClr val="202124"/>
                </a:solidFill>
                <a:latin typeface="Microsoft YaHei"/>
              </a:defRPr>
            </a:pPr>
            <a:r>
              <a:t>系统调用与 fd 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768096"/>
            <a:ext cx="10515600" cy="310896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050" b="0">
                <a:solidFill>
                  <a:srgbClr val="667085"/>
                </a:solidFill>
                <a:latin typeface="Microsoft YaHei"/>
              </a:defRPr>
            </a:pPr>
            <a:r>
              <a:t>最终版 syscall 分发规模与实现分布</a:t>
            </a:r>
          </a:p>
        </p:txBody>
      </p:sp>
      <p:sp>
        <p:nvSpPr>
          <p:cNvPr id="7" name="Rectangle 6"/>
          <p:cNvSpPr/>
          <p:nvPr/>
        </p:nvSpPr>
        <p:spPr>
          <a:xfrm>
            <a:off x="530352" y="1069848"/>
            <a:ext cx="1143000" cy="32004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85800" y="1234440"/>
            <a:ext cx="3429000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1234440"/>
            <a:ext cx="68580" cy="4526280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2104" y="1344168"/>
            <a:ext cx="3154680" cy="25603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300" b="1">
                <a:solidFill>
                  <a:srgbClr val="202124"/>
                </a:solidFill>
                <a:latin typeface="Microsoft YaHei"/>
              </a:defRPr>
            </a:pPr>
            <a:r>
              <a:t>分发规模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" y="1673352"/>
            <a:ext cx="3154680" cy="4050791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050" b="0">
                <a:solidFill>
                  <a:srgbClr val="475467"/>
                </a:solidFill>
                <a:latin typeface="Microsoft YaHei"/>
              </a:defRPr>
            </a:pPr>
            <a:r>
              <a:t>syscall/mod.rs 维护 216 个 Linux syscall 分发入口。分发层负责 syscall id、参数数组、返回值和 errno 的统一出口。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234440"/>
            <a:ext cx="3429000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89120" y="1234440"/>
            <a:ext cx="68580" cy="4526280"/>
          </a:xfrm>
          <a:prstGeom prst="rect">
            <a:avLst/>
          </a:prstGeom>
          <a:solidFill>
            <a:srgbClr val="2D6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35424" y="1344168"/>
            <a:ext cx="3154680" cy="25603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300" b="1">
                <a:solidFill>
                  <a:srgbClr val="202124"/>
                </a:solidFill>
                <a:latin typeface="Microsoft YaHei"/>
              </a:defRPr>
            </a:pPr>
            <a:r>
              <a:t>实现分布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35424" y="1673352"/>
            <a:ext cx="3154680" cy="4050791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050" b="0">
                <a:solidFill>
                  <a:srgbClr val="475467"/>
                </a:solidFill>
                <a:latin typeface="Microsoft YaHei"/>
              </a:defRPr>
            </a:pPr>
            <a:r>
              <a:t>fs.rs 73 个入口，process.rs 56 个入口，special_fd.rs 20 个入口，net.rs 18 个入口，time.rs 17 个入口，signal.rs 12 个入口。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1234440"/>
            <a:ext cx="3429000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92440" y="1234440"/>
            <a:ext cx="68580" cy="4526280"/>
          </a:xfrm>
          <a:prstGeom prst="rect">
            <a:avLst/>
          </a:prstGeom>
          <a:solidFill>
            <a:srgbClr val="1296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38744" y="1344168"/>
            <a:ext cx="3154680" cy="25603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300" b="1">
                <a:solidFill>
                  <a:srgbClr val="202124"/>
                </a:solidFill>
                <a:latin typeface="Microsoft YaHei"/>
              </a:defRPr>
            </a:pPr>
            <a:r>
              <a:t>fd 资源模型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1673352"/>
            <a:ext cx="3154680" cy="4050791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050" b="0">
                <a:solidFill>
                  <a:srgbClr val="475467"/>
                </a:solidFill>
                <a:latin typeface="Microsoft YaHei"/>
              </a:defRPr>
            </a:pPr>
            <a:r>
              <a:t>普通文件、目录、pipe、socket、timerfd、eventfd、epoll、stdio 和 devfs 文件都通过 FileOp 进入 read/write/poll/close 路径。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6446520"/>
            <a:ext cx="1325880" cy="201168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r">
              <a:defRPr sz="850" b="0">
                <a:solidFill>
                  <a:srgbClr val="667085"/>
                </a:solidFill>
                <a:latin typeface="Microsoft YaHei"/>
              </a:defRPr>
            </a:pPr>
            <a:r>
              <a:rPr>
                <a:latin typeface="Microsoft YaHei"/>
              </a:rPr>
              <a:t>15 /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47472"/>
            <a:ext cx="9144000" cy="411480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2250" b="1">
                <a:solidFill>
                  <a:srgbClr val="202124"/>
                </a:solidFill>
                <a:latin typeface="Microsoft YaHei"/>
              </a:defRPr>
            </a:pPr>
            <a:r>
              <a:rPr>
                <a:latin typeface="Microsoft YaHei"/>
              </a:rPr>
              <a:t>信号处理模块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768096"/>
            <a:ext cx="10515600" cy="310896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050" b="0">
                <a:solidFill>
                  <a:srgbClr val="667085"/>
                </a:solidFill>
                <a:latin typeface="Microsoft YaHei"/>
              </a:defRPr>
            </a:pPr>
            <a:r>
              <a:rPr>
                <a:latin typeface="Microsoft YaHei"/>
              </a:rPr>
              <a:t>系统调用返回、缺页修复和定时器触发后统一检查信号</a:t>
            </a:r>
          </a:p>
        </p:txBody>
      </p:sp>
      <p:sp>
        <p:nvSpPr>
          <p:cNvPr id="7" name="Rectangle 6"/>
          <p:cNvSpPr/>
          <p:nvPr/>
        </p:nvSpPr>
        <p:spPr>
          <a:xfrm>
            <a:off x="530352" y="1069848"/>
            <a:ext cx="1143000" cy="32004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234440"/>
            <a:ext cx="3429000" cy="4251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234440"/>
            <a:ext cx="68580" cy="4251960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344168"/>
            <a:ext cx="3154680" cy="25603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250" b="1">
                <a:solidFill>
                  <a:srgbClr val="202124"/>
                </a:solidFill>
                <a:latin typeface="Microsoft YaHei"/>
              </a:defRPr>
            </a:pPr>
            <a:r>
              <a:rPr>
                <a:latin typeface="Microsoft YaHei"/>
              </a:rPr>
              <a:t>信号状态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1673352"/>
            <a:ext cx="3154680" cy="377647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969" b="0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每个任务维护 pending、mask、handler/action 等状态，支持默认、忽略和用户自定义处理。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234440"/>
            <a:ext cx="3429000" cy="4251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89120" y="1234440"/>
            <a:ext cx="68580" cy="4251960"/>
          </a:xfrm>
          <a:prstGeom prst="rect">
            <a:avLst/>
          </a:prstGeom>
          <a:solidFill>
            <a:srgbClr val="2D6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35424" y="1344168"/>
            <a:ext cx="3154680" cy="25603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250" b="1">
                <a:solidFill>
                  <a:srgbClr val="202124"/>
                </a:solidFill>
                <a:latin typeface="Microsoft YaHei"/>
              </a:defRPr>
            </a:pPr>
            <a:r>
              <a:rPr>
                <a:latin typeface="Microsoft YaHei"/>
              </a:rPr>
              <a:t>递送路径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35424" y="1673352"/>
            <a:ext cx="3154680" cy="377647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969" b="0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返回用户态前检查未屏蔽信号；若需要用户 handler，内核构造用户栈帧并修改 TrapContext。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1234440"/>
            <a:ext cx="3429000" cy="4251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1234440"/>
            <a:ext cx="68580" cy="4251960"/>
          </a:xfrm>
          <a:prstGeom prst="rect">
            <a:avLst/>
          </a:prstGeom>
          <a:solidFill>
            <a:srgbClr val="1296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93024" y="1344168"/>
            <a:ext cx="3154680" cy="25603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250" b="1">
                <a:solidFill>
                  <a:srgbClr val="202124"/>
                </a:solidFill>
                <a:latin typeface="Microsoft YaHei"/>
              </a:defRPr>
            </a:pPr>
            <a:r>
              <a:rPr>
                <a:latin typeface="Microsoft YaHei"/>
              </a:rPr>
              <a:t>返回路径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93024" y="1673352"/>
            <a:ext cx="3154680" cy="377647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969" b="0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用户 handler 结束后通过 sigreturn 跳板回到内核，恢复原上下文和信号屏蔽状态。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6446520"/>
            <a:ext cx="1325880" cy="201168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r">
              <a:defRPr sz="850" b="0">
                <a:solidFill>
                  <a:srgbClr val="667085"/>
                </a:solidFill>
                <a:latin typeface="Microsoft YaHei"/>
              </a:defRPr>
            </a:pPr>
            <a:r>
              <a:rPr>
                <a:latin typeface="Microsoft YaHei"/>
              </a:rPr>
              <a:t>16 /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47472"/>
            <a:ext cx="9144000" cy="411480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2250" b="1">
                <a:solidFill>
                  <a:srgbClr val="202124"/>
                </a:solidFill>
                <a:latin typeface="Microsoft YaHei"/>
              </a:defRPr>
            </a:pPr>
            <a:r>
              <a:rPr>
                <a:latin typeface="Microsoft YaHei"/>
              </a:rPr>
              <a:t>IPC 与同步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768096"/>
            <a:ext cx="10515600" cy="310896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050" b="0">
                <a:solidFill>
                  <a:srgbClr val="667085"/>
                </a:solidFill>
                <a:latin typeface="Microsoft YaHei"/>
              </a:defRPr>
            </a:pPr>
            <a:r>
              <a:rPr>
                <a:latin typeface="Microsoft YaHei"/>
              </a:rPr>
              <a:t>围绕 shell、pthread 和 LTP 同步测例补齐</a:t>
            </a:r>
          </a:p>
        </p:txBody>
      </p:sp>
      <p:sp>
        <p:nvSpPr>
          <p:cNvPr id="7" name="Rectangle 6"/>
          <p:cNvSpPr/>
          <p:nvPr/>
        </p:nvSpPr>
        <p:spPr>
          <a:xfrm>
            <a:off x="530352" y="1069848"/>
            <a:ext cx="1143000" cy="32004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85800" y="1280160"/>
            <a:ext cx="5303520" cy="4800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1280160"/>
            <a:ext cx="68580" cy="4800600"/>
          </a:xfrm>
          <a:prstGeom prst="rect">
            <a:avLst/>
          </a:prstGeom>
          <a:solidFill>
            <a:srgbClr val="2D6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2104" y="1389888"/>
            <a:ext cx="5029200" cy="25603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250" b="1">
                <a:solidFill>
                  <a:srgbClr val="202124"/>
                </a:solidFill>
                <a:latin typeface="Microsoft YaHei"/>
              </a:defRPr>
            </a:pPr>
            <a:r>
              <a:rPr>
                <a:latin typeface="Microsoft YaHei"/>
              </a:rPr>
              <a:t>已覆盖能力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1783080"/>
            <a:ext cx="4709160" cy="3977639"/>
          </a:xfrm>
          <a:prstGeom prst="rect">
            <a:avLst/>
          </a:prstGeom>
          <a:noFill/>
        </p:spPr>
        <p:txBody>
          <a:bodyPr wrap="square" lIns="73152" rIns="27432">
            <a:spAutoFit/>
          </a:bodyPr>
          <a:lstStyle/>
          <a:p>
            <a:pPr marL="210000" hanging="105000">
              <a:spcAft>
                <a:spcPts val="500"/>
              </a:spcAft>
              <a:defRPr sz="1019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pipe/FIFO 支持读写端引用计数、阻塞和 poll 状态</a:t>
            </a:r>
          </a:p>
          <a:p>
            <a:pPr marL="210000" hanging="105000">
              <a:spcAft>
                <a:spcPts val="500"/>
              </a:spcAft>
              <a:defRPr sz="1019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futex 支持 wait/wake，服务 pthread 条件变量和线程同步</a:t>
            </a:r>
          </a:p>
          <a:p>
            <a:pPr marL="210000" hanging="105000">
              <a:spcAft>
                <a:spcPts val="500"/>
              </a:spcAft>
              <a:defRPr sz="1019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部分 SysV IPC 支持 shmget/shmat/shmctl 等共享内存路径</a:t>
            </a:r>
          </a:p>
          <a:p>
            <a:pPr marL="210000" hanging="105000">
              <a:spcAft>
                <a:spcPts val="500"/>
              </a:spcAft>
              <a:defRPr sz="1019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robust list 与 clear_child_tid 用于线程退出后的用户态同步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280160"/>
            <a:ext cx="5303520" cy="4800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1280160"/>
            <a:ext cx="68580" cy="4800600"/>
          </a:xfrm>
          <a:prstGeom prst="rect">
            <a:avLst/>
          </a:prstGeom>
          <a:solidFill>
            <a:srgbClr val="1296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9944" y="1389888"/>
            <a:ext cx="5029200" cy="25603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250" b="1">
                <a:solidFill>
                  <a:srgbClr val="202124"/>
                </a:solidFill>
                <a:latin typeface="Microsoft YaHei"/>
              </a:defRPr>
            </a:pPr>
            <a:r>
              <a:rPr>
                <a:latin typeface="Microsoft YaHei"/>
              </a:rPr>
              <a:t>后续重点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1783080"/>
            <a:ext cx="4709160" cy="3977639"/>
          </a:xfrm>
          <a:prstGeom prst="rect">
            <a:avLst/>
          </a:prstGeom>
          <a:noFill/>
        </p:spPr>
        <p:txBody>
          <a:bodyPr wrap="square" lIns="73152" rIns="27432">
            <a:spAutoFit/>
          </a:bodyPr>
          <a:lstStyle/>
          <a:p>
            <a:pPr marL="210000" hanging="105000">
              <a:spcAft>
                <a:spcPts val="500"/>
              </a:spcAft>
              <a:defRPr sz="1019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futex 复杂 op、超时、信号中断和竞争窗口</a:t>
            </a:r>
          </a:p>
          <a:p>
            <a:pPr marL="210000" hanging="105000">
              <a:spcAft>
                <a:spcPts val="500"/>
              </a:spcAft>
              <a:defRPr sz="1019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SysV IPC 权限、标志、生命周期和错误码细节</a:t>
            </a:r>
          </a:p>
          <a:p>
            <a:pPr marL="210000" hanging="105000">
              <a:spcAft>
                <a:spcPts val="500"/>
              </a:spcAft>
              <a:defRPr sz="1019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pipe/splice/sendfile 等 I/O 组合路径的边界</a:t>
            </a:r>
          </a:p>
          <a:p>
            <a:pPr marL="210000" hanging="105000">
              <a:spcAft>
                <a:spcPts val="500"/>
              </a:spcAft>
              <a:defRPr sz="1019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多线程密集退出和等待路径下的偶发状态残留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6446520"/>
            <a:ext cx="1325880" cy="201168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r">
              <a:defRPr sz="850" b="0">
                <a:solidFill>
                  <a:srgbClr val="667085"/>
                </a:solidFill>
                <a:latin typeface="Microsoft YaHei"/>
              </a:defRPr>
            </a:pPr>
            <a:r>
              <a:rPr>
                <a:latin typeface="Microsoft YaHei"/>
              </a:rPr>
              <a:t>17 /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47472"/>
            <a:ext cx="9144000" cy="411480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2250" b="1">
                <a:solidFill>
                  <a:srgbClr val="202124"/>
                </a:solidFill>
                <a:latin typeface="Microsoft YaHei"/>
              </a:defRPr>
            </a:pPr>
            <a:r>
              <a:rPr>
                <a:latin typeface="Microsoft YaHei"/>
              </a:rPr>
              <a:t>时间模块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768096"/>
            <a:ext cx="10515600" cy="310896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050" b="0">
                <a:solidFill>
                  <a:srgbClr val="667085"/>
                </a:solidFill>
                <a:latin typeface="Microsoft YaHei"/>
              </a:defRPr>
            </a:pPr>
            <a:r>
              <a:rPr>
                <a:latin typeface="Microsoft YaHei"/>
              </a:rPr>
              <a:t>多尺度时钟支撑 libc 时间接口和超时等待</a:t>
            </a:r>
          </a:p>
        </p:txBody>
      </p:sp>
      <p:sp>
        <p:nvSpPr>
          <p:cNvPr id="7" name="Rectangle 6"/>
          <p:cNvSpPr/>
          <p:nvPr/>
        </p:nvSpPr>
        <p:spPr>
          <a:xfrm>
            <a:off x="530352" y="1069848"/>
            <a:ext cx="1143000" cy="32004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85800" y="1234440"/>
            <a:ext cx="3383280" cy="4206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1234440"/>
            <a:ext cx="68580" cy="4206240"/>
          </a:xfrm>
          <a:prstGeom prst="rect">
            <a:avLst/>
          </a:prstGeom>
          <a:solidFill>
            <a:srgbClr val="1296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2104" y="1344168"/>
            <a:ext cx="3108960" cy="25603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250" b="1">
                <a:solidFill>
                  <a:srgbClr val="202124"/>
                </a:solidFill>
                <a:latin typeface="Microsoft YaHei"/>
              </a:defRPr>
            </a:pPr>
            <a:r>
              <a:rPr>
                <a:latin typeface="Microsoft YaHei"/>
              </a:rPr>
              <a:t>基础时间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" y="1673352"/>
            <a:ext cx="3108960" cy="373075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969" b="0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gettimeofday</a:t>
            </a:r>
            <a:br/>
            <a:r>
              <a:rPr>
                <a:latin typeface="Microsoft YaHei"/>
              </a:rPr>
              <a:t>clock_gettime</a:t>
            </a:r>
            <a:br/>
            <a:r>
              <a:rPr>
                <a:latin typeface="Microsoft YaHei"/>
              </a:rPr>
              <a:t>time / times</a:t>
            </a:r>
            <a:br/>
            <a:r>
              <a:rPr>
                <a:latin typeface="Microsoft YaHei"/>
              </a:rPr>
              <a:t>statx timestamp</a:t>
            </a:r>
            <a:br/>
            <a:r>
              <a:rPr>
                <a:latin typeface="Microsoft YaHei"/>
              </a:rPr>
              <a:t>硬件 tick 换算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34840" y="1234440"/>
            <a:ext cx="3383280" cy="4206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34840" y="1234440"/>
            <a:ext cx="68580" cy="4206240"/>
          </a:xfrm>
          <a:prstGeom prst="rect">
            <a:avLst/>
          </a:prstGeom>
          <a:solidFill>
            <a:srgbClr val="2D6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81144" y="1344168"/>
            <a:ext cx="3108960" cy="25603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250" b="1">
                <a:solidFill>
                  <a:srgbClr val="202124"/>
                </a:solidFill>
                <a:latin typeface="Microsoft YaHei"/>
              </a:defRPr>
            </a:pPr>
            <a:r>
              <a:rPr>
                <a:latin typeface="Microsoft YaHei"/>
              </a:rPr>
              <a:t>睡眠与超时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81144" y="1673352"/>
            <a:ext cx="3108960" cy="373075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969" b="0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nanosleep</a:t>
            </a:r>
            <a:br/>
            <a:r>
              <a:rPr>
                <a:latin typeface="Microsoft YaHei"/>
              </a:rPr>
              <a:t>clock_nanosleep</a:t>
            </a:r>
            <a:br/>
            <a:r>
              <a:rPr>
                <a:latin typeface="Microsoft YaHei"/>
              </a:rPr>
              <a:t>socket recv/send timeout</a:t>
            </a:r>
            <a:br/>
            <a:r>
              <a:rPr>
                <a:latin typeface="Microsoft YaHei"/>
              </a:rPr>
              <a:t>futex timeout</a:t>
            </a:r>
            <a:br/>
            <a:r>
              <a:rPr>
                <a:latin typeface="Microsoft YaHei"/>
              </a:rPr>
              <a:t>阻塞等待中的 timer check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79" y="1234440"/>
            <a:ext cx="3383280" cy="4206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83879" y="1234440"/>
            <a:ext cx="68580" cy="4206240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30183" y="1344168"/>
            <a:ext cx="3108960" cy="25603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250" b="1">
                <a:solidFill>
                  <a:srgbClr val="202124"/>
                </a:solidFill>
                <a:latin typeface="Microsoft YaHei"/>
              </a:defRPr>
            </a:pPr>
            <a:r>
              <a:rPr>
                <a:latin typeface="Microsoft YaHei"/>
              </a:rPr>
              <a:t>定时器接口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0183" y="1673352"/>
            <a:ext cx="3108960" cy="373075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969" b="0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alarm</a:t>
            </a:r>
            <a:br/>
            <a:r>
              <a:rPr>
                <a:latin typeface="Microsoft YaHei"/>
              </a:rPr>
              <a:t>setitimer/getitimer</a:t>
            </a:r>
            <a:br/>
            <a:r>
              <a:rPr>
                <a:latin typeface="Microsoft YaHei"/>
              </a:rPr>
              <a:t>POSIX timer</a:t>
            </a:r>
            <a:br/>
            <a:r>
              <a:rPr>
                <a:latin typeface="Microsoft YaHei"/>
              </a:rPr>
              <a:t>timerfd_create</a:t>
            </a:r>
            <a:br/>
            <a:r>
              <a:rPr>
                <a:latin typeface="Microsoft YaHei"/>
              </a:rPr>
              <a:t>timerfd_settime/read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6446520"/>
            <a:ext cx="1325880" cy="201168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r">
              <a:defRPr sz="850" b="0">
                <a:solidFill>
                  <a:srgbClr val="667085"/>
                </a:solidFill>
                <a:latin typeface="Microsoft YaHei"/>
              </a:defRPr>
            </a:pPr>
            <a:r>
              <a:rPr>
                <a:latin typeface="Microsoft YaHei"/>
              </a:rPr>
              <a:t>18 /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47472"/>
            <a:ext cx="9144000" cy="411480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2250" b="1">
                <a:solidFill>
                  <a:srgbClr val="202124"/>
                </a:solidFill>
                <a:latin typeface="Microsoft YaHei"/>
              </a:defRPr>
            </a:pPr>
            <a:r>
              <a:rPr>
                <a:latin typeface="Microsoft YaHei"/>
              </a:rPr>
              <a:t>网络模块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768096"/>
            <a:ext cx="10515600" cy="310896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050" b="0">
                <a:solidFill>
                  <a:srgbClr val="667085"/>
                </a:solidFill>
                <a:latin typeface="Microsoft YaHei"/>
              </a:defRPr>
            </a:pPr>
            <a:r>
              <a:rPr>
                <a:latin typeface="Microsoft YaHei"/>
              </a:rPr>
              <a:t>当前重点是 IPv4 本地回环和 socket ABI</a:t>
            </a:r>
          </a:p>
        </p:txBody>
      </p:sp>
      <p:sp>
        <p:nvSpPr>
          <p:cNvPr id="7" name="Rectangle 6"/>
          <p:cNvSpPr/>
          <p:nvPr/>
        </p:nvSpPr>
        <p:spPr>
          <a:xfrm>
            <a:off x="530352" y="1069848"/>
            <a:ext cx="1143000" cy="32004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77240" y="1234440"/>
            <a:ext cx="5074920" cy="4434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234440"/>
            <a:ext cx="68580" cy="4434840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" y="1344168"/>
            <a:ext cx="4800600" cy="25603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250" b="1">
                <a:solidFill>
                  <a:srgbClr val="202124"/>
                </a:solidFill>
                <a:latin typeface="Microsoft YaHei"/>
              </a:defRPr>
            </a:pPr>
            <a:r>
              <a:rPr>
                <a:latin typeface="Microsoft YaHei"/>
              </a:rPr>
              <a:t>完成内容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1673352"/>
            <a:ext cx="4800600" cy="395935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969" b="0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socket() 解析 AF_INET/AF_UNIX、SOCK_STREAM/SOCK_DGRAM 和 NONBLOCK/CLOEXEC；TCP/UDP 通过 smoltcp SocketSet 推进状态机；LoopbackDev 把发送包放入队列并在下一次 poll 作为接收包返回。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234440"/>
            <a:ext cx="5074920" cy="4434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1234440"/>
            <a:ext cx="68580" cy="4434840"/>
          </a:xfrm>
          <a:prstGeom prst="rect">
            <a:avLst/>
          </a:prstGeom>
          <a:solidFill>
            <a:srgbClr val="2D6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9944" y="1344168"/>
            <a:ext cx="4800600" cy="25603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250" b="1">
                <a:solidFill>
                  <a:srgbClr val="202124"/>
                </a:solidFill>
                <a:latin typeface="Microsoft YaHei"/>
              </a:defRPr>
            </a:pPr>
            <a:r>
              <a:rPr>
                <a:latin typeface="Microsoft YaHei"/>
              </a:rPr>
              <a:t>兼容边界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9944" y="1673352"/>
            <a:ext cx="4800600" cy="395935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969" b="0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支持 bind/connect/listen/accept/sendto/recvfrom/sendmsg/recvmsg 的主路径和常见 socket option。当前不接入真实网卡，IPv6/raw socket 等按语义返回不支持错误码。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6446520"/>
            <a:ext cx="1325880" cy="201168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r">
              <a:defRPr sz="850" b="0">
                <a:solidFill>
                  <a:srgbClr val="667085"/>
                </a:solidFill>
                <a:latin typeface="Microsoft YaHei"/>
              </a:defRPr>
            </a:pPr>
            <a:r>
              <a:rPr>
                <a:latin typeface="Microsoft YaHei"/>
              </a:rPr>
              <a:t>19 /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47472"/>
            <a:ext cx="9144000" cy="411480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2250" b="1">
                <a:solidFill>
                  <a:srgbClr val="202124"/>
                </a:solidFill>
                <a:latin typeface="Microsoft YaHei"/>
              </a:defRPr>
            </a:pPr>
            <a:r>
              <a:rPr>
                <a:latin typeface="Microsoft YaHei"/>
              </a:rPr>
              <a:t>设备与块 I/O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768096"/>
            <a:ext cx="10515600" cy="310896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050" b="0">
                <a:solidFill>
                  <a:srgbClr val="667085"/>
                </a:solidFill>
                <a:latin typeface="Microsoft YaHei"/>
              </a:defRPr>
            </a:pPr>
            <a:r>
              <a:rPr>
                <a:latin typeface="Microsoft YaHei"/>
              </a:rPr>
              <a:t>VirtIO block 支撑 Ext4，devfs 支撑用户态兼容入口</a:t>
            </a:r>
          </a:p>
        </p:txBody>
      </p:sp>
      <p:sp>
        <p:nvSpPr>
          <p:cNvPr id="7" name="Rectangle 6"/>
          <p:cNvSpPr/>
          <p:nvPr/>
        </p:nvSpPr>
        <p:spPr>
          <a:xfrm>
            <a:off x="530352" y="1069848"/>
            <a:ext cx="1143000" cy="32004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85800" y="1280160"/>
            <a:ext cx="5303520" cy="4800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1280160"/>
            <a:ext cx="68580" cy="4800600"/>
          </a:xfrm>
          <a:prstGeom prst="rect">
            <a:avLst/>
          </a:prstGeom>
          <a:solidFill>
            <a:srgbClr val="2D6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2104" y="1389888"/>
            <a:ext cx="5029200" cy="25603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250" b="1">
                <a:solidFill>
                  <a:srgbClr val="202124"/>
                </a:solidFill>
                <a:latin typeface="Microsoft YaHei"/>
              </a:defRPr>
            </a:pPr>
            <a:r>
              <a:rPr>
                <a:latin typeface="Microsoft YaHei"/>
              </a:rPr>
              <a:t>块设备路径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1783080"/>
            <a:ext cx="4709160" cy="3977639"/>
          </a:xfrm>
          <a:prstGeom prst="rect">
            <a:avLst/>
          </a:prstGeom>
          <a:noFill/>
        </p:spPr>
        <p:txBody>
          <a:bodyPr wrap="square" lIns="73152" rIns="27432">
            <a:spAutoFit/>
          </a:bodyPr>
          <a:lstStyle/>
          <a:p>
            <a:pPr marL="210000" hanging="105000">
              <a:spcAft>
                <a:spcPts val="500"/>
              </a:spcAft>
              <a:defRPr sz="1019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RISC-V 使用 VirtIO MMIO transport</a:t>
            </a:r>
          </a:p>
          <a:p>
            <a:pPr marL="210000" hanging="105000">
              <a:spcAft>
                <a:spcPts val="500"/>
              </a:spcAft>
              <a:defRPr sz="1019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LoongArch 通过 PCI 扫描找到 virtio-blk</a:t>
            </a:r>
          </a:p>
          <a:p>
            <a:pPr marL="210000" hanging="105000">
              <a:spcAft>
                <a:spcPts val="500"/>
              </a:spcAft>
              <a:defRPr sz="1019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VirtIoHalImpl 管理 DMA 页帧和虚实地址转换</a:t>
            </a:r>
          </a:p>
          <a:p>
            <a:pPr marL="210000" hanging="105000">
              <a:spcAft>
                <a:spcPts val="500"/>
              </a:spcAft>
              <a:defRPr sz="1019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Disk 适配层把连续读写转换为块读写，供 lwext4 使用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280160"/>
            <a:ext cx="5303520" cy="4800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1280160"/>
            <a:ext cx="68580" cy="4800600"/>
          </a:xfrm>
          <a:prstGeom prst="rect">
            <a:avLst/>
          </a:prstGeom>
          <a:solidFill>
            <a:srgbClr val="1296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9944" y="1389888"/>
            <a:ext cx="5029200" cy="25603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250" b="1">
                <a:solidFill>
                  <a:srgbClr val="202124"/>
                </a:solidFill>
                <a:latin typeface="Microsoft YaHei"/>
              </a:defRPr>
            </a:pPr>
            <a:r>
              <a:rPr>
                <a:latin typeface="Microsoft YaHei"/>
              </a:rPr>
              <a:t>设备文件路径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1783080"/>
            <a:ext cx="4709160" cy="3977639"/>
          </a:xfrm>
          <a:prstGeom prst="rect">
            <a:avLst/>
          </a:prstGeom>
          <a:noFill/>
        </p:spPr>
        <p:txBody>
          <a:bodyPr wrap="square" lIns="73152" rIns="27432">
            <a:spAutoFit/>
          </a:bodyPr>
          <a:lstStyle/>
          <a:p>
            <a:pPr marL="210000" hanging="105000">
              <a:spcAft>
                <a:spcPts val="500"/>
              </a:spcAft>
              <a:defRPr sz="1019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/dev/null、/dev/zero、/dev/random、/dev/urandom</a:t>
            </a:r>
          </a:p>
          <a:p>
            <a:pPr marL="210000" hanging="105000">
              <a:spcAft>
                <a:spcPts val="500"/>
              </a:spcAft>
              <a:defRPr sz="1019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/dev/misc/rtc 当前作为 RTC 兼容 stub</a:t>
            </a:r>
          </a:p>
          <a:p>
            <a:pPr marL="210000" hanging="105000">
              <a:spcAft>
                <a:spcPts val="500"/>
              </a:spcAft>
              <a:defRPr sz="1019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/dev/loop-control 查询可用 loop 设备</a:t>
            </a:r>
          </a:p>
          <a:p>
            <a:pPr marL="210000" hanging="105000">
              <a:spcAft>
                <a:spcPts val="500"/>
              </a:spcAft>
              <a:defRPr sz="1019">
                <a:solidFill>
                  <a:srgbClr val="475467"/>
                </a:solidFill>
                <a:latin typeface="Microsoft YaHei"/>
              </a:defRPr>
            </a:pPr>
            <a:r>
              <a:rPr>
                <a:latin typeface="Microsoft YaHei"/>
              </a:rPr>
              <a:t>/dev/loop0 通过 ioctl 绑定普通文件作为块设备后端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6446520"/>
            <a:ext cx="1325880" cy="201168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r">
              <a:defRPr sz="850" b="0">
                <a:solidFill>
                  <a:srgbClr val="667085"/>
                </a:solidFill>
                <a:latin typeface="Microsoft YaHei"/>
              </a:defRPr>
            </a:pPr>
            <a:r>
              <a:t>20 /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47472"/>
            <a:ext cx="9326880" cy="411480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2250" b="1">
                <a:solidFill>
                  <a:srgbClr val="202124"/>
                </a:solidFill>
                <a:latin typeface="Microsoft YaHei"/>
              </a:defRPr>
            </a:pPr>
            <a:r>
              <a:t>测试方法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768096"/>
            <a:ext cx="10515600" cy="310896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050" b="0">
                <a:solidFill>
                  <a:srgbClr val="667085"/>
                </a:solidFill>
                <a:latin typeface="Microsoft YaHei"/>
              </a:defRPr>
            </a:pPr>
            <a:r>
              <a:t>全量输出、逐用例报告和 Linux baseline 对比</a:t>
            </a:r>
          </a:p>
        </p:txBody>
      </p:sp>
      <p:sp>
        <p:nvSpPr>
          <p:cNvPr id="7" name="Rectangle 6"/>
          <p:cNvSpPr/>
          <p:nvPr/>
        </p:nvSpPr>
        <p:spPr>
          <a:xfrm>
            <a:off x="530352" y="1069848"/>
            <a:ext cx="1143000" cy="32004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85800" y="1234440"/>
            <a:ext cx="3383280" cy="4434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1234440"/>
            <a:ext cx="68580" cy="4434840"/>
          </a:xfrm>
          <a:prstGeom prst="rect">
            <a:avLst/>
          </a:prstGeom>
          <a:solidFill>
            <a:srgbClr val="2D6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2104" y="1344168"/>
            <a:ext cx="3108960" cy="25603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250" b="1">
                <a:solidFill>
                  <a:srgbClr val="202124"/>
                </a:solidFill>
                <a:latin typeface="Microsoft YaHei"/>
              </a:defRPr>
            </a:pPr>
            <a:r>
              <a:t>输入与平台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" y="1673352"/>
            <a:ext cx="3108960" cy="395935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960" b="0">
                <a:solidFill>
                  <a:srgbClr val="475467"/>
                </a:solidFill>
                <a:latin typeface="Microsoft YaHei"/>
              </a:defRPr>
            </a:pPr>
            <a:r>
              <a:t>rv-output.txt：RISC-V 64 全量测例输出</a:t>
            </a:r>
            <a:br/>
            <a:r>
              <a:t>la-output.txt：LoongArch 64 全量测例输出</a:t>
            </a:r>
            <a:br/>
            <a:r>
              <a:t>glibc + musl 双 libc 组合</a:t>
            </a:r>
            <a:br/>
            <a:r>
              <a:t>每个平台覆盖约 688 个 LTP case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34840" y="1234440"/>
            <a:ext cx="3383280" cy="4434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34840" y="1234440"/>
            <a:ext cx="68580" cy="4434840"/>
          </a:xfrm>
          <a:prstGeom prst="rect">
            <a:avLst/>
          </a:prstGeom>
          <a:solidFill>
            <a:srgbClr val="1296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81144" y="1344168"/>
            <a:ext cx="3108960" cy="25603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250" b="1">
                <a:solidFill>
                  <a:srgbClr val="202124"/>
                </a:solidFill>
                <a:latin typeface="Microsoft YaHei"/>
              </a:defRPr>
            </a:pPr>
            <a:r>
              <a:t>报告统计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81144" y="1673352"/>
            <a:ext cx="3108960" cy="395935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960" b="0">
                <a:solidFill>
                  <a:srgbClr val="475467"/>
                </a:solidFill>
                <a:latin typeface="Microsoft YaHei"/>
              </a:defRPr>
            </a:pPr>
            <a:r>
              <a:t>judge/local-report/ 生成逐用例 CSV</a:t>
            </a:r>
            <a:br/>
            <a:r>
              <a:t>记录 TPASS/TFAIL/TBROK/TCONF/WARN/ALL</a:t>
            </a:r>
            <a:br/>
            <a:r>
              <a:t>TOTAL 行作为汇报统计口径</a:t>
            </a:r>
            <a:br/>
            <a:r>
              <a:t>用于观察四组合通过率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79" y="1234440"/>
            <a:ext cx="3383280" cy="4434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83879" y="1234440"/>
            <a:ext cx="68580" cy="4434840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30183" y="1344168"/>
            <a:ext cx="3108960" cy="25603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250" b="1">
                <a:solidFill>
                  <a:srgbClr val="202124"/>
                </a:solidFill>
                <a:latin typeface="Microsoft YaHei"/>
              </a:defRPr>
            </a:pPr>
            <a:r>
              <a:t>差异分析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0183" y="1673352"/>
            <a:ext cx="3108960" cy="395935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960" b="0">
                <a:solidFill>
                  <a:srgbClr val="475467"/>
                </a:solidFill>
                <a:latin typeface="Microsoft YaHei"/>
              </a:defRPr>
            </a:pPr>
            <a:r>
              <a:t>judge/local-compare/ 与 Linux baseline 对比</a:t>
            </a:r>
            <a:br/>
            <a:r>
              <a:t>统计 missing/failed/partial/broken/skipped</a:t>
            </a:r>
            <a:br/>
            <a:r>
              <a:t>计算 lost_passed</a:t>
            </a:r>
            <a:br/>
            <a:r>
              <a:t>定位高收益修复项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8961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02124"/>
                </a:solidFill>
                <a:latin typeface="Microsoft YaHei"/>
              </a:rPr>
              <a:t>本地测试结果与性能观察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786384"/>
            <a:ext cx="9509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475467"/>
                </a:solidFill>
                <a:latin typeface="Microsoft YaHei"/>
              </a:rPr>
              <a:t>用例通过率、断言统计和网络吞吐分开呈现，避免不同统计口径混排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78440" y="6446520"/>
            <a:ext cx="1280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667085"/>
                </a:solidFill>
                <a:latin typeface="Microsoft YaHei"/>
              </a:rPr>
              <a:t>21 / 25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566928" y="1325880"/>
          <a:ext cx="5074920" cy="297180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5943600" y="1325880"/>
          <a:ext cx="4800600" cy="2971800"/>
        </p:xfrm>
        <a:graphic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66928" y="4617720"/>
            <a:ext cx="329184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4727448"/>
            <a:ext cx="299923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202124"/>
                </a:solidFill>
                <a:latin typeface="Microsoft YaHei"/>
              </a:rPr>
              <a:t>统计口径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5001768"/>
            <a:ext cx="299923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80" b="0">
                <a:solidFill>
                  <a:srgbClr val="475467"/>
                </a:solidFill>
                <a:latin typeface="Microsoft YaHei"/>
              </a:rPr>
              <a:t>正文中 LTP TOTAL 行仍使用断言级 TPASS/TFAIL/TBROK；本页左图只表达用例通过率，不和断言数直接相加。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41648" y="4617720"/>
            <a:ext cx="329184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87952" y="4727448"/>
            <a:ext cx="299923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202124"/>
                </a:solidFill>
                <a:latin typeface="Microsoft YaHei"/>
              </a:rPr>
              <a:t>吞吐来源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87952" y="5001768"/>
            <a:ext cx="299923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80" b="0">
                <a:solidFill>
                  <a:srgbClr val="475467"/>
                </a:solidFill>
                <a:latin typeface="Microsoft YaHei"/>
              </a:rPr>
              <a:t>iperf 数据取自 rv-output.txt 与 la-output.txt 中 BASIC_UDP/BASIC_TCP 的 receiver 行，单位统一为 Mbits/s。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16368" y="4617720"/>
            <a:ext cx="324612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62672" y="4727448"/>
            <a:ext cx="29535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202124"/>
                </a:solidFill>
                <a:latin typeface="Microsoft YaHei"/>
              </a:rPr>
              <a:t>当前结论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62672" y="5001768"/>
            <a:ext cx="295351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80" b="0">
                <a:solidFill>
                  <a:srgbClr val="475467"/>
                </a:solidFill>
                <a:latin typeface="Microsoft YaHei"/>
              </a:rPr>
              <a:t>UDP 回环吞吐四组接近 50 Mbits/s；TCP 在 LoongArch 上约 40 Mbits/s，RISC-V 上约 27-28 Mbits/s。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5715000"/>
            <a:ext cx="9966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475467"/>
                </a:solidFill>
                <a:latin typeface="Microsoft YaHei"/>
              </a:rPr>
              <a:t>补充：四组 LTP 断言统计为 TPASS 4992 / 5005 / 5054 / 5035，对应详细表格保留在文档正文和汇报前文中。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6446520"/>
            <a:ext cx="1325880" cy="201168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r">
              <a:defRPr sz="850" b="0">
                <a:solidFill>
                  <a:srgbClr val="667085"/>
                </a:solidFill>
                <a:latin typeface="Microsoft YaHei"/>
              </a:defRPr>
            </a:pPr>
            <a:r>
              <a:t>22 /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47472"/>
            <a:ext cx="9326880" cy="411480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2250" b="1">
                <a:solidFill>
                  <a:srgbClr val="202124"/>
                </a:solidFill>
                <a:latin typeface="Microsoft YaHei"/>
              </a:defRPr>
            </a:pPr>
            <a:r>
              <a:t>与 Linux baseline 的差异分析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768096"/>
            <a:ext cx="10515600" cy="310896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050" b="0">
                <a:solidFill>
                  <a:srgbClr val="667085"/>
                </a:solidFill>
                <a:latin typeface="Microsoft YaHei"/>
              </a:defRPr>
            </a:pPr>
            <a:r>
              <a:t>剩余差距集中在文件系统与 I/O 边界</a:t>
            </a:r>
          </a:p>
        </p:txBody>
      </p:sp>
      <p:sp>
        <p:nvSpPr>
          <p:cNvPr id="7" name="Rectangle 6"/>
          <p:cNvSpPr/>
          <p:nvPr/>
        </p:nvSpPr>
        <p:spPr>
          <a:xfrm>
            <a:off x="530352" y="1069848"/>
            <a:ext cx="1143000" cy="32004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85800" y="1234440"/>
            <a:ext cx="51663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1234440"/>
            <a:ext cx="68580" cy="1051560"/>
          </a:xfrm>
          <a:prstGeom prst="rect">
            <a:avLst/>
          </a:prstGeom>
          <a:solidFill>
            <a:srgbClr val="2D6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2104" y="1344168"/>
            <a:ext cx="4892040" cy="25603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250" b="1">
                <a:solidFill>
                  <a:srgbClr val="202124"/>
                </a:solidFill>
                <a:latin typeface="Microsoft YaHei"/>
              </a:defRPr>
            </a:pPr>
            <a:r>
              <a:t>compare 总览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" y="1673352"/>
            <a:ext cx="4892040" cy="576071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950" b="0">
                <a:solidFill>
                  <a:srgbClr val="475467"/>
                </a:solidFill>
                <a:latin typeface="Microsoft YaHei"/>
              </a:defRPr>
            </a:pPr>
            <a:r>
              <a:t>RISC-V compare 记录数 glibc/musl 为 105/105，lost_passed 为 766/761；LoongArch compare 记录数为 107/119，lost_passed 为 715/738。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234440"/>
            <a:ext cx="51663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234440"/>
            <a:ext cx="68580" cy="1051560"/>
          </a:xfrm>
          <a:prstGeom prst="rect">
            <a:avLst/>
          </a:prstGeom>
          <a:solidFill>
            <a:srgbClr val="1296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18504" y="1344168"/>
            <a:ext cx="4892040" cy="25603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250" b="1">
                <a:solidFill>
                  <a:srgbClr val="202124"/>
                </a:solidFill>
                <a:latin typeface="Microsoft YaHei"/>
              </a:defRPr>
            </a:pPr>
            <a:r>
              <a:t>架构差异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18504" y="1673352"/>
            <a:ext cx="4892040" cy="576071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950" b="0">
                <a:solidFill>
                  <a:srgbClr val="475467"/>
                </a:solidFill>
                <a:latin typeface="Microsoft YaHei"/>
              </a:defRPr>
            </a:pPr>
            <a:r>
              <a:t>LoongArch 合计通过率略高；RISC-V glibc 差异最高，主要受到 splice07、chdir01 等 I/O 与目录语义影响。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2606040"/>
            <a:ext cx="3337560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" y="2606040"/>
            <a:ext cx="68580" cy="2560320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104" y="2715768"/>
            <a:ext cx="3063240" cy="25603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250" b="1">
                <a:solidFill>
                  <a:srgbClr val="202124"/>
                </a:solidFill>
                <a:latin typeface="Microsoft YaHei"/>
              </a:defRPr>
            </a:pPr>
            <a:r>
              <a:t>主要 missing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" y="3044952"/>
            <a:ext cx="3063240" cy="2084831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019" b="0">
                <a:solidFill>
                  <a:srgbClr val="475467"/>
                </a:solidFill>
                <a:latin typeface="Microsoft YaHei"/>
              </a:defRPr>
            </a:pPr>
            <a:r>
              <a:t>tar_tests.sh：68</a:t>
            </a:r>
            <a:br/>
            <a:r>
              <a:t>creat09：48</a:t>
            </a:r>
            <a:br/>
            <a:r>
              <a:t>file01.sh：36</a:t>
            </a:r>
            <a:br/>
            <a:r>
              <a:t>du01.sh：23</a:t>
            </a:r>
            <a:br/>
            <a:r>
              <a:t>这些项在四个组合中反复出现。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89120" y="2606040"/>
            <a:ext cx="3337560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389120" y="2606040"/>
            <a:ext cx="68580" cy="2560320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35424" y="2715768"/>
            <a:ext cx="3063240" cy="25603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250" b="1">
                <a:solidFill>
                  <a:srgbClr val="202124"/>
                </a:solidFill>
                <a:latin typeface="Microsoft YaHei"/>
              </a:defRPr>
            </a:pPr>
            <a:r>
              <a:t>主要 failed / partial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35424" y="3044952"/>
            <a:ext cx="3063240" cy="2084831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019" b="0">
                <a:solidFill>
                  <a:srgbClr val="475467"/>
                </a:solidFill>
                <a:latin typeface="Microsoft YaHei"/>
              </a:defRPr>
            </a:pPr>
            <a:r>
              <a:t>splice07：RISC-V lost 50</a:t>
            </a:r>
            <a:br/>
            <a:r>
              <a:t>chdir01：lost 42-46</a:t>
            </a:r>
            <a:br/>
            <a:r>
              <a:t>fsync01：lost 30</a:t>
            </a:r>
            <a:br/>
            <a:r>
              <a:t>rename01/03：lost 24 左右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92440" y="2606040"/>
            <a:ext cx="3337560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092440" y="2606040"/>
            <a:ext cx="68580" cy="2560320"/>
          </a:xfrm>
          <a:prstGeom prst="rect">
            <a:avLst/>
          </a:prstGeom>
          <a:solidFill>
            <a:srgbClr val="704C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38744" y="2715768"/>
            <a:ext cx="3063240" cy="25603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250" b="1">
                <a:solidFill>
                  <a:srgbClr val="202124"/>
                </a:solidFill>
                <a:latin typeface="Microsoft YaHei"/>
              </a:defRPr>
            </a:pPr>
            <a:r>
              <a:t>修复方向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38744" y="3044952"/>
            <a:ext cx="3063240" cy="2084831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019" b="0">
                <a:solidFill>
                  <a:srgbClr val="475467"/>
                </a:solidFill>
                <a:latin typeface="Microsoft YaHei"/>
              </a:defRPr>
            </a:pPr>
            <a:r>
              <a:t>优先检查目录切换、文件创建、同步写回、目录项更新、splice/sendfile 与脚本类工具依赖。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6446520"/>
            <a:ext cx="1325880" cy="201168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r">
              <a:defRPr sz="850" b="0">
                <a:solidFill>
                  <a:srgbClr val="667085"/>
                </a:solidFill>
                <a:latin typeface="Microsoft YaHei"/>
              </a:defRPr>
            </a:pPr>
            <a:r>
              <a:t>23 /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47472"/>
            <a:ext cx="9326880" cy="411480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2250" b="1">
                <a:solidFill>
                  <a:srgbClr val="202124"/>
                </a:solidFill>
                <a:latin typeface="Microsoft YaHei"/>
              </a:defRPr>
            </a:pPr>
            <a:r>
              <a:t>后续优化计划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768096"/>
            <a:ext cx="10515600" cy="310896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050" b="0">
                <a:solidFill>
                  <a:srgbClr val="667085"/>
                </a:solidFill>
                <a:latin typeface="Microsoft YaHei"/>
              </a:defRPr>
            </a:pPr>
            <a:r>
              <a:t>优先处理 lost_passed 最高的边界</a:t>
            </a:r>
          </a:p>
        </p:txBody>
      </p:sp>
      <p:sp>
        <p:nvSpPr>
          <p:cNvPr id="7" name="Rectangle 6"/>
          <p:cNvSpPr/>
          <p:nvPr/>
        </p:nvSpPr>
        <p:spPr>
          <a:xfrm>
            <a:off x="530352" y="1069848"/>
            <a:ext cx="1143000" cy="32004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77240" y="1143000"/>
            <a:ext cx="1065276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143000"/>
            <a:ext cx="68580" cy="621792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" y="1252728"/>
            <a:ext cx="10378440" cy="25603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200" b="1">
                <a:solidFill>
                  <a:srgbClr val="202124"/>
                </a:solidFill>
                <a:latin typeface="Microsoft YaHei"/>
              </a:defRPr>
            </a:pPr>
            <a:r>
              <a:t>P0 文件系统差异收敛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1581912"/>
            <a:ext cx="10378440" cy="146304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950" b="0">
                <a:solidFill>
                  <a:srgbClr val="475467"/>
                </a:solidFill>
                <a:latin typeface="Microsoft YaHei"/>
              </a:defRPr>
            </a:pPr>
            <a:r>
              <a:t>tar_tests.sh、creat09、file01.sh、chdir01、fsync01、rename01/03、splice07。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020824"/>
            <a:ext cx="1065276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2020824"/>
            <a:ext cx="68580" cy="621792"/>
          </a:xfrm>
          <a:prstGeom prst="rect">
            <a:avLst/>
          </a:prstGeom>
          <a:solidFill>
            <a:srgbClr val="B0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544" y="2130552"/>
            <a:ext cx="10378440" cy="25603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200" b="1">
                <a:solidFill>
                  <a:srgbClr val="202124"/>
                </a:solidFill>
                <a:latin typeface="Microsoft YaHei"/>
              </a:defRPr>
            </a:pPr>
            <a:r>
              <a:t>P0 ABI 细节补齐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3544" y="2459736"/>
            <a:ext cx="10378440" cy="146304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950" b="0">
                <a:solidFill>
                  <a:srgbClr val="475467"/>
                </a:solidFill>
                <a:latin typeface="Microsoft YaHei"/>
              </a:defRPr>
            </a:pPr>
            <a:r>
              <a:t>openat/openat2、权限检查、xattr、mount、socket option、SysV IPC、资源限制。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2898648"/>
            <a:ext cx="1065276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2898648"/>
            <a:ext cx="68580" cy="621792"/>
          </a:xfrm>
          <a:prstGeom prst="rect">
            <a:avLst/>
          </a:prstGeom>
          <a:solidFill>
            <a:srgbClr val="2D6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3544" y="3008376"/>
            <a:ext cx="10378440" cy="25603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200" b="1">
                <a:solidFill>
                  <a:srgbClr val="202124"/>
                </a:solidFill>
                <a:latin typeface="Microsoft YaHei"/>
              </a:defRPr>
            </a:pPr>
            <a:r>
              <a:t>P1 生命周期稳定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3544" y="3337560"/>
            <a:ext cx="10378440" cy="146304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950" b="0">
                <a:solidFill>
                  <a:srgbClr val="475467"/>
                </a:solidFill>
                <a:latin typeface="Microsoft YaHei"/>
              </a:defRPr>
            </a:pPr>
            <a:r>
              <a:t>fork/clone/execve/exit/wait4 与 COW、mmap、futex、robust list 的组合场景。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776472"/>
            <a:ext cx="1065276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3776472"/>
            <a:ext cx="68580" cy="621792"/>
          </a:xfrm>
          <a:prstGeom prst="rect">
            <a:avLst/>
          </a:prstGeom>
          <a:solidFill>
            <a:srgbClr val="1296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3544" y="3886200"/>
            <a:ext cx="10378440" cy="25603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200" b="1">
                <a:solidFill>
                  <a:srgbClr val="202124"/>
                </a:solidFill>
                <a:latin typeface="Microsoft YaHei"/>
              </a:defRPr>
            </a:pPr>
            <a:r>
              <a:t>P1 双架构对照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3544" y="4215383"/>
            <a:ext cx="10378440" cy="146304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950" b="0">
                <a:solidFill>
                  <a:srgbClr val="475467"/>
                </a:solidFill>
                <a:latin typeface="Microsoft YaHei"/>
              </a:defRPr>
            </a:pPr>
            <a:r>
              <a:t>固定 RISC-V 与 LoongArch 在 trap、页表、时钟、设备、用户 ABI 上的回归矩阵。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4654296"/>
            <a:ext cx="1065276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77240" y="4654296"/>
            <a:ext cx="68580" cy="621792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3544" y="4764024"/>
            <a:ext cx="10378440" cy="25603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200" b="1">
                <a:solidFill>
                  <a:srgbClr val="202124"/>
                </a:solidFill>
                <a:latin typeface="Microsoft YaHei"/>
              </a:defRPr>
            </a:pPr>
            <a:r>
              <a:t>P2 网络与设备扩展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3544" y="5093208"/>
            <a:ext cx="10378440" cy="146304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950" b="0">
                <a:solidFill>
                  <a:srgbClr val="475467"/>
                </a:solidFill>
                <a:latin typeface="Microsoft YaHei"/>
              </a:defRPr>
            </a:pPr>
            <a:r>
              <a:t>在回环网络基础上评估 VirtIO-net，完善 tty/random/rtc/loop 等设备文件语义。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6446520"/>
            <a:ext cx="1325880" cy="201168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r">
              <a:defRPr sz="850" b="0">
                <a:solidFill>
                  <a:srgbClr val="667085"/>
                </a:solidFill>
                <a:latin typeface="Microsoft YaHei"/>
              </a:defRPr>
            </a:pPr>
            <a:r>
              <a:t>24 /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47472"/>
            <a:ext cx="9326880" cy="411480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2250" b="1">
                <a:solidFill>
                  <a:srgbClr val="202124"/>
                </a:solidFill>
                <a:latin typeface="Microsoft YaHei"/>
              </a:defRPr>
            </a:pPr>
            <a:r>
              <a:t>近期里程碑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768096"/>
            <a:ext cx="10515600" cy="310896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050" b="0">
                <a:solidFill>
                  <a:srgbClr val="667085"/>
                </a:solidFill>
                <a:latin typeface="Microsoft YaHei"/>
              </a:defRPr>
            </a:pPr>
            <a:r>
              <a:t>把全量报告转化为固定回归流程</a:t>
            </a:r>
          </a:p>
        </p:txBody>
      </p:sp>
      <p:sp>
        <p:nvSpPr>
          <p:cNvPr id="7" name="Rectangle 6"/>
          <p:cNvSpPr/>
          <p:nvPr/>
        </p:nvSpPr>
        <p:spPr>
          <a:xfrm>
            <a:off x="530352" y="1069848"/>
            <a:ext cx="1143000" cy="32004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234440"/>
            <a:ext cx="3474720" cy="4434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234440"/>
            <a:ext cx="68580" cy="4434840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344168"/>
            <a:ext cx="3200400" cy="25603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250" b="1">
                <a:solidFill>
                  <a:srgbClr val="202124"/>
                </a:solidFill>
                <a:latin typeface="Microsoft YaHei"/>
              </a:defRPr>
            </a:pPr>
            <a:r>
              <a:t>短期：差异收敛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1673352"/>
            <a:ext cx="3200400" cy="395935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960" b="0">
                <a:solidFill>
                  <a:srgbClr val="475467"/>
                </a:solidFill>
                <a:latin typeface="Microsoft YaHei"/>
              </a:defRPr>
            </a:pPr>
            <a:r>
              <a:t>按 lost_passed 排序建立修复队列</a:t>
            </a:r>
            <a:br/>
            <a:r>
              <a:t>优先处理文件系统与 I/O 边界</a:t>
            </a:r>
            <a:br/>
            <a:r>
              <a:t>保留对应 rv/la 日志片段</a:t>
            </a:r>
            <a:br/>
            <a:r>
              <a:t>每次修复同步更新 local-report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1234440"/>
            <a:ext cx="3474720" cy="4434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1234440"/>
            <a:ext cx="68580" cy="4434840"/>
          </a:xfrm>
          <a:prstGeom prst="rect">
            <a:avLst/>
          </a:prstGeom>
          <a:solidFill>
            <a:srgbClr val="2D6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9704" y="1344168"/>
            <a:ext cx="3200400" cy="25603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250" b="1">
                <a:solidFill>
                  <a:srgbClr val="202124"/>
                </a:solidFill>
                <a:latin typeface="Microsoft YaHei"/>
              </a:defRPr>
            </a:pPr>
            <a:r>
              <a:t>中期：路径加固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9704" y="1673352"/>
            <a:ext cx="3200400" cy="395935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960" b="0">
                <a:solidFill>
                  <a:srgbClr val="475467"/>
                </a:solidFill>
                <a:latin typeface="Microsoft YaHei"/>
              </a:defRPr>
            </a:pPr>
            <a:r>
              <a:t>Ext4 写回和目录项更新</a:t>
            </a:r>
            <a:br/>
            <a:r>
              <a:t>COW/mmap/fork/exit 组合</a:t>
            </a:r>
            <a:br/>
            <a:r>
              <a:t>futex/robust list 退出边界</a:t>
            </a:r>
            <a:br/>
            <a:r>
              <a:t>socket 非阻塞和 poll 状态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55279" y="1234440"/>
            <a:ext cx="3474720" cy="4434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55279" y="1234440"/>
            <a:ext cx="68580" cy="4434840"/>
          </a:xfrm>
          <a:prstGeom prst="rect">
            <a:avLst/>
          </a:prstGeom>
          <a:solidFill>
            <a:srgbClr val="1296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01583" y="1344168"/>
            <a:ext cx="3200400" cy="25603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250" b="1">
                <a:solidFill>
                  <a:srgbClr val="202124"/>
                </a:solidFill>
                <a:latin typeface="Microsoft YaHei"/>
              </a:defRPr>
            </a:pPr>
            <a:r>
              <a:t>长期：能力扩展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01583" y="1673352"/>
            <a:ext cx="3200400" cy="395935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960" b="0">
                <a:solidFill>
                  <a:srgbClr val="475467"/>
                </a:solidFill>
                <a:latin typeface="Microsoft YaHei"/>
              </a:defRPr>
            </a:pPr>
            <a:r>
              <a:t>VirtIO-net 或更完整网络设备</a:t>
            </a:r>
            <a:br/>
            <a:r>
              <a:t>更完整 tty/random/rtc/loop 语义</a:t>
            </a:r>
            <a:br/>
            <a:r>
              <a:t>双架构固定回归脚本</a:t>
            </a:r>
            <a:br/>
            <a:r>
              <a:t>文档与测试数据同步维护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78440" y="6446520"/>
            <a:ext cx="1325880" cy="201168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r">
              <a:defRPr sz="850" b="0">
                <a:solidFill>
                  <a:srgbClr val="667085"/>
                </a:solidFill>
                <a:latin typeface="Microsoft YaHei"/>
              </a:defRPr>
            </a:pPr>
            <a:r>
              <a:t>25 /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47472"/>
            <a:ext cx="9509760" cy="384048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2200" b="1">
                <a:solidFill>
                  <a:srgbClr val="202124"/>
                </a:solidFill>
                <a:latin typeface="Microsoft YaHei"/>
              </a:defRPr>
            </a:pPr>
            <a:r>
              <a:t>总结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768096"/>
            <a:ext cx="10424160" cy="274320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019" b="0">
                <a:solidFill>
                  <a:srgbClr val="667085"/>
                </a:solidFill>
                <a:latin typeface="Microsoft YaHei"/>
              </a:defRPr>
            </a:pPr>
            <a:r>
              <a:t>最终版 RespOS 已进入测试驱动收敛阶段</a:t>
            </a:r>
          </a:p>
        </p:txBody>
      </p:sp>
      <p:sp>
        <p:nvSpPr>
          <p:cNvPr id="7" name="Rectangle 6"/>
          <p:cNvSpPr/>
          <p:nvPr/>
        </p:nvSpPr>
        <p:spPr>
          <a:xfrm>
            <a:off x="530352" y="1060704"/>
            <a:ext cx="1143000" cy="32004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68680" y="1234440"/>
            <a:ext cx="1037844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68680" y="1234440"/>
            <a:ext cx="64008" cy="822960"/>
          </a:xfrm>
          <a:prstGeom prst="rect">
            <a:avLst/>
          </a:prstGeom>
          <a:solidFill>
            <a:srgbClr val="1296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39" y="1325880"/>
            <a:ext cx="10104119" cy="25603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200" b="1">
                <a:solidFill>
                  <a:srgbClr val="202124"/>
                </a:solidFill>
                <a:latin typeface="Microsoft YaHei"/>
              </a:defRPr>
            </a:pPr>
            <a:r>
              <a:t>当前成果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39" y="1627632"/>
            <a:ext cx="10104119" cy="402336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919" b="0">
                <a:solidFill>
                  <a:srgbClr val="475467"/>
                </a:solidFill>
                <a:latin typeface="Microsoft YaHei"/>
              </a:defRPr>
            </a:pPr>
            <a:r>
              <a:t>216 个 syscall dispatch；四组 LTP 断言通过率 96.91%-97.63%；RISC-V 与 LoongArch 均完成全量输出和 CSV 报告。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2331720"/>
            <a:ext cx="1037844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68680" y="2331720"/>
            <a:ext cx="64008" cy="822960"/>
          </a:xfrm>
          <a:prstGeom prst="rect">
            <a:avLst/>
          </a:prstGeom>
          <a:solidFill>
            <a:srgbClr val="2D6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39" y="2423160"/>
            <a:ext cx="10104119" cy="25603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200" b="1">
                <a:solidFill>
                  <a:srgbClr val="202124"/>
                </a:solidFill>
                <a:latin typeface="Microsoft YaHei"/>
              </a:defRPr>
            </a:pPr>
            <a:r>
              <a:t>当前重点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39" y="2724912"/>
            <a:ext cx="10104119" cy="402336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919" b="0">
                <a:solidFill>
                  <a:srgbClr val="475467"/>
                </a:solidFill>
                <a:latin typeface="Microsoft YaHei"/>
              </a:defRPr>
            </a:pPr>
            <a:r>
              <a:t>差异集中在文件系统和 I/O：tar/file 脚本、creat、chdir、fsync、rename、splice/sendfile、权限与路径错误码。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3429000"/>
            <a:ext cx="1037844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8680" y="3429000"/>
            <a:ext cx="64008" cy="822960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39" y="3520440"/>
            <a:ext cx="10104119" cy="256032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1200" b="1">
                <a:solidFill>
                  <a:srgbClr val="202124"/>
                </a:solidFill>
                <a:latin typeface="Microsoft YaHei"/>
              </a:defRPr>
            </a:pPr>
            <a:r>
              <a:t>后续方向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39" y="3822191"/>
            <a:ext cx="10104119" cy="402336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l">
              <a:defRPr sz="919" b="0">
                <a:solidFill>
                  <a:srgbClr val="475467"/>
                </a:solidFill>
                <a:latin typeface="Microsoft YaHei"/>
              </a:defRPr>
            </a:pPr>
            <a:r>
              <a:t>按 lost_passed 排序推进高收益修复，并固定 RISC-V/LoongArch 与 glibc/musl 四组合回归。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715000"/>
            <a:ext cx="10378440" cy="365760"/>
          </a:xfrm>
          <a:prstGeom prst="rect">
            <a:avLst/>
          </a:prstGeom>
          <a:noFill/>
        </p:spPr>
        <p:txBody>
          <a:bodyPr wrap="square" lIns="27432" rIns="27432" anchor="t">
            <a:spAutoFit/>
          </a:bodyPr>
          <a:lstStyle/>
          <a:p>
            <a:pPr algn="ctr">
              <a:defRPr sz="1800" b="1">
                <a:solidFill>
                  <a:srgbClr val="8B1A2B"/>
                </a:solidFill>
                <a:latin typeface="Microsoft YaHei"/>
              </a:defRPr>
            </a:pPr>
            <a:r>
              <a:t>RespOS 初赛进展汇报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