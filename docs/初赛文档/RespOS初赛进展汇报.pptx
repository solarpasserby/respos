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latin typeface="Microsoft YaHei"/>
              </a:rPr>
              <a:t>LTP 用例通过率（case 口径，%）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用例通过率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RV glibc</c:v>
                </c:pt>
                <c:pt idx="1">
                  <c:v>RV musl</c:v>
                </c:pt>
                <c:pt idx="2">
                  <c:v>LA glibc</c:v>
                </c:pt>
                <c:pt idx="3">
                  <c:v>LA musl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93.6</c:v>
                </c:pt>
                <c:pt idx="1">
                  <c:v>93.8</c:v>
                </c:pt>
                <c:pt idx="2">
                  <c:v>93.7</c:v>
                </c:pt>
                <c:pt idx="3">
                  <c:v>93.1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9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latin typeface="Microsoft YaHei"/>
              </a:rPr>
              <a:t>iperf BASIC 吞吐（Mbits/s）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UDP receiver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RV musl</c:v>
                </c:pt>
                <c:pt idx="1">
                  <c:v>RV glibc</c:v>
                </c:pt>
                <c:pt idx="2">
                  <c:v>LA musl</c:v>
                </c:pt>
                <c:pt idx="3">
                  <c:v>LA glibc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50.7</c:v>
                </c:pt>
                <c:pt idx="1">
                  <c:v>51.1</c:v>
                </c:pt>
                <c:pt idx="2">
                  <c:v>50.4</c:v>
                </c:pt>
                <c:pt idx="3">
                  <c:v>50.6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TCP receiver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RV musl</c:v>
                </c:pt>
                <c:pt idx="1">
                  <c:v>RV glibc</c:v>
                </c:pt>
                <c:pt idx="2">
                  <c:v>LA musl</c:v>
                </c:pt>
                <c:pt idx="3">
                  <c:v>LA glibc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28.0</c:v>
                </c:pt>
                <c:pt idx="1">
                  <c:v>27.1</c:v>
                </c:pt>
                <c:pt idx="2">
                  <c:v>39.9</c:v>
                </c:pt>
                <c:pt idx="3">
                  <c:v>40.1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068027336"/>
        <c:crosses val="autoZero"/>
        <c:majorUnit val="15.0"/>
      </c:valAx>
    </c:plotArea>
    <c:legend>
      <c:legendPos val="b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01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5669280" cy="34747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40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全国大学生计算机系统能力大赛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4754880" cy="7315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4000" b="1">
                <a:solidFill>
                  <a:srgbClr val="202124"/>
                </a:solidFill>
                <a:latin typeface="Arial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RespOS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1645920" cy="4572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212848"/>
            <a:ext cx="6949440" cy="5029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600" b="1">
                <a:solidFill>
                  <a:srgbClr val="202124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初赛进展汇报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61488"/>
            <a:ext cx="7132320" cy="32004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350" b="0">
                <a:solidFill>
                  <a:srgbClr val="475467"/>
                </a:solidFill>
                <a:latin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</a:rPr>
              <a:t>开发进度 · 功能完成度 · 后续优化计划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960120"/>
            <a:ext cx="3794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960120"/>
            <a:ext cx="68580" cy="429768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98664" y="1069848"/>
            <a:ext cx="35204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汇报关键词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8664" y="1399032"/>
            <a:ext cx="3520440" cy="382219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0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Rust 类 Unix 宏内核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RISC-V 64 / LoongArch 64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Linux ABI 兼容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Ext4 + VFS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LTP 驱动开发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smoltcp 回环网络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VirtIO block 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0760"/>
            <a:ext cx="621792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比特工匠队 · 山东大学（青岛） · 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02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汇报目录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25 页进展汇报，重点展开进度、完成度和优化路线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0607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325880"/>
            <a:ext cx="68580" cy="530352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35607"/>
            <a:ext cx="3657600" cy="2926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01  项目定位与总体目标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81328"/>
            <a:ext cx="5486400" cy="2926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667085"/>
                </a:solidFill>
                <a:latin typeface="Microsoft YaHei"/>
              </a:defRPr>
            </a:pPr>
            <a:r>
              <a:rPr sz="1280" b="0">
                <a:solidFill>
                  <a:srgbClr val="475467"/>
                </a:solidFill>
                <a:latin typeface="Microsoft YaHei"/>
              </a:rPr>
              <a:t>说明项目背景和初赛阶段关注点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67128"/>
            <a:ext cx="10607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167128"/>
            <a:ext cx="68580" cy="530352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76856"/>
            <a:ext cx="3657600" cy="2926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02  开发进度与阶段产物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22576"/>
            <a:ext cx="5486400" cy="2926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667085"/>
                </a:solidFill>
                <a:latin typeface="Microsoft YaHei"/>
              </a:defRPr>
            </a:pPr>
            <a:r>
              <a:rPr sz="1280" b="0">
                <a:solidFill>
                  <a:srgbClr val="475467"/>
                </a:solidFill>
                <a:latin typeface="Microsoft YaHei"/>
              </a:rPr>
              <a:t>按阶段解释功能推进路径和产出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08376"/>
            <a:ext cx="10607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008376"/>
            <a:ext cx="68580" cy="530352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18104"/>
            <a:ext cx="3657600" cy="2926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03  核心模块功能完成度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63824"/>
            <a:ext cx="5486400" cy="2926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667085"/>
                </a:solidFill>
                <a:latin typeface="Microsoft YaHei"/>
              </a:defRPr>
            </a:pPr>
            <a:r>
              <a:rPr sz="1280" b="0">
                <a:solidFill>
                  <a:srgbClr val="475467"/>
                </a:solidFill>
                <a:latin typeface="Microsoft YaHei"/>
              </a:rPr>
              <a:t>逐模块说明已完成主路径和边界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849624"/>
            <a:ext cx="10607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849624"/>
            <a:ext cx="68580" cy="53035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59352"/>
            <a:ext cx="3657600" cy="2926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04  本地测试与当前问题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005072"/>
            <a:ext cx="5486400" cy="2926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667085"/>
                </a:solidFill>
                <a:latin typeface="Microsoft YaHei"/>
              </a:defRPr>
            </a:pPr>
            <a:r>
              <a:rPr sz="1280" b="0">
                <a:solidFill>
                  <a:srgbClr val="475467"/>
                </a:solidFill>
                <a:latin typeface="Microsoft YaHei"/>
              </a:rPr>
              <a:t>用 LTP 报告说明验证方式和剩余风险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90872"/>
            <a:ext cx="10607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690872"/>
            <a:ext cx="68580" cy="530352"/>
          </a:xfrm>
          <a:prstGeom prst="rect">
            <a:avLst/>
          </a:prstGeom>
          <a:solidFill>
            <a:srgbClr val="704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00600"/>
            <a:ext cx="3657600" cy="2926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05  后续优化计划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846320"/>
            <a:ext cx="5486400" cy="2926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667085"/>
                </a:solidFill>
                <a:latin typeface="Microsoft YaHei"/>
              </a:defRPr>
            </a:pPr>
            <a:r>
              <a:rPr sz="1280" b="0">
                <a:solidFill>
                  <a:srgbClr val="475467"/>
                </a:solidFill>
                <a:latin typeface="Microsoft YaHei"/>
              </a:rPr>
              <a:t>给出下一阶段优先级和落地任务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03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项目定位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面向初赛测例和教学型内核演进的 Rust 类 Unix 宏内核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429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8580" cy="12801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44168"/>
            <a:ext cx="315468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</a:rPr>
              <a:t>不是只做 syscall 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673352"/>
            <a:ext cx="3154680" cy="80467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初赛测例会穿透任务、内存、文件、信号、时间、网络和设备路径，因此目标是补齐用户程序运行链路。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29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68580" cy="128016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344168"/>
            <a:ext cx="315468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双架构运行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673352"/>
            <a:ext cx="3154680" cy="80467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当前代码同时维护 RISC-V 64 与 LoongArch 64 路径，架构差异集中在 arch 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429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68580" cy="128016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344168"/>
            <a:ext cx="315468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测例驱动开发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673352"/>
            <a:ext cx="3154680" cy="80467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以 busybox、libc 初始化流程和 LTP 输出作为功能闭环验证依据。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880360"/>
            <a:ext cx="10835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880360"/>
            <a:ext cx="68580" cy="22402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2990088"/>
            <a:ext cx="10561319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3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阶段性目标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3319272"/>
            <a:ext cx="10561319" cy="176479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0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构建一个能稳定运行用户态负载、能通过日志定位问题、能继续围绕 Linux ABI 细节迭代的宏内核。当前重点已经从“能否启动和进入用户态”转向“复杂系统调用组合是否符合 Linux 行为、双架构是否一致、长测是否稳定”。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04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初赛阶段工作范围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围绕用户程序可运行性补齐基础设施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53035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80160"/>
            <a:ext cx="68580" cy="480060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89888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主要覆盖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4709160" cy="3977639"/>
          </a:xfrm>
          <a:prstGeom prst="rect">
            <a:avLst/>
          </a:prstGeom>
          <a:noFill/>
        </p:spPr>
        <p:txBody>
          <a:bodyPr wrap="square" lIns="73152" rIns="27432">
            <a:normAutofit/>
          </a:bodyPr>
          <a:lstStyle/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进程与线程：fork/clone/execve/wait4/exit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虚拟内存：ELF、用户栈、auxv、mmap、brk、COW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文件系统：VFS、Ext4、procfs、devfs、fd 表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兼容接口：Linux errno、信号、时间、socket、IPC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设备与平台：VirtIO block、控制台、双架构页表和 trap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3035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68580" cy="480060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389888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暂不作为重点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4709160" cy="3977639"/>
          </a:xfrm>
          <a:prstGeom prst="rect">
            <a:avLst/>
          </a:prstGeom>
          <a:noFill/>
        </p:spPr>
        <p:txBody>
          <a:bodyPr wrap="square" lIns="73152" rIns="27432">
            <a:normAutofit/>
          </a:bodyPr>
          <a:lstStyle/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复杂调度策略和多核负载均衡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真实网卡驱动和完整网络协议覆盖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通用设备模型、热插拔和完整设备树解析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完整复刻 Linux 的全部 /proc、/sys 与 ioctl 语义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没有测例支撑且收益较低的大范围重构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05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仓库结构与阶段产物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代码、测试和文档分离维护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8580" cy="420624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44168"/>
            <a:ext cx="310896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内核与用户态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673352"/>
            <a:ext cx="3108960" cy="37307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os/ 内核主体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user/ 用户态库和测试程序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os/src/arch 双架构代码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os/src/syscall 系统调用分发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os/src/fs/mm/task/net 等核心模块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68580" cy="420624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344168"/>
            <a:ext cx="310896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测试与日志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673352"/>
            <a:ext cx="3108960" cy="37307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user/oscomp_ltp_list.txt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debug-rvoutput.txt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debug-laoutput.txt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rv-output.txt / la-output.txt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judge/local-report/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judge/local-compare/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23444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234440"/>
            <a:ext cx="68580" cy="420624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1344168"/>
            <a:ext cx="310896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第三方与文档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1673352"/>
            <a:ext cx="3108960" cy="37307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vendor/lwext4_rust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vendor/smoltcp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vendor/riscv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docs/初赛文档/main.typ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初赛文档.pdf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进展汇报 PPT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06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32688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开发进度时间线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最终版已经完成双架构全量测例回归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99339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8580" cy="33375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435607"/>
            <a:ext cx="1719072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2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基础内核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764792"/>
            <a:ext cx="1719072" cy="286207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9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启动、trap、页表、堆和页帧分配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2697480"/>
            <a:ext cx="320040" cy="182880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1325880"/>
            <a:ext cx="199339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90088" y="1325880"/>
            <a:ext cx="68580" cy="333756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1435607"/>
            <a:ext cx="1719072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2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用户态链路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1764792"/>
            <a:ext cx="1719072" cy="286207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9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TCB、调度、fd、VFS、Ext4、ELF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10328" y="2697480"/>
            <a:ext cx="320040" cy="182880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94376" y="1325880"/>
            <a:ext cx="199339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94376" y="1325880"/>
            <a:ext cx="68580" cy="333756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1435607"/>
            <a:ext cx="1719072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2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兼容语义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1764792"/>
            <a:ext cx="1719072" cy="286207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9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mmap/COW、信号、IPC、时间、socket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14616" y="2697480"/>
            <a:ext cx="320040" cy="182880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98664" y="1325880"/>
            <a:ext cx="199339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98664" y="1325880"/>
            <a:ext cx="68580" cy="33375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4968" y="1435607"/>
            <a:ext cx="1719072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2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双架构收敛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1764792"/>
            <a:ext cx="1719072" cy="286207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9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LoongArch 页表/TLB、PCI、UART、RISC-V SBI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518904" y="2697480"/>
            <a:ext cx="320040" cy="182880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02952" y="1325880"/>
            <a:ext cx="199339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02952" y="1325880"/>
            <a:ext cx="68580" cy="3337560"/>
          </a:xfrm>
          <a:prstGeom prst="rect">
            <a:avLst/>
          </a:prstGeom>
          <a:solidFill>
            <a:srgbClr val="704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9256" y="1435607"/>
            <a:ext cx="1719072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2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全量回归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9256" y="1764792"/>
            <a:ext cx="1719072" cy="286207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9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rv-output/la-output、local-report、local-compare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166360"/>
            <a:ext cx="106070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166360"/>
            <a:ext cx="68580" cy="73152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" y="5276088"/>
            <a:ext cx="10332719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当前判断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" y="5605272"/>
            <a:ext cx="10332719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0" b="0">
                <a:solidFill>
                  <a:srgbClr val="475467"/>
                </a:solidFill>
                <a:latin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主路径已经打通并完成全量 LTP 回归；后续收益最高的工作是按 compare CSV 收敛文件系统/I/O 差异，而不是继续扩张模块数量。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07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总体架构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42416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宏内核结构，关键路径直接协作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051560"/>
            <a:ext cx="9144000" cy="4773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925312"/>
            <a:ext cx="97383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80" b="0">
                <a:solidFill>
                  <a:srgbClr val="475467"/>
                </a:solidFill>
                <a:latin typeface="Microsoft YaHei"/>
              </a:rPr>
              <a:t>架构图展示用户态测试负载、系统调用入口、内核核心服务与双架构硬件抽象的协作边界。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08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双架构硬件抽象层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同名模块 + 条件编译 + 统一 re-export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53035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80160"/>
            <a:ext cx="68580" cy="480060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89888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统一接口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4709160" cy="3977639"/>
          </a:xfrm>
          <a:prstGeom prst="rect">
            <a:avLst/>
          </a:prstGeom>
          <a:noFill/>
        </p:spPr>
        <p:txBody>
          <a:bodyPr wrap="square" lIns="73152" rIns="27432">
            <a:normAutofit/>
          </a:bodyPr>
          <a:lstStyle/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arch/mod.rs 根据 target_arch 导出 rv64 或 loongarch64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上层共享 read_mmu_token/write_mmu_token/sfence/timer/trap/mm/task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MemorySet 调用同名 PageTable 接口，不感知底层 PTE 编码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中断守卫、任务切换和 timer 接口对上层保持同名语义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3035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68580" cy="480060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389888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架构差异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4709160" cy="3977639"/>
          </a:xfrm>
          <a:prstGeom prst="rect">
            <a:avLst/>
          </a:prstGeom>
          <a:noFill/>
        </p:spPr>
        <p:txBody>
          <a:bodyPr wrap="square" lIns="73152" rIns="27432">
            <a:normAutofit/>
          </a:bodyPr>
          <a:lstStyle/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RISC-V 使用 satp、sfence.vma、sret、SBI legacy console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LoongArch 使用 PGDL/PGDH、TLB refill、ertn、UART MMIO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LoongArch 启动阶段依赖 DMW，再切换到高地址页表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两套 TrapContext 的寄存器编号和 syscall 参数位置不同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09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启动与 trap 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用户态和内核态切换是所有系统调用的共同边界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0749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68580" cy="192024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344168"/>
            <a:ext cx="48006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启动路径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673352"/>
            <a:ext cx="4800600" cy="107899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160" b="0">
                <a:solidFill>
                  <a:srgbClr val="475467"/>
                </a:solidFill>
                <a:latin typeface="Microsoft YaHei"/>
              </a:rPr>
              <a:t>RISC-V 在汇编入口建立 boot_pagetable 并写 satp；LoongArch 先使用 DMW 直映运行，随后构造临时页表并跳到高半区。进入 rust_main_high 后，trap、mm、net、initproc 和 timer 初始化顺序重新汇合。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0749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68580" cy="192024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344168"/>
            <a:ext cx="48006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trap 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673352"/>
            <a:ext cx="4800600" cy="107899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160" b="0">
                <a:solidFill>
                  <a:srgbClr val="475467"/>
                </a:solidFill>
                <a:latin typeface="Microsoft YaHei"/>
              </a:rPr>
              <a:t>入口汇编保存 TrapContext，Rust trap_handler 分发系统调用、页错误和时钟中断，返回前检查定时器和待处理信号，再由 __restore/sret 或 ertn 回到用户态。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10149840" cy="105156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rap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3136392"/>
            <a:ext cx="7040880" cy="2697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5925312"/>
            <a:ext cx="9646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40" b="0">
                <a:solidFill>
                  <a:srgbClr val="475467"/>
                </a:solidFill>
                <a:latin typeface="Microsoft YaHei"/>
              </a:rPr>
              <a:t>trap 路径图对应系统调用、异常和时钟中断的共同入口：保存 TrapContext 后进入 Rust 分发，再返回用户态或触发调度。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10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进程与线程管理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42416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任务状态图和线程组语义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0704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572000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72000"/>
            <a:ext cx="64008" cy="109728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48006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已完成主路径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38928"/>
            <a:ext cx="4800600" cy="7498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00" b="0">
                <a:solidFill>
                  <a:srgbClr val="475467"/>
                </a:solidFill>
                <a:latin typeface="Microsoft YaHei"/>
              </a:defRPr>
            </a:pPr>
            <a:r>
              <a:rPr sz="1250" b="0">
                <a:solidFill>
                  <a:srgbClr val="475467"/>
                </a:solidFill>
                <a:latin typeface="Microsoft YaHei"/>
              </a:rPr>
              <a:t>TCB 聚合执行上下文、地址空间、fd 表、信号状态和父子关系；ThreadGroup 区分 TGID/TID，支撑 fork/clone/execve/wait。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72000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572000"/>
            <a:ext cx="64008" cy="10972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800600"/>
            <a:ext cx="48006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当前关注点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138928"/>
            <a:ext cx="4800600" cy="74980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00" b="0">
                <a:solidFill>
                  <a:srgbClr val="475467"/>
                </a:solidFill>
                <a:latin typeface="Microsoft YaHei"/>
              </a:defRPr>
            </a:pPr>
            <a:r>
              <a:rPr sz="1250" b="0">
                <a:solidFill>
                  <a:srgbClr val="475467"/>
                </a:solidFill>
                <a:latin typeface="Microsoft YaHei"/>
              </a:rPr>
              <a:t>线程组退出、clear_child_tid、robust list 和 futex 交互仍是长测稳定性的重点。</a:t>
            </a:r>
          </a:p>
        </p:txBody>
      </p:sp>
      <p:pic>
        <p:nvPicPr>
          <p:cNvPr id="30" name="Picture 29" descr="task-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15568"/>
            <a:ext cx="914400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11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调度、阻塞与生命周期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42416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FIFO 调度队列和等待路径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40" y="4663440"/>
            <a:ext cx="6720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34840" y="4663440"/>
            <a:ext cx="64008" cy="100584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3913632"/>
            <a:ext cx="438912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生命周期边界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4279392"/>
            <a:ext cx="4480560" cy="82296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80" b="0">
                <a:solidFill>
                  <a:srgbClr val="475467"/>
                </a:solidFill>
                <a:latin typeface="Microsoft YaHei"/>
              </a:defRPr>
            </a:pPr>
            <a:r>
              <a:rPr sz="1250" b="0">
                <a:solidFill>
                  <a:srgbClr val="475467"/>
                </a:solidFill>
                <a:latin typeface="Microsoft YaHei"/>
              </a:rPr>
              <a:t>普通子进程退出后保留退出码和元数据，直到父进程 wait4 回收；线程退出还需要清理 clear_child_tid 并执行 futex wake。</a:t>
            </a:r>
          </a:p>
        </p:txBody>
      </p:sp>
      <p:pic>
        <p:nvPicPr>
          <p:cNvPr id="43" name="Picture 42" descr="scheduler-que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07008"/>
            <a:ext cx="9326880" cy="25603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31520" y="3913632"/>
            <a:ext cx="46634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60" b="0">
                <a:solidFill>
                  <a:srgbClr val="475467"/>
                </a:solidFill>
                <a:latin typeface="Microsoft YaHei"/>
              </a:rPr>
              <a:t>调度队列图表达 ready_queue、Processor 与 blocked_queue 之间的任务流转；具体等待原因在生命周期边界中展开。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12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功能完成度总览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42416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以最终源码和全量 LTP 报告衡量主路径成熟度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0704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411480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8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系统调用分发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99616"/>
            <a:ext cx="4114800" cy="128016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99616"/>
            <a:ext cx="4114800" cy="128016"/>
          </a:xfrm>
          <a:prstGeom prst="round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2" y="1417320"/>
            <a:ext cx="50292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00" b="1">
                <a:solidFill>
                  <a:srgbClr val="129675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100.0%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82496"/>
            <a:ext cx="452628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780" b="0">
                <a:solidFill>
                  <a:srgbClr val="667085"/>
                </a:solidFill>
                <a:latin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</a:rPr>
              <a:t>216 个 dispatch arm 一一对应。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411480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8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文件系统与 fd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99616"/>
            <a:ext cx="4114800" cy="128016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499616"/>
            <a:ext cx="3867911" cy="128016"/>
          </a:xfrm>
          <a:prstGeom prst="round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97312" y="1417320"/>
            <a:ext cx="50292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00" b="1">
                <a:solidFill>
                  <a:srgbClr val="2D64E6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94.0%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82496"/>
            <a:ext cx="452628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780" b="0">
                <a:solidFill>
                  <a:srgbClr val="667085"/>
                </a:solidFill>
                <a:latin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</a:rPr>
              <a:t>剩余差异集中在文件/I/O 边界。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377440"/>
            <a:ext cx="411480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8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进程/线程/调度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2642616"/>
            <a:ext cx="4114800" cy="128016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2642616"/>
            <a:ext cx="3909059" cy="128016"/>
          </a:xfrm>
          <a:prstGeom prst="round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2" y="2560320"/>
            <a:ext cx="50292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00" b="1">
                <a:solidFill>
                  <a:srgbClr val="129675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95.0%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825496"/>
            <a:ext cx="452628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780" b="0">
                <a:solidFill>
                  <a:srgbClr val="667085"/>
                </a:solidFill>
                <a:latin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fork/clone/exec/wait/futex 主路径可用。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77440"/>
            <a:ext cx="411480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8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内存管理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642616"/>
            <a:ext cx="4114800" cy="128016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2642616"/>
            <a:ext cx="3826764" cy="128016"/>
          </a:xfrm>
          <a:prstGeom prst="roundRect">
            <a:avLst/>
          </a:prstGeom>
          <a:solidFill>
            <a:srgbClr val="704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97312" y="2560320"/>
            <a:ext cx="50292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00" b="1">
                <a:solidFill>
                  <a:srgbClr val="704CB6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93.0%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25496"/>
            <a:ext cx="452628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780" b="0">
                <a:solidFill>
                  <a:srgbClr val="667085"/>
                </a:solidFill>
                <a:latin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</a:rPr>
              <a:t>ELF、mmap、COW、双架构页表稳定。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20440"/>
            <a:ext cx="411480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80" b="1">
                <a:solidFill>
                  <a:srgbClr val="202124"/>
                </a:solidFill>
                <a:latin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</a:rPr>
              <a:t>时间与 special fd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785615"/>
            <a:ext cx="4114800" cy="128016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8680" y="3785615"/>
            <a:ext cx="3950208" cy="128016"/>
          </a:xfrm>
          <a:prstGeom prst="round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6632" y="3703320"/>
            <a:ext cx="50292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00" b="1">
                <a:solidFill>
                  <a:srgbClr val="129675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96.0%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968496"/>
            <a:ext cx="452628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780" b="0">
                <a:solidFill>
                  <a:srgbClr val="667085"/>
                </a:solidFill>
                <a:latin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timerfd、epoll、eventfd 等接入 fd。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520440"/>
            <a:ext cx="411480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8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网络回环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785615"/>
            <a:ext cx="4114800" cy="128016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09360" y="3785615"/>
            <a:ext cx="3621024" cy="128016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97312" y="3703320"/>
            <a:ext cx="50292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00" b="1">
                <a:solidFill>
                  <a:srgbClr val="F58220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88.0%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968496"/>
            <a:ext cx="452628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780" b="0">
                <a:solidFill>
                  <a:srgbClr val="667085"/>
                </a:solidFill>
                <a:latin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</a:rPr>
              <a:t>IPv4 TCP/UDP 回环；真实网卡暂未接入。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074920"/>
            <a:ext cx="10378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" y="5074920"/>
            <a:ext cx="64008" cy="68580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39" y="5166359"/>
            <a:ext cx="10104119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12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口径说明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39" y="5468112"/>
            <a:ext cx="10104119" cy="26517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880" b="0">
                <a:solidFill>
                  <a:srgbClr val="475467"/>
                </a:solidFill>
                <a:latin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这里是汇报用主路径成熟度；真实验证看 LTP 断言统计和 compare CSV。四组 LTP 断言通过率为 96.91%-97.63%。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13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文件系统模块完成度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VFS 抽象支撑常规文件、目录、procfs 和 devfs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53035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80160"/>
            <a:ext cx="68580" cy="480060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89888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VFS 与后端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4709160" cy="3977639"/>
          </a:xfrm>
          <a:prstGeom prst="rect">
            <a:avLst/>
          </a:prstGeom>
          <a:noFill/>
        </p:spPr>
        <p:txBody>
          <a:bodyPr wrap="square" lIns="73152" rIns="27432">
            <a:normAutofit/>
          </a:bodyPr>
          <a:lstStyle/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inode/dentry/file/superblock 抽象统一常规文件和特殊文件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Ext4 通过 lwext4_rust 和 Disk 适配层接入块设备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procfs 动态生成 cpuinfo、mounts、meminfo、status 等兼容入口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devfs 暴露 null、zero、random、misc/rtc、loop-control、loop0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3035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68580" cy="480060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389888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需要继续强化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4709160" cy="3977639"/>
          </a:xfrm>
          <a:prstGeom prst="rect">
            <a:avLst/>
          </a:prstGeom>
          <a:noFill/>
        </p:spPr>
        <p:txBody>
          <a:bodyPr wrap="square" lIns="73152" rIns="27432">
            <a:normAutofit/>
          </a:bodyPr>
          <a:lstStyle/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路径解析中的权限、软链接、AT_* 标志和错误码细节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page cache 与 dentry cache 在目录修改和写回路径中的一致性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xattr、mount、rename/link/unlink 等复杂边界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长测下 Ext4 写入、truncate 和目录项更新稳定性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14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32688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系统调用与 fd 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最终版 syscall 分发规模与实现分布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8580" cy="452628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44168"/>
            <a:ext cx="315468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3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分发规模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673352"/>
            <a:ext cx="3154680" cy="405079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syscall/mod.rs 维护 216 个 Linux syscall 分发入口。分发层负责 syscall id、参数数组、返回值和 errno 的统一出口。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68580" cy="452628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344168"/>
            <a:ext cx="315468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3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实现分布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673352"/>
            <a:ext cx="3154680" cy="405079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fs.rs 73 个入口，process.rs 56 个入口，special_fd.rs 20 个入口，net.rs 18 个入口，time.rs 17 个入口，signal.rs 12 个入口。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68580" cy="452628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344168"/>
            <a:ext cx="315468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3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fd 资源模型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673352"/>
            <a:ext cx="3154680" cy="405079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普通文件、目录、pipe、socket、timerfd、eventfd、epoll、stdio 和 devfs 文件都通过 FileOp 进入 read/write/poll/close 路径。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15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信号处理模块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系统调用返回、缺页修复和定时器触发后统一检查信号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68580" cy="42519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344168"/>
            <a:ext cx="315468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信号状态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673352"/>
            <a:ext cx="3154680" cy="377647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每个任务维护 pending、mask、handler/action 等状态，支持默认、忽略和用户自定义处理。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68580" cy="425196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344168"/>
            <a:ext cx="315468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递送路径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673352"/>
            <a:ext cx="3154680" cy="377647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返回用户态前检查未屏蔽信号；若需要用户 handler，内核构造用户栈帧并修改 TrapContext。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68580" cy="425196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344168"/>
            <a:ext cx="315468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返回路径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673352"/>
            <a:ext cx="3154680" cy="377647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用户 handler 结束后通过 sigreturn 跳板回到内核，恢复原上下文和信号屏蔽状态。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16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IPC 与同步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围绕 shell、pthread 和 LTP 同步测例补齐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53035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80160"/>
            <a:ext cx="68580" cy="480060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89888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已覆盖能力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4709160" cy="3977639"/>
          </a:xfrm>
          <a:prstGeom prst="rect">
            <a:avLst/>
          </a:prstGeom>
          <a:noFill/>
        </p:spPr>
        <p:txBody>
          <a:bodyPr wrap="square" lIns="73152" rIns="27432">
            <a:normAutofit/>
          </a:bodyPr>
          <a:lstStyle/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pipe/FIFO 支持读写端引用计数、阻塞和 poll 状态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futex 支持 wait/wake，服务 pthread 条件变量和线程同步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部分 SysV IPC 支持 shmget/shmat/shmctl 等共享内存路径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robust list 与 clear_child_tid 用于线程退出后的用户态同步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3035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68580" cy="480060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389888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后续重点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4709160" cy="3977639"/>
          </a:xfrm>
          <a:prstGeom prst="rect">
            <a:avLst/>
          </a:prstGeom>
          <a:noFill/>
        </p:spPr>
        <p:txBody>
          <a:bodyPr wrap="square" lIns="73152" rIns="27432">
            <a:normAutofit/>
          </a:bodyPr>
          <a:lstStyle/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futex 复杂 op、超时、信号中断和竞争窗口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SysV IPC 权限、标志、生命周期和错误码细节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pipe/splice/sendfile 等 I/O 组合路径的边界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多线程密集退出和等待路径下的偶发状态残留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17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时间模块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多尺度时钟支撑 libc 时间接口和超时等待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8580" cy="420624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44168"/>
            <a:ext cx="310896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基础时间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673352"/>
            <a:ext cx="3108960" cy="37307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gettimeofday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clock_gettime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time / times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statx timestamp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硬件 tick 换算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68580" cy="420624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344168"/>
            <a:ext cx="310896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睡眠与超时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673352"/>
            <a:ext cx="3108960" cy="37307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nanosleep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clock_nanosleep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socket recv/send timeout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futex timeout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阻塞等待中的 timer 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23444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234440"/>
            <a:ext cx="68580" cy="42062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1344168"/>
            <a:ext cx="310896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定时器接口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1673352"/>
            <a:ext cx="3108960" cy="37307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alarm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setitimer/getitimer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POSIX timer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timerfd_create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timerfd_settime/read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18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网络模块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当前重点是 IPv4 本地回环和 socket ABI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5074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234440"/>
            <a:ext cx="68580" cy="44348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344168"/>
            <a:ext cx="48006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完成内容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1673352"/>
            <a:ext cx="4800600" cy="39593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socket() 解析 AF_INET/AF_UNIX、SOCK_STREAM/SOCK_DGRAM 和 NONBLOCK/CLOEXEC；TCP/UDP 通过 smoltcp SocketSet 推进状态机；LoopbackDev 把发送包放入队列并在下一次 poll 作为接收包返回。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074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68580" cy="443484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344168"/>
            <a:ext cx="48006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兼容边界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1673352"/>
            <a:ext cx="4800600" cy="39593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支持 bind/connect/listen/accept/sendto/recvfrom/sendmsg/recvmsg 的主路径和常见 socket option。当前不接入真实网卡，IPv6/raw socket 等按语义返回不支持错误码。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19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14400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设备与块 I/O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VirtIO block 支撑 Ext4，devfs 支撑用户态兼容入口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53035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80160"/>
            <a:ext cx="68580" cy="480060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89888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块设备路径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4709160" cy="3977639"/>
          </a:xfrm>
          <a:prstGeom prst="rect">
            <a:avLst/>
          </a:prstGeom>
          <a:noFill/>
        </p:spPr>
        <p:txBody>
          <a:bodyPr wrap="square" lIns="73152" rIns="27432">
            <a:normAutofit/>
          </a:bodyPr>
          <a:lstStyle/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RISC-V 使用 VirtIO MMIO transport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LoongArch 通过 PCI 扫描找到 virtio-blk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VirtIoHalImpl 管理 DMA 页帧和虚实地址转换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Disk 适配层把连续读写转换为块读写，供 lwext4 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3035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68580" cy="480060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389888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设备文件路径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4709160" cy="3977639"/>
          </a:xfrm>
          <a:prstGeom prst="rect">
            <a:avLst/>
          </a:prstGeom>
          <a:noFill/>
        </p:spPr>
        <p:txBody>
          <a:bodyPr wrap="square" lIns="73152" rIns="27432">
            <a:normAutofit/>
          </a:bodyPr>
          <a:lstStyle/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/dev/null、/dev/zero、/dev/random、/dev/urandom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/dev/misc/rtc 当前作为 RTC 兼容 stub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/dev/loop-control 查询可用 loop 设备</a:t>
            </a:r>
          </a:p>
          <a:p>
            <a:pPr marL="210000" hanging="105000">
              <a:spcAft>
                <a:spcPts val="500"/>
              </a:spcAft>
              <a:defRPr sz="1019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/dev/loop0 通过 ioctl 绑定普通文件作为块设备后端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20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32688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测试方法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全量输出、逐用例报告和 Linux baseline 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8580" cy="443484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44168"/>
            <a:ext cx="310896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输入与平台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673352"/>
            <a:ext cx="3108960" cy="39593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rv-output.txt：RISC-V 64 全量测例输出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la-output.txt：LoongArch 64 全量测例输出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glibc + musl 双 libc 组合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每个平台覆盖约 688 个 LTP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68580" cy="443484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344168"/>
            <a:ext cx="310896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报告统计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673352"/>
            <a:ext cx="3108960" cy="39593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judge/local-report/ 生成逐用例 CSV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记录 TPASS/TFAIL/TBROK/TCONF/WARN/ALL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TOTAL 行作为汇报统计口径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用于观察四组合通过率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23444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234440"/>
            <a:ext cx="68580" cy="443484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1344168"/>
            <a:ext cx="310896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差异分析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1673352"/>
            <a:ext cx="3108960" cy="39593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judge/local-compare/ 与 Linux baseline 对比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统计 missing/failed/partial/broken/skipped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计算 lost_passed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定位高收益修复项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202124"/>
                </a:solidFill>
                <a:latin typeface="Microsoft YaHei"/>
              </a:rPr>
              <a:t>本地测试结果与性能观察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9509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475467"/>
                </a:solidFill>
                <a:latin typeface="Microsoft YaHei"/>
              </a:rPr>
              <a:t>用例通过率、断言统计和网络吞吐分开呈现，避免不同统计口径混排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280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67085"/>
                </a:solidFill>
                <a:latin typeface="Microsoft YaHei"/>
              </a:rPr>
              <a:t>21 / 25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143000"/>
          <a:ext cx="5349240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89320" y="1143000"/>
          <a:ext cx="5074920" cy="32461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61772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17720"/>
            <a:ext cx="299923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1">
                <a:solidFill>
                  <a:srgbClr val="202124"/>
                </a:solidFill>
                <a:latin typeface="Microsoft YaHei"/>
              </a:rPr>
              <a:t>统计口径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82896"/>
            <a:ext cx="2999232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20" b="0">
                <a:solidFill>
                  <a:srgbClr val="475467"/>
                </a:solidFill>
                <a:latin typeface="Microsoft YaHei"/>
              </a:rPr>
              <a:t>正文中 LTP TOTAL 行仍使用断言级 TPASS/TFAIL/TBROK；本页左图只表达用例通过率，不和断言数直接相加。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461772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4617720"/>
            <a:ext cx="299923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1">
                <a:solidFill>
                  <a:srgbClr val="202124"/>
                </a:solidFill>
                <a:latin typeface="Microsoft YaHei"/>
              </a:rPr>
              <a:t>吞吐来源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4882896"/>
            <a:ext cx="2999232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20" b="0">
                <a:solidFill>
                  <a:srgbClr val="475467"/>
                </a:solidFill>
                <a:latin typeface="Microsoft YaHei"/>
              </a:rPr>
              <a:t>iperf 数据取自 rv-output.txt 与 la-output.txt 中 BASIC_UDP/BASIC_TCP 的 receiver 行，单位统一为 Mbits/s。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8" y="4617720"/>
            <a:ext cx="3246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2" y="4617720"/>
            <a:ext cx="295351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1">
                <a:solidFill>
                  <a:srgbClr val="202124"/>
                </a:solidFill>
                <a:latin typeface="Microsoft YaHei"/>
              </a:rPr>
              <a:t>当前结论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4882896"/>
            <a:ext cx="2953512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20" b="0">
                <a:solidFill>
                  <a:srgbClr val="475467"/>
                </a:solidFill>
                <a:latin typeface="Microsoft YaHei"/>
              </a:rPr>
              <a:t>UDP 回环吞吐四组接近 50 Mbits/s；TCP 在 LoongArch 上约 40 Mbits/s，RISC-V 上约 27-28 Mbits/s。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87568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475467"/>
                </a:solidFill>
                <a:latin typeface="Microsoft YaHei"/>
              </a:rPr>
              <a:t>补充：四组 LTP 断言统计为 TPASS 4992 / 5005 / 5054 / 5035，对应详细表格保留在文档正文和汇报前文中。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22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32688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与 Linux baseline 的差异分析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剩余差距集中在文件系统与 I/O 边界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8580" cy="105156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344168"/>
            <a:ext cx="48920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compare 总览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673352"/>
            <a:ext cx="4892040" cy="57607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RISC-V compare 记录数 glibc/musl 为 105/105，lost_passed 为 766/761；LoongArch compare 记录数为 107/119，lost_passed 为 715/738。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68580" cy="105156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344168"/>
            <a:ext cx="48920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架构差异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1673352"/>
            <a:ext cx="4892040" cy="57607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LoongArch 合计通过率略高；RISC-V glibc 差异最高，主要受到 splice07、chdir01 等 I/O 与目录语义影响。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06040"/>
            <a:ext cx="3337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606040"/>
            <a:ext cx="68580" cy="256032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715768"/>
            <a:ext cx="30632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主要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044952"/>
            <a:ext cx="3063240" cy="208483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1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tar_tests.sh：68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creat09：48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file01.sh：36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du01.sh：23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这些项在四个组合中反复出现。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606040"/>
            <a:ext cx="3337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606040"/>
            <a:ext cx="68580" cy="25603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2715768"/>
            <a:ext cx="30632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</a:rPr>
              <a:t>主要 failed / 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044952"/>
            <a:ext cx="3063240" cy="208483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1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splice07：RISC-V lost 50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chdir01：lost 42-46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fsync01：lost 30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rename01/03：lost 24 左右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606040"/>
            <a:ext cx="3337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2606040"/>
            <a:ext cx="68580" cy="2560320"/>
          </a:xfrm>
          <a:prstGeom prst="rect">
            <a:avLst/>
          </a:prstGeom>
          <a:solidFill>
            <a:srgbClr val="704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2715768"/>
            <a:ext cx="30632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修复方向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044952"/>
            <a:ext cx="3063240" cy="2084831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1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优先检查目录切换、文件创建、同步写回、目录项更新、splice/sendfile 与脚本类工具依赖。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23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32688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后续优化计划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优先处理 lost_passed 最高的边界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143000"/>
            <a:ext cx="106527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43000"/>
            <a:ext cx="68580" cy="621792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252728"/>
            <a:ext cx="103784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P0 文件系统差异收敛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1581912"/>
            <a:ext cx="10378440" cy="146304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475467"/>
                </a:solidFill>
                <a:latin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tar_tests.sh、creat09、file01.sh、chdir01、fsync01、rename01/03、splice07。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020824"/>
            <a:ext cx="106527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020824"/>
            <a:ext cx="68580" cy="621792"/>
          </a:xfrm>
          <a:prstGeom prst="rect">
            <a:avLst/>
          </a:prstGeom>
          <a:solidFill>
            <a:srgbClr val="B0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130552"/>
            <a:ext cx="103784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P0 ABI 细节补齐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2459736"/>
            <a:ext cx="10378440" cy="146304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475467"/>
                </a:solidFill>
                <a:latin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openat/openat2、权限检查、xattr、mount、socket option、SysV IPC、资源限制。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98648"/>
            <a:ext cx="106527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898648"/>
            <a:ext cx="68580" cy="621792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008376"/>
            <a:ext cx="103784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P1 生命周期稳定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3337560"/>
            <a:ext cx="10378440" cy="146304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475467"/>
                </a:solidFill>
                <a:latin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fork/clone/execve/exit/wait4 与 COW、mmap、futex、robust list 的组合场景。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76472"/>
            <a:ext cx="106527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776472"/>
            <a:ext cx="68580" cy="621792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886200"/>
            <a:ext cx="103784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P1 双架构对照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4215383"/>
            <a:ext cx="10378440" cy="146304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475467"/>
                </a:solidFill>
                <a:latin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固定 RISC-V 与 LoongArch 在 trap、页表、时钟、设备、用户 ABI 上的回归矩阵。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54296"/>
            <a:ext cx="106527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654296"/>
            <a:ext cx="68580" cy="6217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4764024"/>
            <a:ext cx="1037844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P2 网络与设备扩展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5093208"/>
            <a:ext cx="10378440" cy="146304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50" b="0">
                <a:solidFill>
                  <a:srgbClr val="475467"/>
                </a:solidFill>
                <a:latin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在回环网络基础上评估 VirtIO-net，完善 tty/random/rtc/loop 等设备文件语义。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24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326880" cy="41148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5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近期里程碑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515600" cy="31089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把全量报告转化为固定回归流程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9848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68580" cy="443484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344168"/>
            <a:ext cx="32004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短期：差异收敛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673352"/>
            <a:ext cx="3200400" cy="39593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按 lost_passed 排序建立修复队列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优先处理文件系统与 I/O 边界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保留对应 rv/la 日志片段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每次修复同步更新 local-report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68580" cy="443484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344168"/>
            <a:ext cx="32004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中期：路径加固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673352"/>
            <a:ext cx="3200400" cy="39593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Ext4 写回和目录项更新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COW/mmap/fork/exit 组合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futex/robust list 退出边界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socket 非阻塞和 poll 状态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23444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234440"/>
            <a:ext cx="68580" cy="443484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3" y="1344168"/>
            <a:ext cx="3200400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5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长期：能力扩展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1673352"/>
            <a:ext cx="3200400" cy="395935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60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VirtIO-net 或更完整网络设备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更完整 tty/random/rtc/loop 语义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双架构固定回归脚本</a:t>
            </a:r>
            <a:br/>
            <a:r>
              <a:rPr sz="1220" b="0">
                <a:solidFill>
                  <a:srgbClr val="475467"/>
                </a:solidFill>
                <a:latin typeface="Microsoft YaHei"/>
              </a:rPr>
              <a:t>文档与测试数据同步维护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1325880" cy="20116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</a:rPr>
              <a:t>25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rPr sz="2400" b="1">
                <a:solidFill>
                  <a:srgbClr val="202124"/>
                </a:solidFill>
                <a:latin typeface="Microsoft YaHei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68096"/>
            <a:ext cx="10424160" cy="27432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</a:rPr>
              <a:t>最终版 RespOS 已进入测试驱动收敛阶段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60704"/>
            <a:ext cx="1143000" cy="3200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234440"/>
            <a:ext cx="10378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234440"/>
            <a:ext cx="64008" cy="822960"/>
          </a:xfrm>
          <a:prstGeom prst="rect">
            <a:avLst/>
          </a:prstGeom>
          <a:solidFill>
            <a:srgbClr val="12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1325880"/>
            <a:ext cx="10104119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当前成果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1627632"/>
            <a:ext cx="10104119" cy="40233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1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216 个 syscall dispatch；四组 LTP 断言通过率 96.91%-97.63%；RISC-V 与 LoongArch 均完成全量输出和 CSV 报告。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331720"/>
            <a:ext cx="10378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331720"/>
            <a:ext cx="64008" cy="822960"/>
          </a:xfrm>
          <a:prstGeom prst="rect">
            <a:avLst/>
          </a:prstGeom>
          <a:solidFill>
            <a:srgbClr val="2D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39" y="2423160"/>
            <a:ext cx="10104119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当前重点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39" y="2724912"/>
            <a:ext cx="10104119" cy="40233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1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差异集中在文件系统和 I/O：tar/file 脚本、creat、chdir、fsync、rename、splice/sendfile、权限与路径错误码。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29000"/>
            <a:ext cx="10378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29000"/>
            <a:ext cx="64008" cy="822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39" y="3520440"/>
            <a:ext cx="10104119" cy="256032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1200" b="1">
                <a:solidFill>
                  <a:srgbClr val="202124"/>
                </a:solidFill>
                <a:latin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</a:rPr>
              <a:t>后续方向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39" y="3822191"/>
            <a:ext cx="10104119" cy="402336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l">
              <a:defRPr sz="919" b="0">
                <a:solidFill>
                  <a:srgbClr val="475467"/>
                </a:solidFill>
                <a:latin typeface="Microsoft YaHei"/>
              </a:defRPr>
            </a:pPr>
            <a:r>
              <a:rPr sz="1220" b="0">
                <a:solidFill>
                  <a:srgbClr val="475467"/>
                </a:solidFill>
                <a:latin typeface="Microsoft YaHei"/>
              </a:rPr>
              <a:t>按 lost_passed 排序推进高收益修复，并固定 RISC-V/LoongArch 与 glibc/musl 四组合回归。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10378440" cy="365760"/>
          </a:xfrm>
          <a:prstGeom prst="rect">
            <a:avLst/>
          </a:prstGeom>
          <a:noFill/>
        </p:spPr>
        <p:txBody>
          <a:bodyPr wrap="square" lIns="27432" rIns="27432" anchor="t">
            <a:normAutofit/>
          </a:bodyPr>
          <a:lstStyle/>
          <a:p>
            <a:pPr algn="ctr">
              <a:defRPr sz="1800" b="1">
                <a:solidFill>
                  <a:srgbClr val="8B1A2B"/>
                </a:solidFill>
                <a:latin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</a:rPr>
              <a:t>RespOS 初赛进展汇报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