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6"/>
    <p:sldId id="278" r:id="rId5"/>
    <p:sldId id="279" r:id="rId4"/>
    <p:sldId id="280" r:id="rId3"/>
    <p:sldId id="281" r:id="rId2"/>
    <p:sldId id="282" r:id="rId33"/>
  </p:sldIdLst>
  <p:sldSz cx="1219169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C"/>
    <a:srgbClr val="FF8585"/>
    <a:srgbClr val="FF7979"/>
    <a:srgbClr val="FFA7A7"/>
    <a:srgbClr val="920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3" autoAdjust="0"/>
    <p:restoredTop sz="96387" autoAdjust="0"/>
  </p:normalViewPr>
  <p:slideViewPr>
    <p:cSldViewPr snapToGrid="0">
      <p:cViewPr varScale="1">
        <p:scale>
          <a:sx n="82" d="100"/>
          <a:sy n="82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6.xml"/><Relationship Id="rId3" Type="http://schemas.openxmlformats.org/officeDocument/2006/relationships/slide" Target="slides/slide25.xml"/><Relationship Id="rId4" Type="http://schemas.openxmlformats.org/officeDocument/2006/relationships/slide" Target="slides/slide24.xml"/><Relationship Id="rId5" Type="http://schemas.openxmlformats.org/officeDocument/2006/relationships/slide" Target="slides/slide23.xml"/><Relationship Id="rId6" Type="http://schemas.openxmlformats.org/officeDocument/2006/relationships/slide" Target="slides/slide2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D5B37-2324-4B85-A4B0-AEE1702C67AD}" type="datetimeFigureOut">
              <a:rPr lang="zh-CN" altLang="en-US" smtClean="0"/>
              <a:t>2018/5/10 Thursday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53FC6-A270-4373-94FA-B548CA471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45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884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613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766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94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829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3126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2990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61260" y="410029"/>
            <a:ext cx="461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方正小标宋简体"/>
                <a:cs typeface="+mn-cs"/>
              </a:rPr>
              <a:t>研究课题名称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方正小标宋简体"/>
              <a:cs typeface="+mn-cs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0363199" y="411845"/>
            <a:ext cx="1560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山东大学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XX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学院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+mn-ea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19315" y="683399"/>
            <a:ext cx="11546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3439886" y="333829"/>
            <a:ext cx="1683657" cy="34957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研究背景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5123543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研究内容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6810829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研究结论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8498115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研究展望</a:t>
            </a:r>
          </a:p>
        </p:txBody>
      </p:sp>
    </p:spTree>
    <p:extLst>
      <p:ext uri="{BB962C8B-B14F-4D97-AF65-F5344CB8AC3E}">
        <p14:creationId xmlns:p14="http://schemas.microsoft.com/office/powerpoint/2010/main" val="2295617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61260" y="410029"/>
            <a:ext cx="461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方正小标宋简体"/>
                <a:cs typeface="+mn-cs"/>
              </a:rPr>
              <a:t>研究课题名称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方正小标宋简体"/>
              <a:cs typeface="+mn-cs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0363199" y="411845"/>
            <a:ext cx="1560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山东大学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XX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学院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+mn-ea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19315" y="683399"/>
            <a:ext cx="11546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3439886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t>研究背景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5123543" y="333829"/>
            <a:ext cx="1683657" cy="34957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研究内容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6810829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研究结论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8498115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研究展望</a:t>
            </a:r>
          </a:p>
        </p:txBody>
      </p:sp>
    </p:spTree>
    <p:extLst>
      <p:ext uri="{BB962C8B-B14F-4D97-AF65-F5344CB8AC3E}">
        <p14:creationId xmlns:p14="http://schemas.microsoft.com/office/powerpoint/2010/main" val="2328610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61260" y="410029"/>
            <a:ext cx="461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方正小标宋简体"/>
                <a:cs typeface="+mn-cs"/>
              </a:rPr>
              <a:t>研究课题名称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方正小标宋简体"/>
              <a:cs typeface="+mn-cs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0363199" y="411845"/>
            <a:ext cx="1560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山东大学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XX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学院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+mn-ea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19315" y="683399"/>
            <a:ext cx="11546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3439886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研究背景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5123543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研究内容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6810829" y="333829"/>
            <a:ext cx="1683657" cy="34957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研究结论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8498115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研究展望</a:t>
            </a:r>
          </a:p>
        </p:txBody>
      </p:sp>
    </p:spTree>
    <p:extLst>
      <p:ext uri="{BB962C8B-B14F-4D97-AF65-F5344CB8AC3E}">
        <p14:creationId xmlns:p14="http://schemas.microsoft.com/office/powerpoint/2010/main" val="3943921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展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61260" y="410029"/>
            <a:ext cx="461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方正小标宋简体"/>
                <a:cs typeface="+mn-cs"/>
              </a:rPr>
              <a:t>研究课题名称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方正小标宋简体"/>
              <a:cs typeface="+mn-cs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0363199" y="411845"/>
            <a:ext cx="1560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山东大学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XX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小标宋简体"/>
                <a:ea typeface="+mn-ea"/>
                <a:cs typeface="+mn-cs"/>
              </a:rPr>
              <a:t>学院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小标宋简体"/>
              <a:ea typeface="+mn-ea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19315" y="683399"/>
            <a:ext cx="11546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3439886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研究背景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5123543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研究内容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6810829" y="333829"/>
            <a:ext cx="1683657" cy="349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研究结论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8498115" y="333829"/>
            <a:ext cx="1683657" cy="34957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研究展望</a:t>
            </a:r>
          </a:p>
        </p:txBody>
      </p:sp>
    </p:spTree>
    <p:extLst>
      <p:ext uri="{BB962C8B-B14F-4D97-AF65-F5344CB8AC3E}">
        <p14:creationId xmlns:p14="http://schemas.microsoft.com/office/powerpoint/2010/main" val="25750576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1905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552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40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035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F8080D-B5D0-4664-B938-5E7F93A5F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2018/5/10 Thursday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A44188-3096-49C0-8534-FE6F15E0F6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55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du-template-campus-red.jpg"/>
          <p:cNvPicPr>
            <a:picLocks noChangeAspect="1"/>
          </p:cNvPicPr>
          <p:nvPr/>
        </p:nvPicPr>
        <p:blipFill>
          <a:blip r:embed="rId2"/>
          <a:srcRect l="19938" r="19938"/>
          <a:stretch>
            <a:fillRect/>
          </a:stretch>
        </p:blipFill>
        <p:spPr>
          <a:xfrm>
            <a:off x="5623560" y="0"/>
            <a:ext cx="65653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022592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566928"/>
            <a:ext cx="82296" cy="5413248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5440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2090E"/>
                </a:solidFill>
                <a:latin typeface="Microsoft YaHei"/>
              </a:rPr>
              <a:t>全国大学生计算机系统能力大赛 · 操作系统设计赛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44752"/>
            <a:ext cx="52578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1">
                <a:solidFill>
                  <a:srgbClr val="282525"/>
                </a:solidFill>
                <a:latin typeface="方正小标宋简体"/>
              </a:rPr>
              <a:t>RespOS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95728"/>
            <a:ext cx="5230368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82525"/>
                </a:solidFill>
                <a:latin typeface="方正小标宋简体"/>
              </a:rPr>
              <a:t>让真实 Linux 工作负载</a:t>
            </a:r>
            <a:br/>
            <a:r>
              <a:t>跨越两种架构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675887"/>
            <a:ext cx="50749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D"/>
                </a:solidFill>
                <a:latin typeface="Microsoft YaHei"/>
              </a:rPr>
              <a:t>Rust 宏内核 · RISC-V64 / LoongArch64</a:t>
            </a:r>
            <a:br/>
            <a:r>
              <a:t>Linux ABI · SMP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4590288"/>
            <a:ext cx="5038344" cy="0"/>
          </a:xfrm>
          <a:prstGeom prst="line">
            <a:avLst/>
          </a:prstGeom>
          <a:ln w="1524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4882896"/>
            <a:ext cx="4800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2090E"/>
                </a:solidFill>
                <a:latin typeface="Microsoft YaHei"/>
              </a:rPr>
              <a:t>比特工匠队 · 山东大学（青岛）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340096"/>
            <a:ext cx="42519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2026 全国总决赛答辩 · 基线 c703118</a:t>
            </a:r>
          </a:p>
        </p:txBody>
      </p:sp>
      <p:pic>
        <p:nvPicPr>
          <p:cNvPr id="12" name="Picture 11" descr="sdu-template-whit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8" y="1207008"/>
            <a:ext cx="1536192" cy="15361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18120" y="5422392"/>
            <a:ext cx="3639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SHANDONG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364224"/>
            <a:ext cx="365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先给结论：RespOS 已经是一条可验证的系统链路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1271016"/>
            <a:ext cx="10561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不以 syscall 数量代替系统能力，用真实程序、并发压力和双架构构建给出证据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" y="1828800"/>
            <a:ext cx="25786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011680"/>
            <a:ext cx="22128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92090E"/>
                </a:solidFill>
                <a:latin typeface="Microsoft YaHei"/>
              </a:rPr>
              <a:t>216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56032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82525"/>
                </a:solidFill>
                <a:latin typeface="Microsoft YaHei"/>
              </a:rPr>
              <a:t>syscall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880360"/>
            <a:ext cx="221284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参数 / errno / 状态机归属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828800"/>
            <a:ext cx="25786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2011680"/>
            <a:ext cx="22128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03274"/>
                </a:solidFill>
                <a:latin typeface="Microsoft YaHei"/>
              </a:rPr>
              <a:t>44.9K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56032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82525"/>
                </a:solidFill>
                <a:latin typeface="Microsoft YaHei"/>
              </a:rPr>
              <a:t>Rust 源码行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880360"/>
            <a:ext cx="221284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os + user；不含 vendor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828800"/>
            <a:ext cx="25786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22128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447A55"/>
                </a:solidFill>
                <a:latin typeface="Microsoft YaHei"/>
              </a:rPr>
              <a:t>2 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032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82525"/>
                </a:solidFill>
                <a:latin typeface="Microsoft YaHei"/>
              </a:rPr>
              <a:t>release 构建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80360"/>
            <a:ext cx="221284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本次 HEAD 已复验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1828800"/>
            <a:ext cx="257860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2011680"/>
            <a:ext cx="22128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B57900"/>
                </a:solidFill>
                <a:latin typeface="Microsoft YaHei"/>
              </a:rPr>
              <a:t>368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256032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82525"/>
                </a:solidFill>
                <a:latin typeface="Microsoft YaHei"/>
              </a:rPr>
              <a:t>持续提交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880360"/>
            <a:ext cx="221284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2026-03-10 → 08-11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3584448"/>
            <a:ext cx="11137392" cy="2496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3813048"/>
            <a:ext cx="2057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82525"/>
                </a:solidFill>
                <a:latin typeface="Microsoft YaHei"/>
              </a:rPr>
              <a:t>我们真正解决的问题</a:t>
            </a:r>
          </a:p>
        </p:txBody>
      </p:sp>
      <p:sp>
        <p:nvSpPr>
          <p:cNvPr id="35" name="Oval 34"/>
          <p:cNvSpPr/>
          <p:nvPr/>
        </p:nvSpPr>
        <p:spPr>
          <a:xfrm>
            <a:off x="786384" y="4398264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315968"/>
            <a:ext cx="1002182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同一套公共内核逻辑落到 RV64 与 LA64 两套特权体系</a:t>
            </a:r>
          </a:p>
        </p:txBody>
      </p:sp>
      <p:sp>
        <p:nvSpPr>
          <p:cNvPr id="37" name="Oval 36"/>
          <p:cNvSpPr/>
          <p:nvPr/>
        </p:nvSpPr>
        <p:spPr>
          <a:xfrm>
            <a:off x="786384" y="4791455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709159"/>
            <a:ext cx="1002182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让 fork / exec / mmap / pipe / socket 等跨模块组合保持 Linux 可观察语义</a:t>
            </a:r>
          </a:p>
        </p:txBody>
      </p:sp>
      <p:sp>
        <p:nvSpPr>
          <p:cNvPr id="39" name="Oval 38"/>
          <p:cNvSpPr/>
          <p:nvPr/>
        </p:nvSpPr>
        <p:spPr>
          <a:xfrm>
            <a:off x="786384" y="5184648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2182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在 8 核环境中处理调度归属、TLB shootdown、中断重入和生命周期竞态</a:t>
            </a:r>
          </a:p>
        </p:txBody>
      </p:sp>
      <p:sp>
        <p:nvSpPr>
          <p:cNvPr id="41" name="Oval 40"/>
          <p:cNvSpPr/>
          <p:nvPr/>
        </p:nvSpPr>
        <p:spPr>
          <a:xfrm>
            <a:off x="786384" y="5577840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495544"/>
            <a:ext cx="1002182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用日志、GDB、专项 probe 和可复现命令区分“通过、部分通过、待验证”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证据：当前源码；git log；2026-08-11 make build-rv/build-la（release, user features empty）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答辩主线：设计 → 难题 → 证据 → 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184708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2090E"/>
                </a:solidFill>
                <a:latin typeface="Microsoft YaHei"/>
              </a:rPr>
              <a:t>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25880" y="2011680"/>
            <a:ext cx="548639" cy="0"/>
          </a:xfrm>
          <a:prstGeom prst="line">
            <a:avLst/>
          </a:prstGeom>
          <a:ln w="2794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84831" y="1819656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系统目标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1847088"/>
            <a:ext cx="67665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D"/>
                </a:solidFill>
                <a:latin typeface="Microsoft YaHei"/>
              </a:rPr>
              <a:t>真实 Linux 程序，而非孤立接口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7004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03274"/>
                </a:solidFill>
                <a:latin typeface="Microsoft YaHei"/>
              </a:rPr>
              <a:t>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25880" y="2834640"/>
            <a:ext cx="548639" cy="0"/>
          </a:xfrm>
          <a:prstGeom prst="line">
            <a:avLst/>
          </a:prstGeom>
          <a:ln w="27940">
            <a:solidFill>
              <a:srgbClr val="303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84831" y="2642616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四项贡献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2670048"/>
            <a:ext cx="67665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D"/>
                </a:solidFill>
                <a:latin typeface="Microsoft YaHei"/>
              </a:rPr>
              <a:t>双架构 / SMP / MM / VFS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49300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57900"/>
                </a:solidFill>
                <a:latin typeface="Microsoft YaHei"/>
              </a:rPr>
              <a:t>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25880" y="3657600"/>
            <a:ext cx="548639" cy="0"/>
          </a:xfrm>
          <a:prstGeom prst="line">
            <a:avLst/>
          </a:prstGeom>
          <a:ln w="27940">
            <a:solidFill>
              <a:srgbClr val="B57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084831" y="3465576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关键调试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3493008"/>
            <a:ext cx="67665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D"/>
                </a:solidFill>
                <a:latin typeface="Microsoft YaHei"/>
              </a:rPr>
              <a:t>从症状到不变量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1596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47A55"/>
                </a:solidFill>
                <a:latin typeface="Microsoft YaHei"/>
              </a:rPr>
              <a:t>04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25880" y="4480560"/>
            <a:ext cx="548639" cy="0"/>
          </a:xfrm>
          <a:prstGeom prst="line">
            <a:avLst/>
          </a:prstGeom>
          <a:ln w="27940">
            <a:solidFill>
              <a:srgbClr val="447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84831" y="4288536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验证矩阵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4315968"/>
            <a:ext cx="67665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D"/>
                </a:solidFill>
                <a:latin typeface="Microsoft YaHei"/>
              </a:rPr>
              <a:t>当前结论与证据边界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138928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05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25880" y="5303520"/>
            <a:ext cx="548639" cy="0"/>
          </a:xfrm>
          <a:prstGeom prst="line">
            <a:avLst/>
          </a:prstGeom>
          <a:ln w="279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84831" y="5111496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诚信披露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5138928"/>
            <a:ext cx="67665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D"/>
                </a:solidFill>
                <a:latin typeface="Microsoft YaHei"/>
              </a:rPr>
              <a:t>参考、AI、未完成项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项目定位：把 Linux ABI 落到可解释的内核对象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1271016"/>
            <a:ext cx="10561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测例会穿透模块边界；正确性来自对象身份、生命周期和提交顺序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1828800"/>
            <a:ext cx="110642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2148840"/>
            <a:ext cx="1874519" cy="548640"/>
          </a:xfrm>
          <a:prstGeom prst="roundRect">
            <a:avLst/>
          </a:prstGeom>
          <a:solidFill>
            <a:srgbClr val="92090E"/>
          </a:solidFill>
          <a:ln w="12700"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286000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AF8F5"/>
                </a:solidFill>
                <a:latin typeface="Microsoft YaHei"/>
              </a:rPr>
              <a:t>用户态负载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267712"/>
            <a:ext cx="76809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musl / glibc · BusyBox · LTP · CAgent · cargo/rustc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2423160"/>
            <a:ext cx="210312" cy="0"/>
          </a:xfrm>
          <a:prstGeom prst="line">
            <a:avLst/>
          </a:prstGeom>
          <a:ln w="2794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" y="2999232"/>
            <a:ext cx="1874519" cy="548640"/>
          </a:xfrm>
          <a:prstGeom prst="roundRect">
            <a:avLst/>
          </a:prstGeom>
          <a:solidFill>
            <a:srgbClr val="303274"/>
          </a:solidFill>
          <a:ln w="12700"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136392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AF8F5"/>
                </a:solidFill>
                <a:latin typeface="Microsoft YaHei"/>
              </a:rPr>
              <a:t>Linux ABI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118104"/>
            <a:ext cx="76809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参数 / 返回值 / errno / 权限 / 失败原子性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88920" y="3273552"/>
            <a:ext cx="210312" cy="0"/>
          </a:xfrm>
          <a:prstGeom prst="line">
            <a:avLst/>
          </a:prstGeom>
          <a:ln w="27940">
            <a:solidFill>
              <a:srgbClr val="303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" y="3849624"/>
            <a:ext cx="1874519" cy="548640"/>
          </a:xfrm>
          <a:prstGeom prst="roundRect">
            <a:avLst/>
          </a:prstGeom>
          <a:solidFill>
            <a:srgbClr val="B57900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986784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AF8F5"/>
                </a:solidFill>
                <a:latin typeface="Microsoft YaHei"/>
              </a:rPr>
              <a:t>领域状态机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968496"/>
            <a:ext cx="76809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Task · MemorySet · FdTable/FileOp · Signal · Socket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88920" y="4123944"/>
            <a:ext cx="210312" cy="0"/>
          </a:xfrm>
          <a:prstGeom prst="line">
            <a:avLst/>
          </a:prstGeom>
          <a:ln w="27940">
            <a:solidFill>
              <a:srgbClr val="B57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8680" y="4700016"/>
            <a:ext cx="1874519" cy="548640"/>
          </a:xfrm>
          <a:prstGeom prst="roundRect">
            <a:avLst/>
          </a:prstGeom>
          <a:solidFill>
            <a:srgbClr val="447A55"/>
          </a:solidFill>
          <a:ln w="12700"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837176"/>
            <a:ext cx="1691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AF8F5"/>
                </a:solidFill>
                <a:latin typeface="Microsoft YaHei"/>
              </a:rPr>
              <a:t>架构与设备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818888"/>
            <a:ext cx="76809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RV64 / LA64 · trap · page table · timer · virtio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4974336"/>
            <a:ext cx="210312" cy="0"/>
          </a:xfrm>
          <a:prstGeom prst="line">
            <a:avLst/>
          </a:prstGeom>
          <a:ln w="27940">
            <a:solidFill>
              <a:srgbClr val="447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8680" y="5532120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2090E"/>
                </a:solidFill>
                <a:latin typeface="Microsoft YaHei"/>
              </a:rPr>
              <a:t>设计原则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449824"/>
            <a:ext cx="8961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666D"/>
                </a:solidFill>
                <a:latin typeface="Microsoft YaHei"/>
              </a:rPr>
              <a:t>syscall 保持薄层；状态机归领域对象；高风险操作 prepare → copyout → commit；未实现的状态型 ABI 诚实失败。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证据：docs/codex/{architecture,decisions}.md；os/src/{syscall,task,mm,fs,net}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总体架构：公共语义与硬件差异分层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96596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" y="2194560"/>
            <a:ext cx="713232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244852"/>
            <a:ext cx="60350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761488"/>
            <a:ext cx="205740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user runtime</a:t>
            </a:r>
            <a:br/>
            <a:r>
              <a:t>testrunner / shell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81528" y="2907792"/>
            <a:ext cx="301751" cy="0"/>
          </a:xfrm>
          <a:prstGeom prst="line">
            <a:avLst/>
          </a:prstGeom>
          <a:ln w="2794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10712" y="196596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11880" y="2194560"/>
            <a:ext cx="713232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6744" y="2244852"/>
            <a:ext cx="60350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ABI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761488"/>
            <a:ext cx="205740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syscall / signal</a:t>
            </a:r>
            <a:br/>
            <a:r>
              <a:t>copyin / errno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97880" y="2907792"/>
            <a:ext cx="301751" cy="0"/>
          </a:xfrm>
          <a:prstGeom prst="line">
            <a:avLst/>
          </a:prstGeom>
          <a:ln w="2794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27064" y="196596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8232" y="2194560"/>
            <a:ext cx="713232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2244852"/>
            <a:ext cx="60350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KERNEL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2761488"/>
            <a:ext cx="205740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task · mm · fs</a:t>
            </a:r>
            <a:br/>
            <a:r>
              <a:t>net · timer · ipc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14232" y="2907792"/>
            <a:ext cx="301752" cy="0"/>
          </a:xfrm>
          <a:prstGeom prst="line">
            <a:avLst/>
          </a:prstGeom>
          <a:ln w="2794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43416" y="196596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44584" y="2194560"/>
            <a:ext cx="713232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2244852"/>
            <a:ext cx="60350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2761488"/>
            <a:ext cx="205740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RV64 / LA64</a:t>
            </a:r>
            <a:br/>
            <a:r>
              <a:t>trap · MMU · switch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15968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" y="4315968"/>
            <a:ext cx="54864" cy="1417320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4480559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内核边界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4901183"/>
            <a:ext cx="3035808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MM 拥有 VMA/PTE；task 拥有状态切换；FS 区分 fd/open-file/path/inode。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4315968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07408" y="4315968"/>
            <a:ext cx="54864" cy="1417320"/>
          </a:xfrm>
          <a:prstGeom prst="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8576" y="4480559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统一抽象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4901183"/>
            <a:ext cx="3035808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FileOp 接入文件、pipe、socket、timerfd、eventfd、epoll。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0456" y="4315968"/>
            <a:ext cx="34015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0456" y="4315968"/>
            <a:ext cx="54864" cy="1417320"/>
          </a:xfrm>
          <a:prstGeom prst="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4480559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架构收敛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901183"/>
            <a:ext cx="3035808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CSR、页表、trap frame、切换与 timer 差异留在 arch/。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证据：os/src/main.rs；os/src/arch/mod.rs；docs/assets/figures/architecture.svg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四项差异化贡献：不是功能罗列，而是系统不变量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828800"/>
            <a:ext cx="52852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01168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2090E"/>
                </a:solidFill>
                <a:latin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993392"/>
            <a:ext cx="4069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双架构公共内核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514600"/>
            <a:ext cx="3977639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6666D"/>
                </a:solidFill>
                <a:latin typeface="Microsoft YaHei"/>
              </a:rPr>
              <a:t>共享高半区与语义接口；差异收敛在 arch/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828800"/>
            <a:ext cx="52852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03274"/>
                </a:solidFill>
                <a:latin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1993392"/>
            <a:ext cx="4069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SMP 生命周期协议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514600"/>
            <a:ext cx="3977639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6666D"/>
                </a:solidFill>
                <a:latin typeface="Microsoft YaHei"/>
              </a:rPr>
              <a:t>CPU owner、affinity、active mask、single-winner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22191"/>
            <a:ext cx="52852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005072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57900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86783"/>
            <a:ext cx="4069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完整地址空间模型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507992"/>
            <a:ext cx="3977639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6666D"/>
                </a:solidFill>
                <a:latin typeface="Microsoft YaHei"/>
              </a:rPr>
              <a:t>MemorySet → VMA → PTE → frame；COW/lazy/file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3822191"/>
            <a:ext cx="52852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05072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47A55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3986783"/>
            <a:ext cx="4069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82525"/>
                </a:solidFill>
                <a:latin typeface="Microsoft YaHei"/>
              </a:rPr>
              <a:t>Linux 身份模型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507992"/>
            <a:ext cx="3977639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6666D"/>
                </a:solidFill>
                <a:latin typeface="Microsoft YaHei"/>
              </a:rPr>
              <a:t>fd / open-file / Path / Dentry / Inode 分层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6016752"/>
            <a:ext cx="9966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2090E"/>
                </a:solidFill>
                <a:latin typeface="Microsoft YaHei"/>
              </a:rPr>
              <a:t>每一项都绑定源码位置、失败模式与专项验证；评委可沿调用链追问。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证据：docs/codex/architecture.md；docs/决赛文档/markdown/01-概述.md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贡献一：一套公共语义，两套底层实现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828800"/>
            <a:ext cx="160020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1956816"/>
            <a:ext cx="14538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2090E"/>
                </a:solidFill>
                <a:latin typeface="Microsoft YaHei"/>
              </a:rPr>
              <a:t>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1828800"/>
            <a:ext cx="2578608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1956816"/>
            <a:ext cx="243230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2090E"/>
                </a:solidFill>
                <a:latin typeface="Microsoft YaHei"/>
              </a:rPr>
              <a:t>RISC-V64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28800"/>
            <a:ext cx="2578608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1956816"/>
            <a:ext cx="243230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2090E"/>
                </a:solidFill>
                <a:latin typeface="Microsoft YaHei"/>
              </a:rPr>
              <a:t>LoongArch64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7" y="1828800"/>
            <a:ext cx="361188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956816"/>
            <a:ext cx="346557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2090E"/>
                </a:solidFill>
                <a:latin typeface="Microsoft YaHei"/>
              </a:rPr>
              <a:t>公共代码看到的语义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322576"/>
            <a:ext cx="1600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2478024"/>
            <a:ext cx="1435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6666D"/>
                </a:solidFill>
                <a:latin typeface="Microsoft YaHei"/>
              </a:rPr>
              <a:t>启动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322576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9736" y="2478024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OpenSBI + FDT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322576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2936" y="2478024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低地址直映 → 高半区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7" y="2322576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4423" y="2478024"/>
            <a:ext cx="34472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rust_main_high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980944"/>
            <a:ext cx="1600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136391"/>
            <a:ext cx="1435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6666D"/>
                </a:solidFill>
                <a:latin typeface="Microsoft YaHei"/>
              </a:rPr>
              <a:t>页表根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2980944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9736" y="3136391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satp / Sv39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2980944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02936" y="3136391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PGDL·PGDH / TLB refill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82127" y="2980944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64423" y="3136391"/>
            <a:ext cx="34472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MemorySet / PageTable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639312"/>
            <a:ext cx="1600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3794760"/>
            <a:ext cx="1435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6666D"/>
                </a:solidFill>
                <a:latin typeface="Microsoft YaHei"/>
              </a:rPr>
              <a:t>异常返回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3639312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59736" y="3794760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stvec·sstatus·sret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3639312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02936" y="3794760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EEntry·PRMD·ertn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7" y="3639312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64423" y="3794760"/>
            <a:ext cx="34472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TrapContext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297680"/>
            <a:ext cx="1600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4453128"/>
            <a:ext cx="1435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66666D"/>
                </a:solidFill>
                <a:latin typeface="Microsoft YaHei"/>
              </a:rPr>
              <a:t>设备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29768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59736" y="4453128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virtio MMIO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4297680"/>
            <a:ext cx="25786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02936" y="4453128"/>
            <a:ext cx="24140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PCI virtio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82127" y="4297680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64423" y="4453128"/>
            <a:ext cx="34472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drivers / FileOp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5184648"/>
            <a:ext cx="1089964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5394960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本次复验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47088" y="5367528"/>
            <a:ext cx="16002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01952" y="5417820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RV64 RELEASE PASS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30168" y="5367528"/>
            <a:ext cx="16002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5417820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LA64 RELEASE PASS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2120" y="5367528"/>
            <a:ext cx="53035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同一 HEAD、顺序构建；输出为 ELF64 内核产物。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当前复验：2026-08-11，commit c703118，make build-rv / make build-la，RV_USER_FEATURES=LA_USER_FEATURES=empty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贡献二：SMP 的核心不是“启动 8 核”，而是所有权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874519"/>
            <a:ext cx="67208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212848"/>
            <a:ext cx="1078992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263140"/>
            <a:ext cx="96926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2231136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队列中，仅允许一个 CPU claim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08176" y="2560320"/>
            <a:ext cx="0" cy="365760"/>
          </a:xfrm>
          <a:prstGeom prst="line">
            <a:avLst/>
          </a:prstGeom>
          <a:ln w="2286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" y="3035808"/>
            <a:ext cx="1078992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086100"/>
            <a:ext cx="96926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054096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CPU owner 已发布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08176" y="3383279"/>
            <a:ext cx="0" cy="365760"/>
          </a:xfrm>
          <a:prstGeom prst="line">
            <a:avLst/>
          </a:prstGeom>
          <a:ln w="22860">
            <a:solidFill>
              <a:srgbClr val="303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8680" y="3858768"/>
            <a:ext cx="1078992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3909059"/>
            <a:ext cx="96926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6272" y="3877055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__switch 后释放 owner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08176" y="4206240"/>
            <a:ext cx="0" cy="365760"/>
          </a:xfrm>
          <a:prstGeom prst="line">
            <a:avLst/>
          </a:prstGeom>
          <a:ln w="22860">
            <a:solidFill>
              <a:srgbClr val="B57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68680" y="4681728"/>
            <a:ext cx="1078992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4732020"/>
            <a:ext cx="96926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BLOCKED/EXIT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4700016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single-winner 唤醒与延迟回收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13832"/>
            <a:ext cx="9144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2090E"/>
                </a:solidFill>
                <a:latin typeface="Microsoft YaHei"/>
              </a:rPr>
              <a:t>关键协议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422392"/>
            <a:ext cx="5074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affinity 同时约束 dequeue 与 IPI；active hart mask 决定 TLB shootdown；退出任务切到 idle 栈后才析构。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62672" y="1874519"/>
            <a:ext cx="382219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62672" y="1874519"/>
            <a:ext cx="54864" cy="1188720"/>
          </a:xfrm>
          <a:prstGeom prst="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2039112"/>
            <a:ext cx="3474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跨核地址空间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2459736"/>
            <a:ext cx="345643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读锁内发布 active bit；PTE 更新后本地 fence + remote RFENCE。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62672" y="3273552"/>
            <a:ext cx="382219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62672" y="3273552"/>
            <a:ext cx="54864" cy="1188720"/>
          </a:xfrm>
          <a:prstGeom prst="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438144"/>
            <a:ext cx="3474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exec quiescence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858768"/>
            <a:ext cx="345643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标记 sibling → 摘队 → 等 owner ack → 清理旧用户地址。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62672" y="4672584"/>
            <a:ext cx="382219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62672" y="4672584"/>
            <a:ext cx="54864" cy="1188720"/>
          </a:xfrm>
          <a:prstGeom prst="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4837176"/>
            <a:ext cx="3474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中断安全点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257800"/>
            <a:ext cx="345643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全局 heap 关本地中断；高层 timer work 只在无锁安全点运行。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证据：os/src/task/{scheduler,processor,task}.rs；os/src/mm/memory_set.rs；2026-08-06/07 SMP logs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贡献三：MemorySet 统一地址空间承诺与物理事实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09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2587752"/>
            <a:ext cx="4983480" cy="658368"/>
          </a:xfrm>
          <a:prstGeom prst="roundRect">
            <a:avLst/>
          </a:prstGeom>
          <a:solidFill>
            <a:srgbClr val="92090E"/>
          </a:solidFill>
          <a:ln w="12700"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74320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AF8F5"/>
                </a:solidFill>
                <a:latin typeface="Microsoft YaHei"/>
              </a:rPr>
              <a:t>VMA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734056"/>
            <a:ext cx="342900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AF8F5"/>
                </a:solidFill>
                <a:latin typeface="Microsoft YaHei"/>
              </a:rPr>
              <a:t>范围 · 权限 · backing · shared/private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559302"/>
            <a:ext cx="4983480" cy="658368"/>
          </a:xfrm>
          <a:prstGeom prst="roundRect">
            <a:avLst/>
          </a:prstGeom>
          <a:solidFill>
            <a:srgbClr val="303274"/>
          </a:solidFill>
          <a:ln w="12700"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71475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AF8F5"/>
                </a:solidFill>
                <a:latin typeface="Microsoft YaHei"/>
              </a:rPr>
              <a:t>PTE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705606"/>
            <a:ext cx="342900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AF8F5"/>
                </a:solidFill>
                <a:latin typeface="Microsoft YaHei"/>
              </a:rPr>
              <a:t>CPU 当前可见的映射与权限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530852"/>
            <a:ext cx="4983480" cy="658368"/>
          </a:xfrm>
          <a:prstGeom prst="roundRect">
            <a:avLst/>
          </a:prstGeom>
          <a:solidFill>
            <a:srgbClr val="B57900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686300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AF8F5"/>
                </a:solidFill>
                <a:latin typeface="Microsoft YaHei"/>
              </a:rPr>
              <a:t>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677156"/>
            <a:ext cx="342900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AF8F5"/>
                </a:solidFill>
                <a:latin typeface="Microsoft YaHei"/>
              </a:rPr>
              <a:t>resident 页与所有权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6120" y="3246120"/>
            <a:ext cx="0" cy="484632"/>
          </a:xfrm>
          <a:prstGeom prst="line">
            <a:avLst/>
          </a:prstGeom>
          <a:ln w="2540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46120" y="4224528"/>
            <a:ext cx="0" cy="484632"/>
          </a:xfrm>
          <a:prstGeom prst="line">
            <a:avLst/>
          </a:prstGeom>
          <a:ln w="2540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90488" y="1874519"/>
            <a:ext cx="52303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1874519"/>
            <a:ext cx="54864" cy="1097280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5" y="2039112"/>
            <a:ext cx="48828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COW / lazy 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2459736"/>
            <a:ext cx="4864607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D"/>
                </a:solidFill>
                <a:latin typeface="Microsoft YaHei"/>
              </a:rPr>
              <a:t>合法缺页由 VMA 决定；再分配 frame、安装 PTE、保持权限相容。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182112"/>
            <a:ext cx="52303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182112"/>
            <a:ext cx="54864" cy="1097280"/>
          </a:xfrm>
          <a:prstGeom prst="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5" y="3346704"/>
            <a:ext cx="48828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file-backed ELF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5" y="3767328"/>
            <a:ext cx="4864607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D"/>
                </a:solidFill>
                <a:latin typeface="Microsoft YaHei"/>
              </a:rPr>
              <a:t>大 ELF 只读 header/PHDR；PT_LOAD 按页 fault，避免完整 Vec 占满内核堆。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89704"/>
            <a:ext cx="52303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89704"/>
            <a:ext cx="54864" cy="1097280"/>
          </a:xfrm>
          <a:prstGeom prst="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5" y="4654296"/>
            <a:ext cx="48828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writable MAP_SHARED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5" y="5074920"/>
            <a:ext cx="4864607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D"/>
                </a:solidFill>
                <a:latin typeface="Microsoft YaHei"/>
              </a:rPr>
              <a:t>锁内复制 resident 快照，锁外写回 FileOp；msync/munmap/exit 复用协议。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897880"/>
            <a:ext cx="10561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66666D"/>
                </a:solidFill>
                <a:latin typeface="Microsoft YaHei"/>
              </a:rPr>
              <a:t>可执行不变量：VMA 有序不重叠；USER/PTE 权限相容；private COW 不可同时 writable；shared 不进入私有 COW。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证据：os/src/mm/memory_set.rs；docs/codex/decisions.md；45,559,552-byte cargo toolchain stage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贡献四：用身份分层避免“文件都是一个对象”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1993392"/>
            <a:ext cx="19751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212848"/>
            <a:ext cx="987552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2263140"/>
            <a:ext cx="8778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FdEntry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660904"/>
            <a:ext cx="162763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descriptor flags</a:t>
            </a:r>
            <a:br/>
            <a:r>
              <a:t>CLOEXEC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78024" y="2624328"/>
            <a:ext cx="292608" cy="0"/>
          </a:xfrm>
          <a:prstGeom prst="line">
            <a:avLst/>
          </a:prstGeom>
          <a:ln w="2540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07208" y="1993392"/>
            <a:ext cx="19751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71800" y="2212848"/>
            <a:ext cx="987552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26664" y="2263140"/>
            <a:ext cx="8778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FileOp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660904"/>
            <a:ext cx="162763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offset/status</a:t>
            </a:r>
            <a:br/>
            <a:r>
              <a:t>共享 open-file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82312" y="2624328"/>
            <a:ext cx="292608" cy="0"/>
          </a:xfrm>
          <a:prstGeom prst="line">
            <a:avLst/>
          </a:prstGeom>
          <a:ln w="2540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11496" y="1993392"/>
            <a:ext cx="19751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76088" y="2212848"/>
            <a:ext cx="987552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1" y="2263140"/>
            <a:ext cx="8778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2660904"/>
            <a:ext cx="162763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mount + dentry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86600" y="2624328"/>
            <a:ext cx="292608" cy="0"/>
          </a:xfrm>
          <a:prstGeom prst="line">
            <a:avLst/>
          </a:prstGeom>
          <a:ln w="2540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15784" y="1993392"/>
            <a:ext cx="19751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0376" y="2212848"/>
            <a:ext cx="987552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2263140"/>
            <a:ext cx="8778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Dentry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76" y="2660904"/>
            <a:ext cx="162763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目录项身份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90888" y="2624328"/>
            <a:ext cx="292608" cy="0"/>
          </a:xfrm>
          <a:prstGeom prst="line">
            <a:avLst/>
          </a:prstGeom>
          <a:ln w="25400">
            <a:solidFill>
              <a:srgbClr val="666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720072" y="1993392"/>
            <a:ext cx="19751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84664" y="2212848"/>
            <a:ext cx="987552" cy="31089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39528" y="2263140"/>
            <a:ext cx="8778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InodeOp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4664" y="2660904"/>
            <a:ext cx="162763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ext4/proc/dev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" y="3913632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" y="3913632"/>
            <a:ext cx="54864" cy="1481328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078224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descriptor ≠ open-file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498848"/>
            <a:ext cx="301752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6666D"/>
                </a:solidFill>
                <a:latin typeface="Microsoft YaHei"/>
              </a:rPr>
              <a:t>dup 后 CLOEXEC 独立；offset 与 O_NONBLOCK 共享。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5112" y="3913632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5112" y="3913632"/>
            <a:ext cx="54864" cy="1481328"/>
          </a:xfrm>
          <a:prstGeom prst="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79" y="4078224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统一 poll/read/write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79" y="4498848"/>
            <a:ext cx="301752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6666D"/>
                </a:solidFill>
                <a:latin typeface="Microsoft YaHei"/>
              </a:rPr>
              <a:t>pipe、socket、timerfd、eventfd、epoll 接入 FileOp。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74152" y="3913632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74152" y="3913632"/>
            <a:ext cx="54864" cy="1481328"/>
          </a:xfrm>
          <a:prstGeom prst="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4078224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锁外 I/O 协议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498848"/>
            <a:ext cx="301752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6666D"/>
                </a:solidFill>
                <a:latin typeface="Microsoft YaHei"/>
              </a:rPr>
              <a:t>MM 映射写回不在 MemorySet 锁内访问文件后端。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证据：os/src/fs/{fdtable,file,path,namei,mount}.rs；vendor/lwext4_rust；docs/codex/architecture.md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网络与 I/O：把协议栈能力转化为 Linux socket 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1920240"/>
            <a:ext cx="19933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2090E"/>
                </a:solidFill>
                <a:latin typeface="Microsoft YaHei"/>
              </a:rPr>
              <a:t>syscall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532888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66666D"/>
                </a:solidFill>
                <a:latin typeface="Microsoft YaHei"/>
              </a:rPr>
              <a:t>sockaddr / iovec / errno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96312" y="2468880"/>
            <a:ext cx="256032" cy="0"/>
          </a:xfrm>
          <a:prstGeom prst="line">
            <a:avLst/>
          </a:prstGeom>
          <a:ln w="2286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07208" y="1920240"/>
            <a:ext cx="19933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213969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03274"/>
                </a:solidFill>
                <a:latin typeface="Microsoft YaHei"/>
              </a:rPr>
              <a:t>Socket : FileOp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532888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66666D"/>
                </a:solidFill>
                <a:latin typeface="Microsoft YaHei"/>
              </a:rPr>
              <a:t>fd / O_NONBLOCK / poll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00600" y="2468880"/>
            <a:ext cx="256032" cy="0"/>
          </a:xfrm>
          <a:prstGeom prst="line">
            <a:avLst/>
          </a:prstGeom>
          <a:ln w="22860">
            <a:solidFill>
              <a:srgbClr val="303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11496" y="1920240"/>
            <a:ext cx="19933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213969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B57900"/>
                </a:solidFill>
                <a:latin typeface="Microsoft YaHei"/>
              </a:rPr>
              <a:t>TCP/UDP/UNIX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532888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66666D"/>
                </a:solidFill>
                <a:latin typeface="Microsoft YaHei"/>
              </a:rPr>
              <a:t>生命周期 / backlog / wait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04888" y="2468880"/>
            <a:ext cx="256032" cy="0"/>
          </a:xfrm>
          <a:prstGeom prst="line">
            <a:avLst/>
          </a:prstGeom>
          <a:ln w="22860">
            <a:solidFill>
              <a:srgbClr val="B57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15784" y="1920240"/>
            <a:ext cx="19933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213969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47A55"/>
                </a:solidFill>
                <a:latin typeface="Microsoft YaHei"/>
              </a:rPr>
              <a:t>smoltcp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2532888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66666D"/>
                </a:solidFill>
                <a:latin typeface="Microsoft YaHei"/>
              </a:rPr>
              <a:t>协议状态机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09176" y="2468880"/>
            <a:ext cx="256032" cy="0"/>
          </a:xfrm>
          <a:prstGeom prst="line">
            <a:avLst/>
          </a:prstGeom>
          <a:ln w="22860">
            <a:solidFill>
              <a:srgbClr val="447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20072" y="1920240"/>
            <a:ext cx="199339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7232" y="213969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</a:rPr>
              <a:t>LoopbackDev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8944" y="2532888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66666D"/>
                </a:solidFill>
                <a:latin typeface="Microsoft YaHei"/>
              </a:rPr>
              <a:t>当前数据面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493008"/>
            <a:ext cx="6949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730752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82525"/>
                </a:solidFill>
                <a:latin typeface="Microsoft YaHei"/>
              </a:rPr>
              <a:t>并发 listen 的真实问题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" y="4306824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6" y="4224528"/>
            <a:ext cx="608990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82525"/>
                </a:solidFill>
                <a:latin typeface="Microsoft YaHei"/>
              </a:rPr>
              <a:t>smoltcp 单 listener 握手后即成为连接 socket</a:t>
            </a:r>
          </a:p>
        </p:txBody>
      </p:sp>
      <p:sp>
        <p:nvSpPr>
          <p:cNvPr id="39" name="Oval 38"/>
          <p:cNvSpPr/>
          <p:nvPr/>
        </p:nvSpPr>
        <p:spPr>
          <a:xfrm>
            <a:off x="868680" y="4636008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6" y="4553712"/>
            <a:ext cx="608990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82525"/>
                </a:solidFill>
                <a:latin typeface="Microsoft YaHei"/>
              </a:rPr>
              <a:t>旧实现等 accept 才补 listener，多 client 同轮到达会随机 reset</a:t>
            </a:r>
          </a:p>
        </p:txBody>
      </p:sp>
      <p:sp>
        <p:nvSpPr>
          <p:cNvPr id="41" name="Oval 40"/>
          <p:cNvSpPr/>
          <p:nvPr/>
        </p:nvSpPr>
        <p:spPr>
          <a:xfrm>
            <a:off x="868680" y="4965192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" y="4882896"/>
            <a:ext cx="608990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82525"/>
                </a:solidFill>
                <a:latin typeface="Microsoft YaHei"/>
              </a:rPr>
              <a:t>RespOS 按 backlog 预建受限 listener 池，握手后立即补位</a:t>
            </a:r>
          </a:p>
        </p:txBody>
      </p:sp>
      <p:sp>
        <p:nvSpPr>
          <p:cNvPr id="43" name="Oval 42"/>
          <p:cNvSpPr/>
          <p:nvPr/>
        </p:nvSpPr>
        <p:spPr>
          <a:xfrm>
            <a:off x="868680" y="5294376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" y="5212080"/>
            <a:ext cx="608990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82525"/>
                </a:solidFill>
                <a:latin typeface="Microsoft YaHei"/>
              </a:rPr>
              <a:t>修复后 RV64 CAgent 网络责任项连续三轮不再出现 connection refused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91272" y="3493008"/>
            <a:ext cx="35661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55864" y="3648456"/>
            <a:ext cx="123444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0728" y="3698748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 · 赛前替换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55864" y="4114800"/>
            <a:ext cx="323697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82525"/>
                </a:solidFill>
                <a:latin typeface="Microsoft YaHei"/>
              </a:rPr>
              <a:t>网络/CAgent 结果截图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4572000"/>
            <a:ext cx="323697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替换为官方 runner 的 testcase cagent 输出或现场评测截图；保留完整命令、架构、commit 与日期。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边界：当前协议数据面以 loopback 为主，不宣称真实物理网卡；证据 os/src/net/{listen,tcp,socket}.rs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真实负载把模块串起来：我们按链路定位，而不是按测试名特判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892807"/>
            <a:ext cx="34015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" y="2130552"/>
            <a:ext cx="105156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180844"/>
            <a:ext cx="941831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LTP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697480"/>
            <a:ext cx="2971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82525"/>
                </a:solidFill>
                <a:latin typeface="Microsoft YaHei"/>
              </a:rPr>
              <a:t>syscall / errno / FS /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310128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D"/>
                </a:solidFill>
                <a:latin typeface="Microsoft YaHei"/>
              </a:rPr>
              <a:t>初赛与 ABI 回归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1892807"/>
            <a:ext cx="34015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62856" y="2130552"/>
            <a:ext cx="105156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180844"/>
            <a:ext cx="941831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CAgent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697480"/>
            <a:ext cx="2971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82525"/>
                </a:solidFill>
                <a:latin typeface="Microsoft YaHei"/>
              </a:rPr>
              <a:t>popen + shell + TCP + timer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3310128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D"/>
                </a:solidFill>
                <a:latin typeface="Microsoft YaHei"/>
              </a:rPr>
              <a:t>SMP=1 交互链路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6" y="1892807"/>
            <a:ext cx="34015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0184" y="2130552"/>
            <a:ext cx="105156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2180844"/>
            <a:ext cx="941831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BuildStorm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2697480"/>
            <a:ext cx="2971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82525"/>
                </a:solidFill>
                <a:latin typeface="Microsoft YaHei"/>
              </a:rPr>
              <a:t>cargo/rustc + exec + pipe + wait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3310128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D"/>
                </a:solidFill>
                <a:latin typeface="Microsoft YaHei"/>
              </a:rPr>
              <a:t>8 核 / 8 GiB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279392"/>
            <a:ext cx="110459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535424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2090E"/>
                </a:solidFill>
                <a:latin typeface="Microsoft YaHei"/>
              </a:rPr>
              <a:t>跨模块观察链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498848"/>
            <a:ext cx="8641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exec  →  file-backed ELF  →  mmap/page fault  →  fd/pipe  →  wait/wakeup  →  exit/reclaim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074920"/>
            <a:ext cx="8549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首个真实失败优先；setup 级联、watchdog 超时和外层 QEMU 退出码不能代替根因。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证据：user/src/bin/testrunner.rs；judge/；scripts/cagent_debug.sh；docs/codex/workflows.md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结果看板：把“已验证、部分验证、待补素材”分开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6928" y="1783080"/>
            <a:ext cx="11018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929384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双架构 release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1929384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RV64 + LA64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915667"/>
            <a:ext cx="9144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3" y="1965960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929384"/>
            <a:ext cx="3611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6666D"/>
                </a:solidFill>
                <a:latin typeface="Microsoft YaHei"/>
              </a:rPr>
              <a:t>c703118 · 2026-08-11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450591"/>
            <a:ext cx="11018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59689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RV64 SMP 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596896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2/4/8 核，各 30 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583179"/>
            <a:ext cx="9144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2633472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596896"/>
            <a:ext cx="3611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6666D"/>
                </a:solidFill>
                <a:latin typeface="Microsoft YaHei"/>
              </a:rPr>
              <a:t>fork/exec/wait + pipe + TCP/UDP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118104"/>
            <a:ext cx="11018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26440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共享 MM shootdown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3264408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8 核 10/10，共 1000 remap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250692"/>
            <a:ext cx="9144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3" y="3300984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264408"/>
            <a:ext cx="3611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6666D"/>
                </a:solidFill>
                <a:latin typeface="Microsoft YaHei"/>
              </a:rPr>
              <a:t>另有 2 核 100 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785615"/>
            <a:ext cx="11018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3931920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CAgent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393192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kernel 单项门禁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3918203"/>
            <a:ext cx="91440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3" y="3968495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PARTIAL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931920"/>
            <a:ext cx="3611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6666D"/>
                </a:solidFill>
                <a:latin typeface="Microsoft YaHei"/>
              </a:rPr>
              <a:t>完整官方 10 项需最新截图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453128"/>
            <a:ext cx="11018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45994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BuildStorm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0128" y="4599432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toolchain 标记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4585716"/>
            <a:ext cx="91440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01383" y="4636007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PARTIAL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599432"/>
            <a:ext cx="3611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6666D"/>
                </a:solidFill>
                <a:latin typeface="Microsoft YaHei"/>
              </a:rPr>
              <a:t>minibuild/compile 尚未闭环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120640"/>
            <a:ext cx="11018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266944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LTP / 官方排名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0128" y="5266944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阶段性历史结果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46520" y="5253227"/>
            <a:ext cx="91440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1383" y="5303519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266944"/>
            <a:ext cx="3611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6666D"/>
                </a:solidFill>
                <a:latin typeface="Microsoft YaHei"/>
              </a:rPr>
              <a:t>赛前换成最终平台证据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" y="5998464"/>
            <a:ext cx="10332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92090E"/>
                </a:solidFill>
                <a:latin typeface="Microsoft YaHei"/>
              </a:rPr>
              <a:t>原则：没有对应 commit / 架构 / 镜像 / 命令 / 日期的数字，不进入“当前已验证”。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当前状态来源：docs/codex/current-status.md；本次构建日志；历史结果均按原验证日期表述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专项验证矩阵：隐藏组合测试所需要的证据形态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1828800"/>
            <a:ext cx="237744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956816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92090E"/>
                </a:solidFill>
                <a:latin typeface="Microsoft YaHei"/>
              </a:rPr>
              <a:t>场景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1828800"/>
            <a:ext cx="96012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956816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92090E"/>
                </a:solidFill>
                <a:latin typeface="Microsoft YaHei"/>
              </a:rPr>
              <a:t>1 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1828800"/>
            <a:ext cx="96012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1956816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92090E"/>
                </a:solidFill>
                <a:latin typeface="Microsoft YaHei"/>
              </a:rPr>
              <a:t>2 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828800"/>
            <a:ext cx="96012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956816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92090E"/>
                </a:solidFill>
                <a:latin typeface="Microsoft YaHei"/>
              </a:rPr>
              <a:t>4 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828800"/>
            <a:ext cx="96012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59" y="1956816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92090E"/>
                </a:solidFill>
                <a:latin typeface="Microsoft YaHei"/>
              </a:rPr>
              <a:t>8 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59" y="1828800"/>
            <a:ext cx="4663440" cy="457200"/>
          </a:xfrm>
          <a:prstGeom prst="roundRect">
            <a:avLst/>
          </a:prstGeom>
          <a:solidFill>
            <a:srgbClr val="F3E8E9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79" y="1956816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92090E"/>
                </a:solidFill>
                <a:latin typeface="Microsoft YaHei"/>
              </a:rPr>
              <a:t>关注不变量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322576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468880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启动 / nproc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322576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2468880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86200" y="2322576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2468880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322576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468880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2322576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59" y="2468880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2322576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79" y="2468880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secondary hart 与 CPU 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2926080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072384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Phase 3 组合压力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2926080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3072384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86200" y="2926080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3072384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30/30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2926080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3072384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30/30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06440" y="2926080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59" y="3072384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30/30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59" y="2926080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79" y="3072384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wait/pipe/socket 跨模块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529584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675888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共享 MM remap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3529584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1800" y="3675888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6200" y="3529584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0" y="3675888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100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3529584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92040" y="3675888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3529584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59" y="3675888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1000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59" y="3529584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12279" y="3675888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active mask + RFENCE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133087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27939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退出风暴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6080" y="4133087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71800" y="4279392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smoke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86200" y="4133087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0" y="4279392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3/3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0" y="4133087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92040" y="4279392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3/3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06440" y="4133087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159" y="4279392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3/3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59" y="4133087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12279" y="4279392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heap/timer 中断重入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736592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4882896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BuildStorm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80" y="4736592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71800" y="4882896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86200" y="4736592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1920" y="4882896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46320" y="4736592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92040" y="4882896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666D"/>
                </a:solidFill>
                <a:latin typeface="Microsoft YaHe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06440" y="4736592"/>
            <a:ext cx="960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52159" y="4882896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7900"/>
                </a:solidFill>
                <a:latin typeface="Microsoft YaHei"/>
              </a:rPr>
              <a:t>部分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59" y="4736592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12279" y="4882896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真实工具链 / 生命周期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66928" y="5504688"/>
            <a:ext cx="1097280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94944" y="5632703"/>
            <a:ext cx="123444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808" y="5682995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 · 赛前替换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21408" y="5596127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82525"/>
                </a:solidFill>
                <a:latin typeface="Microsoft YaHei"/>
              </a:rPr>
              <a:t>最终现场成绩/排名图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44568" y="5586983"/>
            <a:ext cx="6830568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插入官方平台总分、双架构分项或现场赛验收截图；若数据冲突，以最终目标 commit 和官方结果为准。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历史专项证据：/tmp/respos-phase3-smp{2,4,8}.log 等；可在答辩电脑另备原始日志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调试故事一：8 核运行停滞，根因在 sret 前 10 条指令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" y="1847088"/>
            <a:ext cx="292608" cy="29260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11095"/>
            <a:ext cx="292608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AF8F5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182880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0000"/>
                </a:solidFill>
                <a:latin typeface="Microsoft YaHei"/>
              </a:rPr>
              <a:t>症状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1828800"/>
            <a:ext cx="8823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rustc 运行中后所有 CPU 无前进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" y="2139696"/>
            <a:ext cx="0" cy="402336"/>
          </a:xfrm>
          <a:prstGeom prst="line">
            <a:avLst/>
          </a:prstGeom>
          <a:ln w="2032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85800" y="2606040"/>
            <a:ext cx="292608" cy="292608"/>
          </a:xfrm>
          <a:prstGeom prst="ellipse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670048"/>
            <a:ext cx="292608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AF8F5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2587752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7900"/>
                </a:solidFill>
                <a:latin typeface="Microsoft YaHei"/>
              </a:rPr>
              <a:t>采样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2587752"/>
            <a:ext cx="8823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GDB 连续快照：sepc 固定在 __trap_from_user+8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2104" y="2898648"/>
            <a:ext cx="0" cy="402336"/>
          </a:xfrm>
          <a:prstGeom prst="line">
            <a:avLst/>
          </a:prstGeom>
          <a:ln w="20320">
            <a:solidFill>
              <a:srgbClr val="B57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85800" y="3364992"/>
            <a:ext cx="292608" cy="292608"/>
          </a:xfrm>
          <a:prstGeom prst="ellipse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29000"/>
            <a:ext cx="292608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AF8F5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346704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03274"/>
                </a:solidFill>
                <a:latin typeface="Microsoft YaHei"/>
              </a:rPr>
              <a:t>根因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3346704"/>
            <a:ext cx="8823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__restore 提前切 user stvec，并恢复了 SIE=1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104" y="3657600"/>
            <a:ext cx="0" cy="402336"/>
          </a:xfrm>
          <a:prstGeom prst="line">
            <a:avLst/>
          </a:prstGeom>
          <a:ln w="20320">
            <a:solidFill>
              <a:srgbClr val="303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85800" y="4123944"/>
            <a:ext cx="292608" cy="292608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87952"/>
            <a:ext cx="292608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AF8F5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105656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2090E"/>
                </a:solidFill>
                <a:latin typeface="Microsoft YaHei"/>
              </a:rPr>
              <a:t>机制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2848" y="4105656"/>
            <a:ext cx="8823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timer 在 sscratch/GPR 过渡态重入 → 递归 StorePageFault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2104" y="4416552"/>
            <a:ext cx="0" cy="402336"/>
          </a:xfrm>
          <a:prstGeom prst="line">
            <a:avLst/>
          </a:prstGeom>
          <a:ln w="2032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46904"/>
            <a:ext cx="292608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AF8F5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4864608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47A55"/>
                </a:solidFill>
                <a:latin typeface="Microsoft YaHei"/>
              </a:rPr>
              <a:t>修复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" y="4864608"/>
            <a:ext cx="8823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2525"/>
                </a:solidFill>
                <a:latin typeface="Microsoft YaHei"/>
              </a:rPr>
              <a:t>写 sstatus 前清 SIE；最后窗口才切 user vector；sret 交给 SPIE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705856"/>
            <a:ext cx="109270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833872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答辩价值：不是“修了一个 bug”，而是把 trap return 的安全顺序固化为架构层不变量，并覆盖 exec 与 sigreturn。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证据：os/src/arch/rv64/trap/{context.rs,trap.S}；/tmp/respos-rustc-pc-{pre,post}fix-sample*.txt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调试故事二：popen 不返回，不是 pipe 一个模块的问题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828800"/>
            <a:ext cx="10991088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039112"/>
            <a:ext cx="82296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" y="2089404"/>
            <a:ext cx="71323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vfork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2066543"/>
            <a:ext cx="987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父先 blocked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33472" y="2267712"/>
            <a:ext cx="219456" cy="0"/>
          </a:xfrm>
          <a:prstGeom prst="line">
            <a:avLst/>
          </a:prstGeom>
          <a:ln w="2032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26080" y="2039112"/>
            <a:ext cx="82296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2089404"/>
            <a:ext cx="71323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child exec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2066543"/>
            <a:ext cx="987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一次性 wake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82312" y="2267712"/>
            <a:ext cx="219456" cy="0"/>
          </a:xfrm>
          <a:prstGeom prst="line">
            <a:avLst/>
          </a:prstGeom>
          <a:ln w="20320">
            <a:solidFill>
              <a:srgbClr val="303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74920" y="2039112"/>
            <a:ext cx="82296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3" y="2089404"/>
            <a:ext cx="71323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2066543"/>
            <a:ext cx="987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写端引用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31152" y="2267712"/>
            <a:ext cx="219456" cy="0"/>
          </a:xfrm>
          <a:prstGeom prst="line">
            <a:avLst/>
          </a:prstGeom>
          <a:ln w="20320">
            <a:solidFill>
              <a:srgbClr val="B57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23760" y="2039112"/>
            <a:ext cx="82296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2089404"/>
            <a:ext cx="71323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wait4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2066543"/>
            <a:ext cx="987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线程组 waiter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79992" y="2267712"/>
            <a:ext cx="219456" cy="0"/>
          </a:xfrm>
          <a:prstGeom prst="line">
            <a:avLst/>
          </a:prstGeom>
          <a:ln w="20320">
            <a:solidFill>
              <a:srgbClr val="447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372600" y="2039112"/>
            <a:ext cx="822960" cy="31089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2089404"/>
            <a:ext cx="71323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exit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2066543"/>
            <a:ext cx="987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安全栈回收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218688"/>
            <a:ext cx="3401568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447288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2090E"/>
                </a:solidFill>
                <a:latin typeface="Microsoft YaHei"/>
              </a:rPr>
              <a:t>窗口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895344"/>
            <a:ext cx="297180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82525"/>
                </a:solidFill>
                <a:latin typeface="Microsoft YaHei"/>
              </a:rPr>
              <a:t>先发布 child、后阻塞 parent：8 核下 child 可先 exec，wake 丢失。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63440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修复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4617720"/>
            <a:ext cx="245059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先登记 blocked，再 add_task(child)。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218688"/>
            <a:ext cx="3401568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3447288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57900"/>
                </a:solidFill>
                <a:latin typeface="Microsoft YaHei"/>
              </a:rPr>
              <a:t>窗口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3895344"/>
            <a:ext cx="297180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82525"/>
                </a:solidFill>
                <a:latin typeface="Microsoft YaHei"/>
              </a:rPr>
              <a:t>旧 sibling TCB 通过内核栈持有 fd table：pipe 写端不到 EOF。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663440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B57900"/>
                </a:solidFill>
                <a:latin typeface="Microsoft YaHei"/>
              </a:rPr>
              <a:t>修复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4617720"/>
            <a:ext cx="245059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exec 前 quiesce；明确 fd table owner 与延迟回收。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3218688"/>
            <a:ext cx="3401568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9" y="3447288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47A55"/>
                </a:solidFill>
                <a:latin typeface="Microsoft YaHei"/>
              </a:rPr>
              <a:t>窗口 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19" y="3895344"/>
            <a:ext cx="297180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282525"/>
                </a:solidFill>
                <a:latin typeface="Microsoft YaHei"/>
              </a:rPr>
              <a:t>子进程退出只唤醒 leader：真正 wait4 线程永久睡眠。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9" y="4663440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47A55"/>
                </a:solidFill>
                <a:latin typeface="Microsoft YaHei"/>
              </a:rPr>
              <a:t>修复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9952" y="4617720"/>
            <a:ext cx="245059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显式记录 child waiter，并对线程组真实等待者唤醒。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5870448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2090E"/>
                </a:solidFill>
                <a:latin typeface="Microsoft YaHei"/>
              </a:rPr>
              <a:t>结论：一次真实工具链执行，迫使 process / scheduler / fd / pipe / wait / exit 共同满足生命周期协议。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证据：os/src/{syscall/process.rs,task/task.rs,task/processor.rs,fs/pipe.rs}；BuildStorm trace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工程方法：让结论可以被复现、被推翻、再被修正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78992" y="1938528"/>
            <a:ext cx="640080" cy="64008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148840"/>
            <a:ext cx="6400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AF8F5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63824"/>
            <a:ext cx="1965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保留完整串口/agent 日志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28216" y="2258568"/>
            <a:ext cx="1033272" cy="0"/>
          </a:xfrm>
          <a:prstGeom prst="line">
            <a:avLst/>
          </a:prstGeom>
          <a:ln w="2159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392424" y="1938528"/>
            <a:ext cx="640080" cy="640080"/>
          </a:xfrm>
          <a:prstGeom prst="ellipse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2424" y="2148840"/>
            <a:ext cx="6400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AF8F5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2788920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03274"/>
                </a:solidFill>
                <a:latin typeface="Microsoft YaHei"/>
              </a:rPr>
              <a:t>ISOLATE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2" y="3163824"/>
            <a:ext cx="1965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缩小到首个真实失败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41648" y="2258568"/>
            <a:ext cx="1033272" cy="0"/>
          </a:xfrm>
          <a:prstGeom prst="line">
            <a:avLst/>
          </a:prstGeom>
          <a:ln w="2159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705855" y="1938528"/>
            <a:ext cx="640080" cy="640080"/>
          </a:xfrm>
          <a:prstGeom prst="ellipse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5855" y="2148840"/>
            <a:ext cx="6400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AF8F5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9783" y="2788920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57900"/>
                </a:solidFill>
                <a:latin typeface="Microsoft YaHei"/>
              </a:rPr>
              <a:t>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3163824"/>
            <a:ext cx="1965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GDB / trace / code invariant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5079" y="2258568"/>
            <a:ext cx="1033273" cy="0"/>
          </a:xfrm>
          <a:prstGeom prst="line">
            <a:avLst/>
          </a:prstGeom>
          <a:ln w="2159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019288" y="1938528"/>
            <a:ext cx="640080" cy="640080"/>
          </a:xfrm>
          <a:prstGeom prst="ellipse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2148840"/>
            <a:ext cx="6400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AF8F5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2788920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47A55"/>
                </a:solidFill>
                <a:latin typeface="Microsoft YaHei"/>
              </a:rPr>
              <a:t>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6" y="3163824"/>
            <a:ext cx="1965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通用语义，不识别测例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68512" y="2258568"/>
            <a:ext cx="1033272" cy="0"/>
          </a:xfrm>
          <a:prstGeom prst="line">
            <a:avLst/>
          </a:prstGeom>
          <a:ln w="2159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332720" y="1938528"/>
            <a:ext cx="640080" cy="64008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2148840"/>
            <a:ext cx="6400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AF8F5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2788920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00000"/>
                </a:solidFill>
                <a:latin typeface="Microsoft YaHei"/>
              </a:rPr>
              <a:t>REGRESS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8" y="3163824"/>
            <a:ext cx="1965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双架构 + 组合压力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261104"/>
            <a:ext cx="34015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" y="4261104"/>
            <a:ext cx="54864" cy="1371600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4425696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可执行不变量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4846320"/>
            <a:ext cx="303580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debug 构建检查 VMA/PTE/frame；scheduler 检查 ready/blocked/index。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07408" y="4261104"/>
            <a:ext cx="34015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07408" y="4261104"/>
            <a:ext cx="54864" cy="1371600"/>
          </a:xfrm>
          <a:prstGeom prst="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08576" y="4425696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镜像与日志纪律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8576" y="4846320"/>
            <a:ext cx="303580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QEMU -snapshot；guest 正常退出后再碰 raw ext4；历史分数带版本边界。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0456" y="4261104"/>
            <a:ext cx="34015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0456" y="4261104"/>
            <a:ext cx="54864" cy="1371600"/>
          </a:xfrm>
          <a:prstGeom prst="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1624" y="4425696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复现入口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1624" y="4846320"/>
            <a:ext cx="303580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666D"/>
                </a:solidFill>
                <a:latin typeface="Microsoft YaHei"/>
              </a:rPr>
              <a:t>make build-rv/build-la；聚焦 LTP filter；judge 生成报告与 baseline 差异。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证据：docs/codex/{workflows,pitfalls}.md；judge/；scripts/；debug invariants in source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持续演进：从启动链到多核真实负载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" y="3246120"/>
            <a:ext cx="10195560" cy="0"/>
          </a:xfrm>
          <a:prstGeom prst="line">
            <a:avLst/>
          </a:prstGeom>
          <a:ln w="3810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68680" y="3090672"/>
            <a:ext cx="310896" cy="310896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024127" y="2670048"/>
            <a:ext cx="0" cy="420624"/>
          </a:xfrm>
          <a:prstGeom prst="line">
            <a:avLst/>
          </a:prstGeom>
          <a:ln w="1778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9768" y="2011680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2090E"/>
                </a:solidFill>
                <a:latin typeface="Microsoft YaHei"/>
              </a:rPr>
              <a:t>03.10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1" y="2313432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82525"/>
                </a:solidFill>
                <a:latin typeface="Microsoft YaHei"/>
              </a:rPr>
              <a:t>启动 /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651760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首个 commit</a:t>
            </a:r>
          </a:p>
        </p:txBody>
      </p:sp>
      <p:sp>
        <p:nvSpPr>
          <p:cNvPr id="22" name="Oval 21"/>
          <p:cNvSpPr/>
          <p:nvPr/>
        </p:nvSpPr>
        <p:spPr>
          <a:xfrm>
            <a:off x="2788920" y="3090672"/>
            <a:ext cx="310896" cy="310896"/>
          </a:xfrm>
          <a:prstGeom prst="ellipse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944368" y="3401568"/>
            <a:ext cx="0" cy="301752"/>
          </a:xfrm>
          <a:prstGeom prst="line">
            <a:avLst/>
          </a:prstGeom>
          <a:ln w="17780">
            <a:solidFill>
              <a:srgbClr val="3032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50008" y="3703320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03274"/>
                </a:solidFill>
                <a:latin typeface="Microsoft YaHei"/>
              </a:rPr>
              <a:t>04–05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1" y="4005072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82525"/>
                </a:solidFill>
                <a:latin typeface="Microsoft YaHei"/>
              </a:rPr>
              <a:t>MM / task / 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79" y="4343400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用户态主链</a:t>
            </a:r>
          </a:p>
        </p:txBody>
      </p:sp>
      <p:sp>
        <p:nvSpPr>
          <p:cNvPr id="27" name="Oval 26"/>
          <p:cNvSpPr/>
          <p:nvPr/>
        </p:nvSpPr>
        <p:spPr>
          <a:xfrm>
            <a:off x="4709160" y="3090672"/>
            <a:ext cx="310896" cy="310896"/>
          </a:xfrm>
          <a:prstGeom prst="ellipse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4864608" y="2670048"/>
            <a:ext cx="0" cy="420624"/>
          </a:xfrm>
          <a:prstGeom prst="line">
            <a:avLst/>
          </a:prstGeom>
          <a:ln w="17780">
            <a:solidFill>
              <a:srgbClr val="B57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70248" y="2011680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7900"/>
                </a:solidFill>
                <a:latin typeface="Microsoft YaHei"/>
              </a:rPr>
              <a:t>06.30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2232" y="2313432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82525"/>
                </a:solidFill>
                <a:latin typeface="Microsoft YaHei"/>
              </a:rPr>
              <a:t>双架构 / LTP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2651760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初赛收敛</a:t>
            </a:r>
          </a:p>
        </p:txBody>
      </p:sp>
      <p:sp>
        <p:nvSpPr>
          <p:cNvPr id="32" name="Oval 31"/>
          <p:cNvSpPr/>
          <p:nvPr/>
        </p:nvSpPr>
        <p:spPr>
          <a:xfrm>
            <a:off x="6629400" y="3090672"/>
            <a:ext cx="310896" cy="310896"/>
          </a:xfrm>
          <a:prstGeom prst="ellipse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784848" y="3401568"/>
            <a:ext cx="0" cy="301752"/>
          </a:xfrm>
          <a:prstGeom prst="line">
            <a:avLst/>
          </a:prstGeom>
          <a:ln w="17780">
            <a:solidFill>
              <a:srgbClr val="447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90488" y="3703320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47A55"/>
                </a:solidFill>
                <a:latin typeface="Microsoft YaHei"/>
              </a:rPr>
              <a:t>08.01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2472" y="4005072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82525"/>
                </a:solidFill>
                <a:latin typeface="Microsoft YaHei"/>
              </a:rPr>
              <a:t>A/B/C 重构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343400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对象与不变量</a:t>
            </a:r>
          </a:p>
        </p:txBody>
      </p:sp>
      <p:sp>
        <p:nvSpPr>
          <p:cNvPr id="37" name="Oval 36"/>
          <p:cNvSpPr/>
          <p:nvPr/>
        </p:nvSpPr>
        <p:spPr>
          <a:xfrm>
            <a:off x="8549640" y="3090672"/>
            <a:ext cx="310896" cy="31089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8705088" y="2670048"/>
            <a:ext cx="0" cy="420624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10727" y="2011680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00000"/>
                </a:solidFill>
                <a:latin typeface="Microsoft YaHei"/>
              </a:rPr>
              <a:t>08.05–07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2313432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82525"/>
                </a:solidFill>
                <a:latin typeface="Microsoft YaHei"/>
              </a:rPr>
              <a:t>RV64 SMP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651760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8 核调试</a:t>
            </a:r>
          </a:p>
        </p:txBody>
      </p:sp>
      <p:sp>
        <p:nvSpPr>
          <p:cNvPr id="42" name="Oval 41"/>
          <p:cNvSpPr/>
          <p:nvPr/>
        </p:nvSpPr>
        <p:spPr>
          <a:xfrm>
            <a:off x="10469880" y="3090672"/>
            <a:ext cx="310896" cy="310896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625328" y="3401568"/>
            <a:ext cx="0" cy="301752"/>
          </a:xfrm>
          <a:prstGeom prst="line">
            <a:avLst/>
          </a:prstGeom>
          <a:ln w="1778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30967" y="3703320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2090E"/>
                </a:solidFill>
                <a:latin typeface="Microsoft YaHei"/>
              </a:rPr>
              <a:t>08.11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4005072"/>
            <a:ext cx="1463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82525"/>
                </a:solidFill>
                <a:latin typeface="Microsoft YaHei"/>
              </a:rPr>
              <a:t>决赛文档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4343400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666D"/>
                </a:solidFill>
                <a:latin typeface="Microsoft YaHei"/>
              </a:rPr>
              <a:t>当前 HEAD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" y="5623560"/>
            <a:ext cx="10927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5769864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92090E"/>
                </a:solidFill>
                <a:latin typeface="Microsoft YaHei"/>
              </a:rPr>
              <a:t>368 次提交 · 3 名主要贡献者 · 代码、测试、设计文档同步演进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证据：git log / shortlog；开发期 2026-03-10 → 2026-08-11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独立贡献、第三方依赖与 AI 使用：透明才可验证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19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828800"/>
            <a:ext cx="3401568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1828800"/>
            <a:ext cx="54864" cy="1883664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1993392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本队增量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414016"/>
            <a:ext cx="3035808" cy="11704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6666D"/>
                </a:solidFill>
                <a:latin typeface="Microsoft YaHei"/>
              </a:rPr>
              <a:t>公共宏内核、Linux ABI 状态机、RV/LA 适配、SMP 协议、VFS/MM/task 集成与专项验证。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1828800"/>
            <a:ext cx="3401568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1828800"/>
            <a:ext cx="54864" cy="1883664"/>
          </a:xfrm>
          <a:prstGeom prst="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993392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第三方组件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2414016"/>
            <a:ext cx="3035808" cy="11704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6666D"/>
                </a:solidFill>
                <a:latin typeface="Microsoft YaHei"/>
              </a:rPr>
              <a:t>lwext4_rust：ext4 后端；smoltcp：TCP/IP 状态机；riscv crate：CSR/指令封装。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1828800"/>
            <a:ext cx="3401568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0456" y="1828800"/>
            <a:ext cx="54864" cy="1883664"/>
          </a:xfrm>
          <a:prstGeom prst="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1993392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82525"/>
                </a:solidFill>
                <a:latin typeface="Microsoft YaHei"/>
              </a:rPr>
              <a:t>AI 使用边界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414016"/>
            <a:ext cx="3035808" cy="11704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66666D"/>
                </a:solidFill>
                <a:latin typeface="Microsoft YaHei"/>
              </a:rPr>
              <a:t>AI 可辅助规范检索、审查、调试假设与文档；最终设计、采纳、修改和验证由队伍负责。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096512"/>
            <a:ext cx="5303520" cy="16093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952" y="4251960"/>
            <a:ext cx="123444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302252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 · 赛前替换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718304"/>
            <a:ext cx="4974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82525"/>
                </a:solidFill>
                <a:latin typeface="Microsoft YaHei"/>
              </a:rPr>
              <a:t>基础版本 / 参考作品增量表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175504"/>
            <a:ext cx="4974336" cy="37490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必须补充：最早基线 commit、参考项目与具体借鉴点、本队改动、对应许可证/链接。当前决赛文档此节仍待人工确认。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096512"/>
            <a:ext cx="5303520" cy="16093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4251960"/>
            <a:ext cx="123444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3" y="4302252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 · 赛前替换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718304"/>
            <a:ext cx="4974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82525"/>
                </a:solidFill>
                <a:latin typeface="Microsoft YaHei"/>
              </a:rPr>
              <a:t>完整 AI 使用记录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175504"/>
            <a:ext cx="4974336" cy="37490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补充所有工具名称/模型、使用场景、生成范围、人工修改、验证方式、交互摘要位置。注明本 PPT 由 Codex 辅助检索与生成。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官方 2026 技术方案与评审说明要求在答辩材料中单独披露参考版本、增量贡献和 AI 使用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当前边界：诚实说明，才能让已完成部分可信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" y="1810512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975104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57900"/>
                </a:solidFill>
                <a:latin typeface="Microsoft YaHei"/>
              </a:rPr>
              <a:t>BuildStorm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1956816"/>
            <a:ext cx="5897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toolchain 已过；minibuild / full compile 尚未闭环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956816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66666D"/>
                </a:solidFill>
                <a:latin typeface="Microsoft YaHei"/>
              </a:rPr>
              <a:t>P0：pipe/wait/exit 生命周期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569464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734056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03274"/>
                </a:solidFill>
                <a:latin typeface="Microsoft YaHei"/>
              </a:rPr>
              <a:t>LoongArch SMP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2715768"/>
            <a:ext cx="5897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公共代码可构建；多核动态验证不足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715768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66666D"/>
                </a:solidFill>
                <a:latin typeface="Microsoft YaHei"/>
              </a:rPr>
              <a:t>P1：IPI / shootdown / stress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328415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4930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2090E"/>
                </a:solidFill>
                <a:latin typeface="Microsoft YaHei"/>
              </a:rPr>
              <a:t>网络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3474720"/>
            <a:ext cx="5897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loopback TCP/UDP/UNIX；真实网卡数据面未闭环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74720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66666D"/>
                </a:solidFill>
                <a:latin typeface="Microsoft YaHei"/>
              </a:rPr>
              <a:t>P1：virtio-net / physical 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87368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251959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00000"/>
                </a:solidFill>
                <a:latin typeface="Microsoft YaHei"/>
              </a:rPr>
              <a:t>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9152" y="4233672"/>
            <a:ext cx="5897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无 swap/reclaim；MS_INVALIDATE/SIGBUS 语义不完整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233672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66666D"/>
                </a:solidFill>
                <a:latin typeface="Microsoft YaHei"/>
              </a:rPr>
              <a:t>P2：回收与 mapped EOF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846320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010912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47A55"/>
                </a:solidFill>
                <a:latin typeface="Microsoft YaHei"/>
              </a:rPr>
              <a:t>Signal / IPC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9152" y="4992624"/>
            <a:ext cx="5897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SA_RESTART、实时信号排队、SysV msg/sem 等未完整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992624"/>
            <a:ext cx="2697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66666D"/>
                </a:solidFill>
                <a:latin typeface="Microsoft YaHei"/>
              </a:rPr>
              <a:t>P2：功能补全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788152"/>
            <a:ext cx="10972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897880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92090E"/>
                </a:solidFill>
                <a:latin typeface="Microsoft YaHei"/>
              </a:rPr>
              <a:t>取舍原则：先保证正确性、通用性和可解释性，再谈性能；未实现的状态型 ABI 不返回伪成功。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限制清单：docs/决赛文档/markdown/12-总结与展望.md；docs/codex/current-status.md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现场演示建议：90 秒证明“能运行，也能解释”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21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" y="1828800"/>
            <a:ext cx="91440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879092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00–20s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1847088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82525"/>
                </a:solidFill>
                <a:latin typeface="Microsoft YaHei"/>
              </a:rPr>
              <a:t>双架构产物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1837943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file kernel-rv kernel-la + build 命令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2606040"/>
            <a:ext cx="91440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656332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20–55s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624328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82525"/>
                </a:solidFill>
                <a:latin typeface="Microsoft YaHei"/>
              </a:rPr>
              <a:t>真实 workload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2615184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运行官方脚本/最强已闭环用例，展示完整结果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383280"/>
            <a:ext cx="91440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433572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55–75s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401568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82525"/>
                </a:solidFill>
                <a:latin typeface="Microsoft YaHei"/>
              </a:rPr>
              <a:t>多核证据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3392424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nproc + SMP probe / 关键日志摘要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160520"/>
            <a:ext cx="9144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4210812"/>
            <a:ext cx="8046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75–90s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178807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82525"/>
                </a:solidFill>
                <a:latin typeface="Microsoft YaHei"/>
              </a:rPr>
              <a:t>代码落点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4169663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6666D"/>
                </a:solidFill>
                <a:latin typeface="Microsoft YaHei"/>
              </a:rPr>
              <a:t>从日志跳到对应 invariant / 修复代码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07492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" y="5184648"/>
            <a:ext cx="658368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234940"/>
            <a:ext cx="54864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166359"/>
            <a:ext cx="2377439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82525"/>
                </a:solidFill>
                <a:latin typeface="Microsoft YaHei"/>
              </a:rPr>
              <a:t>最终演示截图/二维码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550408"/>
            <a:ext cx="3200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6666D"/>
                </a:solidFill>
                <a:latin typeface="Microsoft YaHei"/>
              </a:rPr>
              <a:t>放官方脚本首尾、得分结果或演示视频二维码。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2" y="507492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98848" y="5184648"/>
            <a:ext cx="658368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5234940"/>
            <a:ext cx="54864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166359"/>
            <a:ext cx="2377439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82525"/>
                </a:solidFill>
                <a:latin typeface="Microsoft YaHei"/>
              </a:rPr>
              <a:t>排名 / 分项得分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5550408"/>
            <a:ext cx="3200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6666D"/>
                </a:solidFill>
                <a:latin typeface="Microsoft YaHei"/>
              </a:rPr>
              <a:t>只使用官方页面；保留队名、时间和分项。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19872" y="507492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47888" y="5184648"/>
            <a:ext cx="658368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5234940"/>
            <a:ext cx="54864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TODO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166359"/>
            <a:ext cx="2377439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82525"/>
                </a:solidFill>
                <a:latin typeface="Microsoft YaHei"/>
              </a:rPr>
              <a:t>现场题结果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5550408"/>
            <a:ext cx="3200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6666D"/>
                </a:solidFill>
                <a:latin typeface="Microsoft YaHei"/>
              </a:rPr>
              <a:t>如有现场验收截图，按题号标注，不混入历史分数。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演示失败预案：预录视频 + 原始日志 + 本地可复现命令；三者指向同一 commit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RespOS 的价值：把“会跑”变成“为什么能跑”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22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1828800"/>
            <a:ext cx="107899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200" b="1">
                <a:solidFill>
                  <a:srgbClr val="92090E"/>
                </a:solidFill>
                <a:latin typeface="Microsoft YaHei"/>
              </a:rPr>
              <a:t>两种架构</a:t>
            </a:r>
            <a:r>
              <a:rPr sz="3200" b="0">
                <a:solidFill>
                  <a:srgbClr val="66666D"/>
                </a:solidFill>
                <a:latin typeface="Microsoft YaHei"/>
              </a:rPr>
              <a:t> · </a:t>
            </a:r>
            <a:r>
              <a:rPr sz="3200" b="1">
                <a:solidFill>
                  <a:srgbClr val="282525"/>
                </a:solidFill>
                <a:latin typeface="Microsoft YaHei"/>
              </a:rPr>
              <a:t>一套公共语义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8892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7" y="3008376"/>
            <a:ext cx="68580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58668"/>
            <a:ext cx="576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2999232"/>
            <a:ext cx="3886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RV64 / LA64 差异收敛，当前 release 双构建通过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278892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37376" y="3008376"/>
            <a:ext cx="68580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058668"/>
            <a:ext cx="576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内核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999232"/>
            <a:ext cx="3886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task / MM / VFS / net 由对象与不变量连接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14215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7" y="4233672"/>
            <a:ext cx="68580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283964"/>
            <a:ext cx="576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并发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224528"/>
            <a:ext cx="3886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8 核专项验证推动 owner、shootdown、quiescence 协议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4014215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37376" y="4233672"/>
            <a:ext cx="6858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83964"/>
            <a:ext cx="576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工程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4224528"/>
            <a:ext cx="3886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282525"/>
                </a:solidFill>
                <a:latin typeface="Microsoft YaHei"/>
              </a:rPr>
              <a:t>每个结论绑定源码、命令、日志、日期与明确边界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62356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92090E"/>
                </a:solidFill>
                <a:latin typeface="Microsoft YaHei"/>
              </a:rPr>
              <a:t>我们不把未完成说成完成；我们能说明每一条完成结论为何成立。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051560"/>
            <a:ext cx="41148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82525"/>
                </a:solidFill>
                <a:latin typeface="Microsoft YaHei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38528"/>
            <a:ext cx="7772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2090E"/>
                </a:solidFill>
                <a:latin typeface="Microsoft YaHei"/>
              </a:rPr>
              <a:t>欢迎从调用链、数据结构、竞态窗口或验证证据追问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2843784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761488"/>
            <a:ext cx="691286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为什么 syscall 层要保持薄？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3310128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227832"/>
            <a:ext cx="691286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MemorySet 如何保持 VMA/PTE/frame 一致？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776472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694176"/>
            <a:ext cx="691286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8 核下 vfork 为什么会丢 wake？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4242816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160520"/>
            <a:ext cx="691286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RV64 trap return 的安全顺序是什么？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4709160"/>
            <a:ext cx="91440" cy="91440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626864"/>
            <a:ext cx="6912864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82525"/>
                </a:solidFill>
                <a:latin typeface="Microsoft YaHei"/>
              </a:rPr>
              <a:t>哪些能力目前仍不能宣称完成？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8" y="960120"/>
            <a:ext cx="2971800" cy="4937760"/>
          </a:xfrm>
          <a:prstGeom prst="roundRect">
            <a:avLst/>
          </a:prstGeom>
          <a:solidFill>
            <a:srgbClr val="92090E"/>
          </a:solidFill>
          <a:ln w="12700"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975104"/>
            <a:ext cx="2286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RespOS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60604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比特工匠队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035808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DCDD"/>
                </a:solidFill>
                <a:latin typeface="Microsoft YaHei"/>
              </a:rPr>
              <a:t>山东大学（青岛）</a:t>
            </a:r>
          </a:p>
        </p:txBody>
      </p:sp>
      <p:pic>
        <p:nvPicPr>
          <p:cNvPr id="18" name="Picture 17" descr="sdu-template-whi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4" y="3931920"/>
            <a:ext cx="1143000" cy="1143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55680" y="6309360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6666D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附录 A：2026 官方评分要求如何映射到本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24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920240"/>
            <a:ext cx="2240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客观成绩 / 能力域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920240"/>
            <a:ext cx="6217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结果看板 + SMP 矩阵 + TODO 官方截图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911095"/>
            <a:ext cx="141732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93224" y="1961388"/>
            <a:ext cx="130759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P13–14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450591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587751"/>
            <a:ext cx="2240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03274"/>
                </a:solidFill>
                <a:latin typeface="Microsoft YaHei"/>
              </a:rPr>
              <a:t>通用性 / 非测例特化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587751"/>
            <a:ext cx="6217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对象模型、不变量、调试故事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2578608"/>
            <a:ext cx="141732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3224" y="2628900"/>
            <a:ext cx="130759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P4–10, 15–17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118104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255264"/>
            <a:ext cx="2240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57900"/>
                </a:solidFill>
                <a:latin typeface="Microsoft YaHei"/>
              </a:rPr>
              <a:t>持续演进 / 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255264"/>
            <a:ext cx="6217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时间线与复现入口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3246120"/>
            <a:ext cx="141732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3224" y="3296412"/>
            <a:ext cx="130759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P18, 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785615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922776"/>
            <a:ext cx="2240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47A55"/>
                </a:solidFill>
                <a:latin typeface="Microsoft YaHei"/>
              </a:rPr>
              <a:t>现场掌控 / 关键代码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922776"/>
            <a:ext cx="6217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两条调用链调试故事 + Q&amp;A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3913631"/>
            <a:ext cx="141732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3224" y="3963923"/>
            <a:ext cx="130759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P15–16, 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453128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4590288"/>
            <a:ext cx="2240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0000"/>
                </a:solidFill>
                <a:latin typeface="Microsoft YaHei"/>
              </a:rPr>
              <a:t>参考 / AI 透明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590288"/>
            <a:ext cx="6217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独立贡献、第三方与 AI 使用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4581144"/>
            <a:ext cx="1417320" cy="31089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93224" y="4631436"/>
            <a:ext cx="130759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1206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257800"/>
            <a:ext cx="2240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可重现 / 可实现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257800"/>
            <a:ext cx="6217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282525"/>
                </a:solidFill>
                <a:latin typeface="Microsoft YaHei"/>
              </a:rPr>
              <a:t>命令、镜像、日志、版本边界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0" y="5248655"/>
            <a:ext cx="141732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93224" y="5298947"/>
            <a:ext cx="130759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P13, 17,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59893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6666D"/>
                </a:solidFill>
                <a:latin typeface="Microsoft YaHei"/>
              </a:rPr>
              <a:t>官方权重：初赛 20% + 决赛 80%；决赛中现场答辩 20%、现场赛测例 40%、决赛测例 15%、现场文档/过程记录 5%。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来源：OS2026 官方技术方案与《内核实现赛道评审准则进一步说明》（2026-06-17）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附录 B：216 个分发入口背后的能力域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25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1810512"/>
            <a:ext cx="5285232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" y="2011680"/>
            <a:ext cx="123444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061972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FS /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020824"/>
            <a:ext cx="3383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82525"/>
                </a:solidFill>
                <a:latin typeface="Microsoft YaHei"/>
              </a:rPr>
              <a:t>openat · statx · renameat2 · xattr · mount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810512"/>
            <a:ext cx="5285232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9944" y="2011680"/>
            <a:ext cx="123444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061972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2020824"/>
            <a:ext cx="3383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82525"/>
                </a:solidFill>
                <a:latin typeface="Microsoft YaHei"/>
              </a:rPr>
              <a:t>clone · execve · wait4 · affinity · rlimit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154680"/>
            <a:ext cx="5285232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3355848"/>
            <a:ext cx="123444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3406140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364992"/>
            <a:ext cx="3383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82525"/>
                </a:solidFill>
                <a:latin typeface="Microsoft YaHei"/>
              </a:rPr>
              <a:t>mmap · mprotect · mremap · msync · madvise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3154680"/>
            <a:ext cx="5285232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9944" y="3355848"/>
            <a:ext cx="123444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406140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SIGNAL /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1" y="3364992"/>
            <a:ext cx="3383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82525"/>
                </a:solidFill>
                <a:latin typeface="Microsoft YaHei"/>
              </a:rPr>
              <a:t>rt_sig* · timer* · timerfd · itimer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498848"/>
            <a:ext cx="5285232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8952" y="4700016"/>
            <a:ext cx="1234440" cy="31089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4750307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NET / IPC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09160"/>
            <a:ext cx="3383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82525"/>
                </a:solidFill>
                <a:latin typeface="Microsoft YaHei"/>
              </a:rPr>
              <a:t>socket* · epoll · futex · shm* · pipe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4498848"/>
            <a:ext cx="5285232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9944" y="4700016"/>
            <a:ext cx="123444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7" y="4750307"/>
            <a:ext cx="112471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SPECIAL FD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831" y="4709160"/>
            <a:ext cx="3383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82525"/>
                </a:solidFill>
                <a:latin typeface="Microsoft YaHei"/>
              </a:rPr>
              <a:t>eventfd · memfd · signalfd · inotify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852160"/>
            <a:ext cx="10972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943600"/>
            <a:ext cx="10515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2090E"/>
                </a:solidFill>
                <a:latin typeface="Microsoft YaHei"/>
              </a:rPr>
              <a:t>数字只表示 dispatcher 规模；高分证据仍然是组合语义、错误路径、资源生命周期与客观测试。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源码口径：os/src/syscall/mod.rs，216 个 match dispatch arm；215 个 syscall 常量（含别名/组合分支差异）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附录 C：最短复现入口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178308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准备镜像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1719072"/>
            <a:ext cx="9034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837943"/>
            <a:ext cx="8549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82525"/>
                </a:solidFill>
                <a:latin typeface="Cascadia Mono"/>
              </a:rPr>
              <a:t>bash scripts/get_img.sh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6060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双架构构建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542032"/>
            <a:ext cx="9034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2660904"/>
            <a:ext cx="8549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82525"/>
                </a:solidFill>
                <a:latin typeface="Cascadia Mono"/>
              </a:rPr>
              <a:t>make build-rv RV_USER_FEATURES=</a:t>
            </a:r>
            <a:br/>
            <a:r>
              <a:t>make build-la LA_USER_FEATURES=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2900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运行 pub 镜像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3364992"/>
            <a:ext cx="9034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483864"/>
            <a:ext cx="8549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82525"/>
                </a:solidFill>
                <a:latin typeface="Cascadia Mono"/>
              </a:rPr>
              <a:t>make run-rv-pub</a:t>
            </a:r>
            <a:br/>
            <a:r>
              <a:t>make run-la-pub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25196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聚焦 LTP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4187952"/>
            <a:ext cx="9034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306824"/>
            <a:ext cx="8549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82525"/>
                </a:solidFill>
                <a:latin typeface="Cascadia Mono"/>
              </a:rPr>
              <a:t>LTP_CASE_FILTER=confstr01,mmap14 make rv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07492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报告 / 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5010912"/>
            <a:ext cx="9034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129783"/>
            <a:ext cx="8549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82525"/>
                </a:solidFill>
                <a:latin typeface="Cascadia Mono"/>
              </a:rPr>
              <a:t>python3 judge/ltp_report.py rv-output.txt la-output.txt --format markdown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98464"/>
            <a:ext cx="105156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B57900"/>
                </a:solidFill>
                <a:latin typeface="Microsoft YaHei"/>
              </a:rPr>
              <a:t>注意：RV / LA 构建共享活动 Cargo config，应顺序执行；make/QEMU 退出 0 不等于用例通过，必须解析日志 summary。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6501384"/>
            <a:ext cx="8869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>
                <a:solidFill>
                  <a:srgbClr val="8A8585"/>
                </a:solidFill>
                <a:latin typeface="Microsoft YaHei"/>
              </a:rPr>
              <a:t>完整流程：docs/codex/workflows.md；已知陷阱：docs/codex/pitfalls.md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19456"/>
            <a:ext cx="3063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666D"/>
                </a:solidFill>
                <a:latin typeface="Microsoft YaHei"/>
              </a:rPr>
              <a:t>RespOS · 2026 全国总决赛答辩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9584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1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核心设计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0256" y="146304"/>
            <a:ext cx="1426464" cy="347472"/>
          </a:xfrm>
          <a:prstGeom prst="rect">
            <a:avLst/>
          </a:prstGeom>
          <a:solidFill>
            <a:srgbClr val="F2E7E8"/>
          </a:solidFill>
          <a:ln>
            <a:solidFill>
              <a:srgbClr val="F2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92090E"/>
                </a:solidFill>
                <a:latin typeface="Microsoft YaHei"/>
              </a:rPr>
              <a:t>验证调试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46304"/>
            <a:ext cx="1426464" cy="347472"/>
          </a:xfrm>
          <a:prstGeom prst="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3172"/>
            <a:ext cx="131673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Microsoft YaHei"/>
              </a:rPr>
              <a:t>总结附录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19456"/>
            <a:ext cx="14996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>
                <a:solidFill>
                  <a:srgbClr val="92090E"/>
                </a:solidFill>
                <a:latin typeface="Microsoft YaHei"/>
              </a:rPr>
              <a:t>山东大学（青岛）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" y="621792"/>
            <a:ext cx="11631168" cy="0"/>
          </a:xfrm>
          <a:prstGeom prst="line">
            <a:avLst/>
          </a:prstGeom>
          <a:ln w="13970">
            <a:solidFill>
              <a:srgbClr val="9209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" y="804672"/>
            <a:ext cx="10835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82525"/>
                </a:solidFill>
                <a:latin typeface="方正小标宋简体"/>
              </a:rPr>
              <a:t>附录 D：赛前必须补齐的素材清单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9601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92090E"/>
                </a:solidFill>
                <a:latin typeface="Microsoft YaHei"/>
              </a:rPr>
              <a:t>27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" y="1545336"/>
            <a:ext cx="11484864" cy="0"/>
          </a:xfrm>
          <a:prstGeom prst="line">
            <a:avLst/>
          </a:prstGeom>
          <a:ln w="11430">
            <a:solidFill>
              <a:srgbClr val="D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" y="1783080"/>
            <a:ext cx="10972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1965960"/>
            <a:ext cx="201168" cy="201168"/>
          </a:xfrm>
          <a:prstGeom prst="ellipse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1929384"/>
            <a:ext cx="187451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57900"/>
                </a:solidFill>
                <a:latin typeface="Microsoft YaHei"/>
              </a:rPr>
              <a:t>官方总分 / 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920240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282525"/>
                </a:solidFill>
                <a:latin typeface="Microsoft YaHei"/>
              </a:rPr>
              <a:t>平台页面，保留队名、分项、时间与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920240"/>
            <a:ext cx="160020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970532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替换 P14 / P21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459736"/>
            <a:ext cx="10972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2642616"/>
            <a:ext cx="201168" cy="201168"/>
          </a:xfrm>
          <a:prstGeom prst="ellipse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2606040"/>
            <a:ext cx="187451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03274"/>
                </a:solidFill>
                <a:latin typeface="Microsoft YaHei"/>
              </a:rPr>
              <a:t>最终 CAgent / BuildStorm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2596896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282525"/>
                </a:solidFill>
                <a:latin typeface="Microsoft YaHei"/>
              </a:rPr>
              <a:t>完整 runner 首尾与 judge 输出，不截中间一行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2596896"/>
            <a:ext cx="1600200" cy="310896"/>
          </a:xfrm>
          <a:prstGeom prst="roundRect">
            <a:avLst/>
          </a:prstGeom>
          <a:solidFill>
            <a:srgbClr val="303274"/>
          </a:solidFill>
          <a:ln>
            <a:solidFill>
              <a:srgbClr val="303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0344" y="2647188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替换 P11 / P13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136391"/>
            <a:ext cx="10972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3319272"/>
            <a:ext cx="201168" cy="201168"/>
          </a:xfrm>
          <a:prstGeom prst="ellipse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3282696"/>
            <a:ext cx="187451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2090E"/>
                </a:solidFill>
                <a:latin typeface="Microsoft YaHei"/>
              </a:rPr>
              <a:t>现场赛验收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273551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282525"/>
                </a:solidFill>
                <a:latin typeface="Microsoft YaHei"/>
              </a:rPr>
              <a:t>题号、架构、物理/QEMU 环境、评审确认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273551"/>
            <a:ext cx="1600200" cy="310896"/>
          </a:xfrm>
          <a:prstGeom prst="roundRect">
            <a:avLst/>
          </a:prstGeom>
          <a:solidFill>
            <a:srgbClr val="92090E"/>
          </a:solidFill>
          <a:ln>
            <a:solidFill>
              <a:srgbClr val="920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3323844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替换 P21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3813048"/>
            <a:ext cx="10972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7240" y="3995928"/>
            <a:ext cx="201168" cy="201168"/>
          </a:xfrm>
          <a:prstGeom prst="ellipse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3959352"/>
            <a:ext cx="187451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47A55"/>
                </a:solidFill>
                <a:latin typeface="Microsoft YaHei"/>
              </a:rPr>
              <a:t>团队姓名 / 分工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950208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282525"/>
                </a:solidFill>
                <a:latin typeface="Microsoft YaHei"/>
              </a:rPr>
              <a:t>真实姓名、负责模块、代表 commit/代码路径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55480" y="3950208"/>
            <a:ext cx="1600200" cy="310896"/>
          </a:xfrm>
          <a:prstGeom prst="roundRect">
            <a:avLst/>
          </a:prstGeom>
          <a:solidFill>
            <a:srgbClr val="447A55"/>
          </a:solidFill>
          <a:ln>
            <a:solidFill>
              <a:srgbClr val="4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0344" y="4000500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封面后可增页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489704"/>
            <a:ext cx="10972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" y="4672584"/>
            <a:ext cx="201168" cy="20116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0432" y="4636008"/>
            <a:ext cx="187451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0000"/>
                </a:solidFill>
                <a:latin typeface="Microsoft YaHei"/>
              </a:rPr>
              <a:t>参考基线 / 许可证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4626864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282525"/>
                </a:solidFill>
                <a:latin typeface="Microsoft YaHei"/>
              </a:rPr>
              <a:t>最早 commit、来源链接、差异、第三方版本与 license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4626864"/>
            <a:ext cx="1600200" cy="31089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10344" y="4677156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完善 P19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166360"/>
            <a:ext cx="10972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7240" y="5349240"/>
            <a:ext cx="201168" cy="201168"/>
          </a:xfrm>
          <a:prstGeom prst="ellipse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70432" y="5312664"/>
            <a:ext cx="187451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57900"/>
                </a:solidFill>
                <a:latin typeface="Microsoft YaHei"/>
              </a:rPr>
              <a:t>完整 AI 披露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5303520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282525"/>
                </a:solidFill>
                <a:latin typeface="Microsoft YaHei"/>
              </a:rPr>
              <a:t>工具/模型/时间/范围/人工修改/验证/记录位置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55480" y="5303520"/>
            <a:ext cx="1600200" cy="310896"/>
          </a:xfrm>
          <a:prstGeom prst="roundRect">
            <a:avLst/>
          </a:prstGeom>
          <a:solidFill>
            <a:srgbClr val="B57900"/>
          </a:solidFill>
          <a:ln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10344" y="5353812"/>
            <a:ext cx="14904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AF8F5"/>
                </a:solidFill>
                <a:latin typeface="Microsoft YaHei"/>
              </a:rPr>
              <a:t>完善 P19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6007608"/>
            <a:ext cx="106984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92090E"/>
                </a:solidFill>
                <a:latin typeface="Microsoft YaHei"/>
              </a:rPr>
              <a:t>所有 TODO 都是为了补充证据，不是为了改写结论；若最终数据仍未验证，保留“待验证”比填入推测更安全。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6473952"/>
            <a:ext cx="2852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1">
                <a:solidFill>
                  <a:srgbClr val="92090E"/>
                </a:solidFill>
                <a:latin typeface="Microsoft YaHei"/>
              </a:rPr>
              <a:t>山东大学（青岛） · 比特工匠队 · RespOS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0-红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090E"/>
      </a:accent1>
      <a:accent2>
        <a:srgbClr val="C00000"/>
      </a:accent2>
      <a:accent3>
        <a:srgbClr val="5257BF"/>
      </a:accent3>
      <a:accent4>
        <a:srgbClr val="303274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0-常用">
      <a:majorFont>
        <a:latin typeface="Garamond"/>
        <a:ea typeface="方正小标宋简体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566</Words>
  <Application>Microsoft Office PowerPoint</Application>
  <PresentationFormat>宽屏</PresentationFormat>
  <Paragraphs>294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Gulim</vt:lpstr>
      <vt:lpstr>MS PGothic</vt:lpstr>
      <vt:lpstr>Roboto condensed</vt:lpstr>
      <vt:lpstr>等线</vt:lpstr>
      <vt:lpstr>方正兰亭细黑_GBK</vt:lpstr>
      <vt:lpstr>方正小标宋简体</vt:lpstr>
      <vt:lpstr>华文细黑</vt:lpstr>
      <vt:lpstr>宋体</vt:lpstr>
      <vt:lpstr>微软雅黑</vt:lpstr>
      <vt:lpstr>微软雅黑 Light</vt:lpstr>
      <vt:lpstr>Arial</vt:lpstr>
      <vt:lpstr>Calibri</vt:lpstr>
      <vt:lpstr>Garamond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RespOS 2026 全国总决赛答辩</dc:title>
  <dc:creator>比特工匠队 · 山东大学（青岛）</dc:creator>
  <cp:keywords/>
  <cp:lastModifiedBy>ZhangXinbo </cp:lastModifiedBy>
  <cp:revision>63</cp:revision>
  <dcterms:created xsi:type="dcterms:W3CDTF">2018-05-06T03:50:24Z</dcterms:created>
  <dcterms:modified xsi:type="dcterms:W3CDTF">2018-05-10T09:04:34Z</dcterms:modified>
  <dc:subject>全国大学生计算机系统能力大赛操作系统设计赛内核实现赛道</dc:subject>
  <dc:description>Generated from verified RespOS repository evidence; TODO cards require final official screenshots/data.</dc:description>
</cp:coreProperties>
</file>